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6984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3000" b="1">
                <a:solidFill>
                  <a:srgbClr val="12253F"/>
                </a:solidFill>
                <a:latin typeface="Microsoft YaHei"/>
              </a:rPr>
              <a:t>DSpark 技术报告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69848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1">
                <a:solidFill>
                  <a:srgbClr val="2762B2"/>
                </a:solidFill>
                <a:latin typeface="Microsoft YaHei"/>
              </a:rPr>
              <a:t>Confidence-Scheduled Speculative Decoding with Semi-Autoregressive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64208"/>
            <a:ext cx="896112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0">
                <a:solidFill>
                  <a:srgbClr val="5D6975"/>
                </a:solidFill>
                <a:latin typeface="Microsoft YaHei"/>
              </a:rPr>
              <a:t>DeepSeek-AI | 面向高并发 LLM Serving 的投机解码框架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2743200"/>
            <a:ext cx="3429000" cy="132588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2743200"/>
            <a:ext cx="73152" cy="132588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85292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一句话总结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182112"/>
            <a:ext cx="315468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并行生成长草稿 + 轻量顺序修正 + 按硬件负载动态验证。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743200"/>
            <a:ext cx="3429000" cy="13258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2743200"/>
            <a:ext cx="73152" cy="132588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285292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核心收益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3182112"/>
            <a:ext cx="315468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在 matched throughput 下，V4-Flash 单用户速度提升 60%-85%。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2743200"/>
            <a:ext cx="3429000" cy="132588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2743200"/>
            <a:ext cx="73152" cy="132588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93023" y="285292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汇报目标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3023" y="3182112"/>
            <a:ext cx="315468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理解 DSpark 为什么不是普通 MTP-N，也不是纯并行 drafter。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080760"/>
            <a:ext cx="10789920" cy="2743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900" b="0">
                <a:solidFill>
                  <a:srgbClr val="5D6975"/>
                </a:solidFill>
                <a:latin typeface="Microsoft YaHei"/>
              </a:rPr>
              <a:t>材料来源：DSpark paper + DeepSpec / DeepSeek-V3 / EAGLE / DFlash 相关论文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汇报大纲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先建立路线图，再进入 DSpark 方法和生产结果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216152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2253F"/>
                </a:solidFill>
                <a:latin typeface="Microsoft YaHei"/>
              </a:rPr>
              <a:t>背景：为什么投机解码能加速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84248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1">
                <a:solidFill>
                  <a:srgbClr val="12253F"/>
                </a:solidFill>
                <a:latin typeface="Microsoft YaHei"/>
              </a:rPr>
              <a:t>技术路线图：MTP / EAGLE / EAGLE3 / DFlash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734056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715768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1">
                <a:solidFill>
                  <a:srgbClr val="12253F"/>
                </a:solidFill>
                <a:latin typeface="Microsoft YaHei"/>
              </a:rPr>
              <a:t>DSpark：半自回归生成 + 置信度调度验证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83864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65576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2253F"/>
                </a:solidFill>
                <a:latin typeface="Microsoft YaHei"/>
              </a:rPr>
              <a:t>实验：离线 accepted length 与位置级分析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233672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15384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2253F"/>
                </a:solidFill>
                <a:latin typeface="Microsoft YaHei"/>
              </a:rPr>
              <a:t>部署：DeepSeek-V4 真实流量下的收益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983479"/>
            <a:ext cx="658368" cy="347472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965192"/>
            <a:ext cx="9509760" cy="3840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2253F"/>
                </a:solidFill>
                <a:latin typeface="Microsoft YaHei"/>
              </a:rPr>
              <a:t>结论：对 vLLM/MTP 落地的启发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问题背景：自回归解码慢在哪里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每生成一个 token，都要等上一个 token 确认后才能继续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141732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自回归生成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x1 -&gt; x2 -&gt; x3 -&gt; ...
每一步都依赖前一步结果，decode 阶段天然串行。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Serving 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单用户等待时间高；小 batch decode 阶段 GPU 利用率不稳定。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73152" cy="141732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投机解码目标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1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让便宜 drafter 先猜多个 token，target model 一次验证。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46120"/>
            <a:ext cx="10241280" cy="4572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400" b="1">
                <a:solidFill>
                  <a:srgbClr val="12253F"/>
                </a:solidFill>
                <a:latin typeface="Microsoft YaHei"/>
              </a:rPr>
              <a:t>平均每 token 延迟：L = (T_draft + T_verify) / 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069080"/>
            <a:ext cx="9784080" cy="123444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降低 T_draft：草稿生成要足够便宜</a:t>
            </a:r>
          </a:p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提高 τ：每轮被 target 接受的 token 数要更多</a:t>
            </a:r>
          </a:p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降低无效 T_verify：别把 target batch 浪费在低置信后缀上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投机解码 30 秒版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draft 先猜，target 一次批改；只接受连续前缀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1965960" cy="502920"/>
          </a:xfrm>
          <a:prstGeom prst="roundRect">
            <a:avLst/>
          </a:prstGeom>
          <a:solidFill>
            <a:srgbClr val="12253F"/>
          </a:solidFill>
          <a:ln w="12700">
            <a:solidFill>
              <a:srgbClr val="12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上下文 ABC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52928" y="1481328"/>
            <a:ext cx="896111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822191" y="1234440"/>
            <a:ext cx="2057400" cy="502920"/>
          </a:xfrm>
          <a:prstGeom prst="round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draft: D E F 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61888" y="1481328"/>
            <a:ext cx="89611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931152" y="1234440"/>
            <a:ext cx="2148840" cy="502920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target verify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162288" y="1481328"/>
            <a:ext cx="8503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058400" y="1234440"/>
            <a:ext cx="1417320" cy="502920"/>
          </a:xfrm>
          <a:prstGeom prst="roundRect">
            <a:avLst/>
          </a:prstGeom>
          <a:solidFill>
            <a:srgbClr val="368F56"/>
          </a:solidFill>
          <a:ln w="12700"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接受前缀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331720"/>
            <a:ext cx="3383280" cy="141732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331720"/>
            <a:ext cx="73152" cy="141732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2441448"/>
            <a:ext cx="31089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接受规则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2770632"/>
            <a:ext cx="310896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第 k 个 token 接受概率：
min(1, p_t(x_k) / p_d(x_k))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34840" y="2331720"/>
            <a:ext cx="3383280" cy="141732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331720"/>
            <a:ext cx="73152" cy="141732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1" y="2441448"/>
            <a:ext cx="31089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前缀约束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1" y="2770632"/>
            <a:ext cx="310896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一旦第 k 个 token 被拒绝，k 后面的草稿 token 全部丢弃。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331720"/>
            <a:ext cx="3383280" cy="141732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331720"/>
            <a:ext cx="73152" cy="141732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2441448"/>
            <a:ext cx="31089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无损性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7031" y="2770632"/>
            <a:ext cx="310896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拒绝采样保证最终输出分布严格等于 target model。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434840"/>
            <a:ext cx="1060704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000" b="1">
                <a:solidFill>
                  <a:srgbClr val="12253F"/>
                </a:solidFill>
                <a:latin typeface="Microsoft YaHei"/>
              </a:rPr>
              <a:t>关键：草稿 token 要有概率 p_d，target 验证要保持因果，调度不能偷看未来。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投机推理技术路线图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从“猜一个”到“猜一串”，再到“动态决定验多长”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08760"/>
            <a:ext cx="1645920" cy="420624"/>
          </a:xfrm>
          <a:prstGeom prst="roundRect">
            <a:avLst/>
          </a:prstGeom>
          <a:solidFill>
            <a:srgbClr val="12253F"/>
          </a:solidFill>
          <a:ln w="12700">
            <a:solidFill>
              <a:srgbClr val="12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AR Decode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target 每步生成 1 token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12264" y="1719072"/>
            <a:ext cx="356616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31720" y="1508760"/>
            <a:ext cx="1645920" cy="420624"/>
          </a:xfrm>
          <a:prstGeom prst="round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Spec Decoding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428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draft 猜，target 验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32504" y="1719072"/>
            <a:ext cx="356616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251960" y="1508760"/>
            <a:ext cx="1645920" cy="420624"/>
          </a:xfrm>
          <a:prstGeom prst="roundRect">
            <a:avLst/>
          </a:prstGeom>
          <a:solidFill>
            <a:srgbClr val="368F56"/>
          </a:solidFill>
          <a:ln w="12700"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MTP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模型内部预测未来 token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2744" y="1719072"/>
            <a:ext cx="356616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508760"/>
            <a:ext cx="1645920" cy="420624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EAGLE / EAGLE3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利用 target features 的自回归 drafter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872983" y="1719072"/>
            <a:ext cx="356617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092440" y="1508760"/>
            <a:ext cx="1645920" cy="420624"/>
          </a:xfrm>
          <a:prstGeom prst="round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500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一次 forward 并行生成 block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93224" y="1719072"/>
            <a:ext cx="356616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12680" y="1508760"/>
            <a:ext cx="1645920" cy="420624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</a:rPr>
              <a:t>DSpark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85248" y="2029968"/>
            <a:ext cx="1719072" cy="6583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1C2024"/>
                </a:solidFill>
                <a:latin typeface="Microsoft YaHei"/>
              </a:rPr>
              <a:t>并行 + 轻量顺序 + 调度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46120"/>
            <a:ext cx="3246120" cy="141732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3246120"/>
            <a:ext cx="73152" cy="141732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3355848"/>
            <a:ext cx="2971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依赖强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685031"/>
            <a:ext cx="297180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MTP / EAGLE / EAGLE3：后一个草稿 token 能依赖前面采样结果，后缀更连贯。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3246120"/>
            <a:ext cx="3246120" cy="141732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80560" y="3246120"/>
            <a:ext cx="73152" cy="141732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45152" y="3355848"/>
            <a:ext cx="2971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并行快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3685031"/>
            <a:ext cx="297180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DFlash：一次 forward 生成整段草稿，长 block 的 draft 成本更低。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3246120"/>
            <a:ext cx="3246120" cy="141732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3246120"/>
            <a:ext cx="73152" cy="141732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2752" y="3355848"/>
            <a:ext cx="29718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DSpark 折中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3685031"/>
            <a:ext cx="297180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用 DFlash 式并行 backbone，再加 Markov/RNN head 补前缀依赖。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前置方法对比：MTP / EAGLE / DFlash / DSpark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11556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64922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方法</a:t>
                      </a:r>
                    </a:p>
                  </a:txBody>
                  <a:tcPr marL="45720" marR="45720" marT="27432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草稿生成方式</a:t>
                      </a:r>
                    </a:p>
                  </a:txBody>
                  <a:tcPr marL="45720" marR="45720" marT="27432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token 依赖</a:t>
                      </a:r>
                    </a:p>
                  </a:txBody>
                  <a:tcPr marL="45720" marR="45720" marT="27432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长草稿成本</a:t>
                      </a:r>
                    </a:p>
                  </a:txBody>
                  <a:tcPr marL="45720" marR="45720" marT="27432" marB="27432">
                    <a:solidFill>
                      <a:srgbClr val="1225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主要短板</a:t>
                      </a:r>
                    </a:p>
                  </a:txBody>
                  <a:tcPr marL="45720" marR="45720" marT="27432" marB="27432">
                    <a:solidFill>
                      <a:srgbClr val="12253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MTP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模型内部预测未来 token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较强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中-高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固定多 token 验证高并发下可能浪费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EAGLE3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target 多层特征 + 自回归草稿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随步数增长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draft latency 难摆脱串行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DFlash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一次 forward 并行生成 block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弱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低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后缀衰减、多模态碰撞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DSpark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并行 backbone + 轻量顺序 head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中-强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低-中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低接受率请求仍有 draft 固定成本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983480"/>
            <a:ext cx="10561320" cy="6400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900" b="1">
                <a:solidFill>
                  <a:srgbClr val="12253F"/>
                </a:solidFill>
                <a:latin typeface="Microsoft YaHei"/>
              </a:rPr>
              <a:t>结论：DSpark 不是把 EAGLE3 并行化；它主要是在 DFlash 式并行 drafter 上补块内依赖，并把验证长度交给 scheduler。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DSpark 总体架构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两个核心组件：draft better + verify smarter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600200" cy="658368"/>
          </a:xfrm>
          <a:prstGeom prst="roundRect">
            <a:avLst/>
          </a:prstGeom>
          <a:solidFill>
            <a:srgbClr val="12253F"/>
          </a:solidFill>
          <a:ln w="12700">
            <a:solidFill>
              <a:srgbClr val="1225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Target
生成 anchor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167128" y="1837943"/>
            <a:ext cx="3931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23160" y="1508760"/>
            <a:ext cx="1600200" cy="658368"/>
          </a:xfrm>
          <a:prstGeom prst="round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Parallel
Backbone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87368" y="1837943"/>
            <a:ext cx="3931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1508760"/>
            <a:ext cx="1600200" cy="658368"/>
          </a:xfrm>
          <a:prstGeom prst="round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Sequential
Head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07608" y="1837943"/>
            <a:ext cx="3931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63640" y="1508760"/>
            <a:ext cx="1600200" cy="658368"/>
          </a:xfrm>
          <a:prstGeom prst="roundRect">
            <a:avLst/>
          </a:prstGeom>
          <a:solidFill>
            <a:srgbClr val="368F56"/>
          </a:solidFill>
          <a:ln w="12700"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Confidence
Head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27848" y="1837943"/>
            <a:ext cx="3931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183879" y="1508760"/>
            <a:ext cx="1600200" cy="658368"/>
          </a:xfrm>
          <a:prstGeom prst="round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Prefix
Scheduler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848088" y="1837943"/>
            <a:ext cx="393192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19" y="1508760"/>
            <a:ext cx="1600200" cy="658368"/>
          </a:xfrm>
          <a:prstGeom prst="roundRect">
            <a:avLst/>
          </a:prstGeom>
          <a:solidFill>
            <a:srgbClr val="BE4141"/>
          </a:solidFill>
          <a:ln w="12700"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Target
Verify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880360"/>
            <a:ext cx="5166360" cy="15544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73152" cy="155448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990088"/>
            <a:ext cx="48920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Semi-Autoregressive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" y="3319272"/>
            <a:ext cx="4892040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并行 backbone 负责重计算；Markov/RNN head 从左到右注入局部依赖，缓解 suffix decay。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880360"/>
            <a:ext cx="5166360" cy="155448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880360"/>
            <a:ext cx="73152" cy="155448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2990088"/>
            <a:ext cx="48920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Confidence-Scheduled Verification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1" y="3319272"/>
            <a:ext cx="4892040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confidence head 估计前缀存活概率；scheduler 结合 SPS(B) 决定每个请求验证多长。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74920"/>
            <a:ext cx="99669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800" b="1">
                <a:solidFill>
                  <a:srgbClr val="12253F"/>
                </a:solidFill>
                <a:latin typeface="Microsoft YaHei"/>
              </a:rPr>
              <a:t>目标：长草稿的收益只在“值得验证”时兑现，低置信后缀在进入 target batch 前被剪掉。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核心一：半自回归生成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最终 logits = 并行基础分数 + 前缀相关修正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200" b="1">
                <a:solidFill>
                  <a:srgbClr val="12253F"/>
                </a:solidFill>
                <a:latin typeface="Microsoft YaHei"/>
              </a:rPr>
              <a:t>p_k(v | x_0, x_&lt;k) = softmax(U_k(v) + B_k(x_0, x_&lt;k, v))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240280"/>
            <a:ext cx="3337560" cy="141732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73152" cy="141732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35000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U_k：并行 backbone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67919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一次 forward 产生每个位置的 hidden state 和 base logits。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240280"/>
            <a:ext cx="3337560" cy="141732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73152" cy="141732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35000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B_k：顺序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67919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根据已经采样的前缀给当前 token 加 transition bias。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240280"/>
            <a:ext cx="3337560" cy="141732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2240280"/>
            <a:ext cx="73152" cy="141732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235000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效果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1" y="267919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保留 DFlash 的首 token 容量，同时缓解后缀衰减。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Markov head：只看前一个 token，低秩转移矩阵，默认使用</a:t>
            </a:r>
          </a:p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RNN head：维护块内 recurrent state，更强但部署复杂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为什么一点自回归就很值钱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多模态碰撞：多个合理续写被并行位置混在一起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3063240" cy="114300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234440"/>
            <a:ext cx="73152" cy="114300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344168"/>
            <a:ext cx="2788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1">
                <a:solidFill>
                  <a:srgbClr val="12253F"/>
                </a:solidFill>
                <a:latin typeface="Microsoft YaHei"/>
              </a:rPr>
              <a:t>合理路径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1673352"/>
            <a:ext cx="2788920" cy="6126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C2024"/>
                </a:solidFill>
                <a:latin typeface="Microsoft YaHei"/>
              </a:rPr>
              <a:t>"of course"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06040"/>
            <a:ext cx="3063240" cy="114300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606040"/>
            <a:ext cx="73152" cy="114300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715768"/>
            <a:ext cx="27889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1">
                <a:solidFill>
                  <a:srgbClr val="12253F"/>
                </a:solidFill>
                <a:latin typeface="Microsoft YaHei"/>
              </a:rPr>
              <a:t>合理路径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44952"/>
            <a:ext cx="2788920" cy="6126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800" b="0">
                <a:solidFill>
                  <a:srgbClr val="1C2024"/>
                </a:solidFill>
                <a:latin typeface="Microsoft YaHei"/>
              </a:rPr>
              <a:t>"no problem"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69080" y="2331720"/>
            <a:ext cx="1005840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257800" y="1554480"/>
            <a:ext cx="2834640" cy="160020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57800" y="1554480"/>
            <a:ext cx="73152" cy="160020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22392" y="1664207"/>
            <a:ext cx="256032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1">
                <a:solidFill>
                  <a:srgbClr val="12253F"/>
                </a:solidFill>
                <a:latin typeface="Microsoft YaHei"/>
              </a:rPr>
              <a:t>纯并行风险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2392" y="1993391"/>
            <a:ext cx="2560320" cy="10698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1C2024"/>
                </a:solidFill>
                <a:latin typeface="Microsoft YaHei"/>
              </a:rPr>
              <a:t>"of problem"
"no course"
位置之间没有条件化在实际采样前缀上。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275320" y="2331720"/>
            <a:ext cx="868680" cy="0"/>
          </a:xfrm>
          <a:prstGeom prst="line">
            <a:avLst/>
          </a:prstGeom>
          <a:ln w="22860">
            <a:solidFill>
              <a:srgbClr val="5D6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281160" y="1554480"/>
            <a:ext cx="2194560" cy="160020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81160" y="1554480"/>
            <a:ext cx="73152" cy="1600200"/>
          </a:xfrm>
          <a:prstGeom prst="rect">
            <a:avLst/>
          </a:prstGeom>
          <a:solidFill>
            <a:srgbClr val="368F56"/>
          </a:solidFill>
          <a:ln w="12700"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45752" y="1664207"/>
            <a:ext cx="1920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1">
                <a:solidFill>
                  <a:srgbClr val="12253F"/>
                </a:solidFill>
                <a:latin typeface="Microsoft YaHei"/>
              </a:rPr>
              <a:t>DSpark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1993391"/>
            <a:ext cx="1920240" cy="106984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200" b="0">
                <a:solidFill>
                  <a:srgbClr val="1C2024"/>
                </a:solidFill>
                <a:latin typeface="Microsoft YaHei"/>
              </a:rPr>
              <a:t>采样出 of 后，Markov head 提升 course、压低 problem。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343400"/>
            <a:ext cx="10058400" cy="59436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000" b="1">
                <a:solidFill>
                  <a:srgbClr val="12253F"/>
                </a:solidFill>
                <a:latin typeface="Microsoft YaHei"/>
              </a:rPr>
              <a:t>经验结论：2 层 DSpark 可超过 5 层 DFlash；长 proposal 下 DSpark 相对收益更大。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核心二：Confidence Head 与前缀存活概率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confidence 是条件接受概率，不是普通单 token 分数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200" b="1">
                <a:solidFill>
                  <a:srgbClr val="12253F"/>
                </a:solidFill>
                <a:latin typeface="Microsoft YaHei"/>
              </a:rPr>
              <a:t>c_k = P(token k 被接受 | token 1..k-1 都已接受)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74519"/>
          <a:ext cx="4937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位置</a:t>
                      </a:r>
                    </a:p>
                  </a:txBody>
                  <a:tcPr marL="45720" marR="45720" marT="27432" marB="27432">
                    <a:solidFill>
                      <a:srgbClr val="008E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条件置信度 c_k</a:t>
                      </a:r>
                    </a:p>
                  </a:txBody>
                  <a:tcPr marL="45720" marR="45720" marT="27432" marB="27432">
                    <a:solidFill>
                      <a:srgbClr val="008E8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前缀存活 a_k</a:t>
                      </a:r>
                    </a:p>
                  </a:txBody>
                  <a:tcPr marL="45720" marR="45720" marT="27432" marB="27432">
                    <a:solidFill>
                      <a:srgbClr val="008E8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1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0.95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2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0.90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0.95 × 0.90 = 0.855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0.60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0.513</a:t>
                      </a:r>
                    </a:p>
                  </a:txBody>
                  <a:tcPr marL="45720" marR="45720" marT="27432" marB="27432">
                    <a:solidFill>
                      <a:srgbClr val="F5F8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0.50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0">
                          <a:solidFill>
                            <a:srgbClr val="1C2024"/>
                          </a:solidFill>
                          <a:latin typeface="Microsoft YaHei"/>
                        </a:defRPr>
                      </a:pPr>
                      <a:r>
                        <a:t>0.2565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217920" y="1874519"/>
            <a:ext cx="4709160" cy="105156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73152" cy="105156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984248"/>
            <a:ext cx="44348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为什么要 STS 校准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2313432"/>
            <a:ext cx="4434840" cy="521207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scheduler 要估计 τ * SPS(B)，需要概率数值本身可靠，不能只是排序正确。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154680"/>
            <a:ext cx="4709160" cy="105156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3154680"/>
            <a:ext cx="73152" cy="105156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264408"/>
            <a:ext cx="44348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训练标签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2512" y="3593592"/>
            <a:ext cx="4434840" cy="521207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c*_k = 1 - 1/2 ||p_d - p_t||_1，直接对应解析接受率。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硬件感知 Prefix Scheduler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把验证长度选择转化为吞吐最大化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78992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800" b="1">
                <a:solidFill>
                  <a:srgbClr val="12253F"/>
                </a:solidFill>
                <a:latin typeface="Microsoft YaHei"/>
              </a:rPr>
              <a:t>Θ = τ · SPS(B)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017520" cy="13258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920240"/>
            <a:ext cx="73152" cy="132588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029968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59152"/>
            <a:ext cx="274320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预期 accepted tokens：bonus token + 各前缀存活概率之和。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3017520" cy="132588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920240"/>
            <a:ext cx="73152" cy="132588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029968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359152"/>
            <a:ext cx="274320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target verification batch size：每个请求 1 + 验证长度。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920240"/>
            <a:ext cx="3017520" cy="132588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1920240"/>
            <a:ext cx="73152" cy="132588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029968"/>
            <a:ext cx="27432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SPS(B)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359152"/>
            <a:ext cx="2743200" cy="7955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引擎 profile 出来的 steps/second，反映真实硬件成本。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977639"/>
            <a:ext cx="10241280" cy="100584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将所有候选前缀扩展按 a_{r,j} 全局排序，贪心加入</a:t>
            </a:r>
          </a:p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吞吐下降时 early stop，避免回溯搜索偷看未来 token</a:t>
            </a:r>
          </a:p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生产中用两步前历史预测容量，形成因果屏障并适配 ZOS/CUDA Graph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训练目标：不仅预测 token，还要贴近 target 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41732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Cross Entropy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L_ce：预测 ground-truth token。
权重 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41732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Distribution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L_tv：最小化 ||p_d - p_t||_1。
权重 0.9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37560" cy="141732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141732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Confidence Loss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673352"/>
            <a:ext cx="3063240" cy="8869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L_conf：预测软接受概率 c*_k。
权重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1042416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900" b="1">
                <a:solidFill>
                  <a:srgbClr val="12253F"/>
                </a:solidFill>
                <a:latin typeface="Microsoft YaHei"/>
              </a:rPr>
              <a:t>位置权重 w_k = exp(-(k-1)/γ)：越靠前越重要，因为第一个 token 错了后面全作废。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434840"/>
            <a:ext cx="9966960" cy="86868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target model 冻结；draft model 共享并冻结 embedding 与 LM head</a:t>
            </a:r>
          </a:p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训练更新 backbone drafter、sequential block、confidence head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离线实验：DSpark 提升 accepted length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禁用 scheduler，只比较 drafter 原始质量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493776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Microsoft YaHei"/>
              </a:rPr>
              <a:t>相对 Eagle3 的 macro-average accepted length 提升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70862"/>
            <a:ext cx="1475232" cy="1695297"/>
          </a:xfrm>
          <a:prstGeom prst="rect">
            <a:avLst/>
          </a:prstGeom>
          <a:solidFill>
            <a:srgbClr val="2762B2"/>
          </a:solidFill>
          <a:ln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9966"/>
            <a:ext cx="147523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30.9%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39312"/>
            <a:ext cx="147523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Qwen3-4B</a:t>
            </a:r>
          </a:p>
        </p:txBody>
      </p:sp>
      <p:sp>
        <p:nvSpPr>
          <p:cNvPr id="9" name="Rectangle 8"/>
          <p:cNvSpPr/>
          <p:nvPr/>
        </p:nvSpPr>
        <p:spPr>
          <a:xfrm>
            <a:off x="2554223" y="2101291"/>
            <a:ext cx="1475232" cy="1464868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54223" y="1790395"/>
            <a:ext cx="147523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26.7%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4223" y="3639312"/>
            <a:ext cx="147523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Qwen3-8B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94047" y="1920240"/>
            <a:ext cx="1475232" cy="1645920"/>
          </a:xfrm>
          <a:prstGeom prst="rect">
            <a:avLst/>
          </a:prstGeom>
          <a:solidFill>
            <a:srgbClr val="368F56"/>
          </a:solidFill>
          <a:ln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94047" y="1609344"/>
            <a:ext cx="147523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30.0%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4047" y="3639312"/>
            <a:ext cx="147523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Qwen3-14B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115568"/>
            <a:ext cx="47548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300" b="0">
                <a:solidFill>
                  <a:srgbClr val="5D6975"/>
                </a:solidFill>
                <a:latin typeface="Microsoft YaHei"/>
              </a:rPr>
              <a:t>相对 DFlash 的 macro-average accepted length 提升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143436"/>
            <a:ext cx="1414272" cy="1422723"/>
          </a:xfrm>
          <a:prstGeom prst="rect">
            <a:avLst/>
          </a:prstGeom>
          <a:solidFill>
            <a:srgbClr val="E28030"/>
          </a:solidFill>
          <a:ln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32540"/>
            <a:ext cx="141427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16.3%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39312"/>
            <a:ext cx="141427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Qwen3-4B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1104" y="1960141"/>
            <a:ext cx="1414272" cy="1606018"/>
          </a:xfrm>
          <a:prstGeom prst="rect">
            <a:avLst/>
          </a:prstGeom>
          <a:solidFill>
            <a:srgbClr val="BE4141"/>
          </a:solidFill>
          <a:ln>
            <a:solidFill>
              <a:srgbClr val="BE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71104" y="1649245"/>
            <a:ext cx="141427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18.4%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71104" y="3639312"/>
            <a:ext cx="141427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Qwen3-8B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49968" y="1968869"/>
            <a:ext cx="1414272" cy="159729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49968" y="1657973"/>
            <a:ext cx="1414272" cy="20116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000" b="1">
                <a:solidFill>
                  <a:srgbClr val="12253F"/>
                </a:solidFill>
                <a:latin typeface="Microsoft YaHei"/>
              </a:rPr>
              <a:t>18.3%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9968" y="3639312"/>
            <a:ext cx="1414272" cy="29260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900" b="0">
                <a:solidFill>
                  <a:srgbClr val="5D6975"/>
                </a:solidFill>
                <a:latin typeface="Microsoft YaHei"/>
              </a:rPr>
              <a:t>Qwen3-14B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297680"/>
            <a:ext cx="4983480" cy="100584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297680"/>
            <a:ext cx="73152" cy="100584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407408"/>
            <a:ext cx="47091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领域效应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" y="4736592"/>
            <a:ext cx="4709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Math / Code 接受长度天然高于 Chat；开放式聊天更需要动态验证预算。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297680"/>
            <a:ext cx="4983480" cy="100584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4297680"/>
            <a:ext cx="73152" cy="100584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4407408"/>
            <a:ext cx="470916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模型族泛化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4736592"/>
            <a:ext cx="4709160" cy="4754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Gemma4-12B 上也有稳定收益，说明不是 Qwen 特定现象。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为什么并行 drafter 有时能超过自回归 drafter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首 token 容量优势在 speculative decoding 中被放大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429000" cy="146304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46304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34416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位置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673352"/>
            <a:ext cx="3154680" cy="9326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并行 drafter 可用更深 backbone，首 token acceptance 高。
首 token 一错，整段作废。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34440"/>
            <a:ext cx="3429000" cy="146304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34440"/>
            <a:ext cx="73152" cy="146304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34416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后续位置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673352"/>
            <a:ext cx="3154680" cy="9326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自回归 drafter 能利用已采样前缀；DFlash 会 suffix decay。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34440"/>
            <a:ext cx="3429000" cy="146304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73152" cy="146304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344168"/>
            <a:ext cx="315468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DSpark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673352"/>
            <a:ext cx="3154680" cy="9326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继承首 token 容量；用 Markov/RNN head 补后缀依赖。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383280"/>
            <a:ext cx="1033272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100" b="1">
                <a:solidFill>
                  <a:srgbClr val="12253F"/>
                </a:solidFill>
                <a:latin typeface="Microsoft YaHei"/>
              </a:rPr>
              <a:t>这不是“并行一定更好”，而是 speculative decoding 对第一个 token 极度敏感。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251960"/>
            <a:ext cx="9966960" cy="91440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Eagle3：后缀稳定，但为了控制 O(γ) latency，网络更浅</a:t>
            </a:r>
          </a:p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DFlash：首 token 强，但后缀独立性导致接受率下降</a:t>
            </a:r>
          </a:p>
          <a:p>
            <a:pPr>
              <a:spcAft>
                <a:spcPts val="400"/>
              </a:spcAft>
              <a:defRPr sz="1600">
                <a:solidFill>
                  <a:srgbClr val="1C2024"/>
                </a:solidFill>
                <a:latin typeface="Microsoft YaHei"/>
              </a:defRPr>
            </a:pPr>
            <a:r>
              <a:t>DSpark：用低成本顺序修正拿到两者优势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生产部署：算法进入 Serving 系统后的三件事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337560" cy="15544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55448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训练通信优化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73352"/>
            <a:ext cx="3063240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不跨 worker 传全词表 logits；只传 LM head 前 hidden states，局部计算投影。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155448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55448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异步 Scheduler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63240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用两步前 confidence 预测容量 K；当前 token 按最新置信排序。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37560" cy="155448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155448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变长验证 Kernel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673352"/>
            <a:ext cx="3063240" cy="10241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flatten 不同请求 token，用 marker tensor 表达逻辑依赖，减少 padding 浪费。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10561320" cy="6858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100" b="1">
                <a:solidFill>
                  <a:srgbClr val="12253F"/>
                </a:solidFill>
                <a:latin typeface="Microsoft YaHei"/>
              </a:rPr>
              <a:t>工程重点：DSpark 不只是一个 drafter，还要求 serving engine 支持动态 verification budget。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真实流量结果：Pareto Frontier 外移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5074920" cy="123444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23444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48006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V4-Flash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73352"/>
            <a:ext cx="4800600" cy="7040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matched throughput 下，单用户生成速度提升 60%-85%。
80 tok/s/user SLA：吞吐 +51%。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234440"/>
            <a:ext cx="5074920" cy="123444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234440"/>
            <a:ext cx="73152" cy="123444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1" y="1344168"/>
            <a:ext cx="48006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V4-Pro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1" y="1673352"/>
            <a:ext cx="4800600" cy="7040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matched capacity 下，单用户生成速度提升 57%-78%。
35 tok/s/user SLA：吞吐 +52%。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971800"/>
            <a:ext cx="5074920" cy="12344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71800"/>
            <a:ext cx="73152" cy="1234440"/>
          </a:xfrm>
          <a:prstGeom prst="rect">
            <a:avLst/>
          </a:prstGeom>
          <a:solidFill>
            <a:srgbClr val="368F56"/>
          </a:solidFill>
          <a:ln w="12700">
            <a:solidFill>
              <a:srgbClr val="368F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" y="3081528"/>
            <a:ext cx="48006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轻载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3410712"/>
            <a:ext cx="4800600" cy="7040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scheduler 扩大 verification budget，从 MTP-1 静态 2 tokens 到约 4-6 tokens。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971800"/>
            <a:ext cx="5074920" cy="123444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971800"/>
            <a:ext cx="73152" cy="123444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3081528"/>
            <a:ext cx="480060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重载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1" y="3410712"/>
            <a:ext cx="4800600" cy="70408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400" b="0">
                <a:solidFill>
                  <a:srgbClr val="1C2024"/>
                </a:solidFill>
                <a:latin typeface="Microsoft YaHei"/>
              </a:rPr>
              <a:t>scheduler 自动收缩验证长度，避免低置信后缀占用关键 batch capacity。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1900" b="1">
                <a:solidFill>
                  <a:srgbClr val="12253F"/>
                </a:solidFill>
                <a:latin typeface="Microsoft YaHei"/>
              </a:rPr>
              <a:t>核心价值：严格交互 SLA 下，MTP-1 进入低并发区，DSpark 仍保持有用吞吐。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局限与对工程落地的启发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3337560" cy="150876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73152" cy="150876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局限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673352"/>
            <a:ext cx="3063240" cy="978407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即使 verification 被剪枝，parallel backbone 生成 γ-token block 的 draft-side 固定成本仍存在。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337560" cy="150876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150876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潜在优化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673352"/>
            <a:ext cx="3063240" cy="978407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difficulty-aware early exit：低接受率请求可少 draft 或跳过完整 block generation。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337560" cy="150876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73152" cy="150876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344168"/>
            <a:ext cx="30632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1">
                <a:solidFill>
                  <a:srgbClr val="12253F"/>
                </a:solidFill>
                <a:latin typeface="Microsoft YaHei"/>
              </a:rPr>
              <a:t>实现启发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673352"/>
            <a:ext cx="3063240" cy="978407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1C2024"/>
                </a:solidFill>
                <a:latin typeface="Microsoft YaHei"/>
              </a:rPr>
              <a:t>vLLM 类框架需要把 fixed num_spec_tokens 扩展为 per-request dynamic budget。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703320"/>
            <a:ext cx="10195560" cy="1143000"/>
          </a:xfrm>
          <a:prstGeom prst="rect">
            <a:avLst/>
          </a:prstGeom>
          <a:noFill/>
        </p:spPr>
        <p:txBody>
          <a:bodyPr wrap="square" rIns="73152">
            <a:norm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只追求 accepted length 不够，线上还要考虑 target batch 与 SPS(B)</a:t>
            </a:r>
          </a:p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confidence 必须校准，否则 scheduler 会高估后缀收益</a:t>
            </a:r>
          </a:p>
          <a:p>
            <a:pPr>
              <a:spcAft>
                <a:spcPts val="400"/>
              </a:spcAft>
              <a:defRPr sz="1700">
                <a:solidFill>
                  <a:srgbClr val="1C2024"/>
                </a:solidFill>
                <a:latin typeface="Microsoft YaHei"/>
              </a:defRPr>
            </a:pPr>
            <a:r>
              <a:t>调度必须保持 non-anticipating property，避免破坏无损性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11155680" cy="50292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2500" b="1">
                <a:solidFill>
                  <a:srgbClr val="12253F"/>
                </a:solidFill>
                <a:latin typeface="Microsoft YaHei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960120" cy="45720"/>
          </a:xfrm>
          <a:prstGeom prst="rect">
            <a:avLst/>
          </a:prstGeom>
          <a:solidFill>
            <a:srgbClr val="008E80"/>
          </a:solidFill>
          <a:ln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100" b="0">
                <a:solidFill>
                  <a:srgbClr val="5D6975"/>
                </a:solidFill>
                <a:latin typeface="Microsoft YaHei"/>
              </a:rPr>
              <a:t>汇报结论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34440"/>
            <a:ext cx="10652760" cy="868680"/>
          </a:xfrm>
          <a:prstGeom prst="roundRect">
            <a:avLst/>
          </a:prstGeom>
          <a:solidFill>
            <a:srgbClr val="E8F0FC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73152" cy="868680"/>
          </a:xfrm>
          <a:prstGeom prst="rect">
            <a:avLst/>
          </a:prstGeom>
          <a:solidFill>
            <a:srgbClr val="2762B2"/>
          </a:solidFill>
          <a:ln w="12700">
            <a:solidFill>
              <a:srgbClr val="2762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344168"/>
            <a:ext cx="103784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1. DSpark 的本质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673352"/>
            <a:ext cx="10378440" cy="3383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0">
                <a:solidFill>
                  <a:srgbClr val="1C2024"/>
                </a:solidFill>
                <a:latin typeface="Microsoft YaHei"/>
              </a:rPr>
              <a:t>不是普通 MTP-N，而是 DFlash 式并行 drafter + 轻量自回归修正 + 硬件感知验证调度。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23160"/>
            <a:ext cx="10652760" cy="868680"/>
          </a:xfrm>
          <a:prstGeom prst="roundRect">
            <a:avLst/>
          </a:prstGeom>
          <a:solidFill>
            <a:srgbClr val="E2F6F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423160"/>
            <a:ext cx="73152" cy="868680"/>
          </a:xfrm>
          <a:prstGeom prst="rect">
            <a:avLst/>
          </a:prstGeom>
          <a:solidFill>
            <a:srgbClr val="008E80"/>
          </a:solidFill>
          <a:ln w="12700">
            <a:solidFill>
              <a:srgbClr val="008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2532888"/>
            <a:ext cx="103784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2. 为什么有效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862072"/>
            <a:ext cx="10378440" cy="3383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0">
                <a:solidFill>
                  <a:srgbClr val="1C2024"/>
                </a:solidFill>
                <a:latin typeface="Microsoft YaHei"/>
              </a:rPr>
              <a:t>并行 backbone 保留首 token 容量和长草稿低成本；Markov head 缓解后缀衰减；scheduler 减少 verification waste。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10652760" cy="868680"/>
          </a:xfrm>
          <a:prstGeom prst="roundRect">
            <a:avLst/>
          </a:prstGeom>
          <a:solidFill>
            <a:srgbClr val="FFF2E2"/>
          </a:solidFill>
          <a:ln w="12700"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3611880"/>
            <a:ext cx="73152" cy="868680"/>
          </a:xfrm>
          <a:prstGeom prst="rect">
            <a:avLst/>
          </a:prstGeom>
          <a:solidFill>
            <a:srgbClr val="E28030"/>
          </a:solidFill>
          <a:ln w="12700">
            <a:solidFill>
              <a:srgbClr val="E28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3721608"/>
            <a:ext cx="10378440" cy="256032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600" b="1">
                <a:solidFill>
                  <a:srgbClr val="12253F"/>
                </a:solidFill>
                <a:latin typeface="Microsoft YaHei"/>
              </a:rPr>
              <a:t>3. 生产意义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" y="4050791"/>
            <a:ext cx="10378440" cy="338328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1500" b="0">
                <a:solidFill>
                  <a:srgbClr val="1C2024"/>
                </a:solidFill>
                <a:latin typeface="Microsoft YaHei"/>
              </a:rPr>
              <a:t>在真实流量中，动态验证预算让系统在轻载吃满空闲算力，在重载保护关键 batch capacity。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303520"/>
            <a:ext cx="10515600" cy="41148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ctr"/>
            <a:r>
              <a:rPr sz="2800" b="1">
                <a:solidFill>
                  <a:srgbClr val="12253F"/>
                </a:solidFill>
                <a:latin typeface="Microsoft YaHei"/>
              </a:rPr>
              <a:t>Q&amp;A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932688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l"/>
            <a:r>
              <a:rPr sz="800" b="0">
                <a:solidFill>
                  <a:srgbClr val="5D6975"/>
                </a:solidFill>
                <a:latin typeface="Microsoft YaHei"/>
              </a:rPr>
              <a:t>DSpark 技术报告 | Confidence-Scheduled Speculative Decoding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73152" rIns="73152" tIns="73152" bIns="73152">
            <a:normAutofit/>
          </a:bodyPr>
          <a:lstStyle/>
          <a:p>
            <a:pPr algn="r"/>
            <a:r>
              <a:rPr sz="800" b="0">
                <a:solidFill>
                  <a:srgbClr val="5D6975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