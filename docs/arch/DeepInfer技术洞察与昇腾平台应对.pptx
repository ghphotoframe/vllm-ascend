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9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20.xml" ContentType="application/vnd.openxmlformats-officedocument.presentationml.notesSlide+xml"/>
  <Override PartName="/ppt/charts/chart1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57" r:id="rId22"/>
    <p:sldId id="281" r:id="rId23"/>
    <p:sldId id="271" r:id="rId24"/>
    <p:sldId id="278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9"/>
  </p:normalViewPr>
  <p:slideViewPr>
    <p:cSldViewPr snapToGrid="0">
      <p:cViewPr varScale="1">
        <p:scale>
          <a:sx n="82" d="100"/>
          <a:sy n="82" d="100"/>
        </p:scale>
        <p:origin x="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每用户生成速度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vLLM 实测</c:v>
          </c:tx>
          <c:spPr>
            <a:ln w="33338">
              <a:solidFill>
                <a:srgbClr val="008C9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08C95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numCache>
            </c:num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339.49099999999999</c:v>
                </c:pt>
                <c:pt idx="1">
                  <c:v>321.37400000000002</c:v>
                </c:pt>
                <c:pt idx="2">
                  <c:v>294.33499999999998</c:v>
                </c:pt>
                <c:pt idx="3">
                  <c:v>236.386</c:v>
                </c:pt>
                <c:pt idx="4">
                  <c:v>167.553</c:v>
                </c:pt>
                <c:pt idx="5">
                  <c:v>106.48699999999999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7D-3D45-B8B8-B817A87AF8BB}"/>
            </c:ext>
          </c:extLst>
        </c:ser>
        <c:ser>
          <c:idx val="1"/>
          <c:order val="1"/>
          <c:tx>
            <c:v>DI 公开参考</c:v>
          </c:tx>
          <c:spPr>
            <a:ln w="33338">
              <a:solidFill>
                <a:srgbClr val="E27339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E27339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numCache>
            </c:numRef>
          </c:cat>
          <c:val>
            <c:numRef>
              <c:f>'Chart Data'!$D$2:$D$7</c:f>
              <c:numCache>
                <c:formatCode>#,##0</c:formatCode>
                <c:ptCount val="6"/>
                <c:pt idx="0">
                  <c:v>325</c:v>
                </c:pt>
                <c:pt idx="1">
                  <c:v>314.3</c:v>
                </c:pt>
                <c:pt idx="2">
                  <c:v>297</c:v>
                </c:pt>
                <c:pt idx="3">
                  <c:v>245.9</c:v>
                </c:pt>
                <c:pt idx="4">
                  <c:v>178.2</c:v>
                </c:pt>
                <c:pt idx="5">
                  <c:v>102.8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7D-3D45-B8B8-B817A87AF8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请求</a:t>
                </a:r>
                <a:r>
                  <a:rPr lang="en-US" altLang="zh-C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/</a:t>
                </a:r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GPU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AD9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token/s/</a:t>
                </a:r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用户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192F3E"/>
              </a:solidFill>
              <a:latin typeface="Heiti SC"/>
              <a:ea typeface="Heiti SC"/>
              <a:cs typeface="Heiti SC"/>
            </a:defRPr>
          </a:pPr>
          <a:endParaRPr lang="zh-CN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每卡输出吞吐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vLLM 实测</c:v>
          </c:tx>
          <c:spPr>
            <a:ln w="33338">
              <a:solidFill>
                <a:srgbClr val="008C9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08C95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numCache>
            </c:num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2715.9279999999999</c:v>
                </c:pt>
                <c:pt idx="1">
                  <c:v>5141.9840000000004</c:v>
                </c:pt>
                <c:pt idx="2">
                  <c:v>9418.7199999999993</c:v>
                </c:pt>
                <c:pt idx="3">
                  <c:v>15128.704</c:v>
                </c:pt>
                <c:pt idx="4">
                  <c:v>21446.784</c:v>
                </c:pt>
                <c:pt idx="5">
                  <c:v>27260.671999999999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2-8340-931E-C8DAEFA914EB}"/>
            </c:ext>
          </c:extLst>
        </c:ser>
        <c:ser>
          <c:idx val="1"/>
          <c:order val="1"/>
          <c:tx>
            <c:v>DI 公开参考</c:v>
          </c:tx>
          <c:spPr>
            <a:ln w="33338">
              <a:solidFill>
                <a:srgbClr val="E27339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E27339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numCache>
            </c:numRef>
          </c:cat>
          <c:val>
            <c:numRef>
              <c:f>'Chart Data'!$D$2:$D$7</c:f>
              <c:numCache>
                <c:formatCode>#,##0</c:formatCode>
                <c:ptCount val="6"/>
                <c:pt idx="0">
                  <c:v>2600</c:v>
                </c:pt>
                <c:pt idx="1">
                  <c:v>5028.8</c:v>
                </c:pt>
                <c:pt idx="2">
                  <c:v>9504</c:v>
                </c:pt>
                <c:pt idx="3">
                  <c:v>15737.6</c:v>
                </c:pt>
                <c:pt idx="4">
                  <c:v>22809.599999999999</c:v>
                </c:pt>
                <c:pt idx="5">
                  <c:v>26316.799999999999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2-8340-931E-C8DAEFA914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请求</a:t>
                </a:r>
                <a:r>
                  <a:rPr lang="en-US" altLang="zh-C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/</a:t>
                </a:r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GPU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AD9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token/s/GPU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192F3E"/>
              </a:solidFill>
              <a:latin typeface="Heiti SC"/>
              <a:ea typeface="Heiti SC"/>
              <a:cs typeface="Heiti SC"/>
            </a:defRPr>
          </a:pPr>
          <a:endParaRPr lang="zh-CN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Prefill </a:t>
            </a:r>
            <a:r>
              <a:rPr lang="zh-CN" altLang="en-US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步时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vLLM 实测</c:v>
          </c:tx>
          <c:spPr>
            <a:ln w="33338">
              <a:solidFill>
                <a:srgbClr val="008C9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08C9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4K</c:v>
                </c:pt>
                <c:pt idx="1">
                  <c:v>8K</c:v>
                </c:pt>
                <c:pt idx="2">
                  <c:v>16K</c:v>
                </c:pt>
                <c:pt idx="3">
                  <c:v>32K</c:v>
                </c:pt>
                <c:pt idx="4">
                  <c:v>64K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59.58</c:v>
                </c:pt>
                <c:pt idx="1">
                  <c:v>95.97</c:v>
                </c:pt>
                <c:pt idx="2">
                  <c:v>168.81</c:v>
                </c:pt>
                <c:pt idx="3">
                  <c:v>321.11</c:v>
                </c:pt>
                <c:pt idx="4">
                  <c:v>639.42999999999995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90-1647-A241-21EB677E192B}"/>
            </c:ext>
          </c:extLst>
        </c:ser>
        <c:ser>
          <c:idx val="1"/>
          <c:order val="1"/>
          <c:tx>
            <c:v>DI 公开参考</c:v>
          </c:tx>
          <c:spPr>
            <a:ln w="33338">
              <a:solidFill>
                <a:srgbClr val="E27339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E27339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4K</c:v>
                </c:pt>
                <c:pt idx="1">
                  <c:v>8K</c:v>
                </c:pt>
                <c:pt idx="2">
                  <c:v>16K</c:v>
                </c:pt>
                <c:pt idx="3">
                  <c:v>32K</c:v>
                </c:pt>
                <c:pt idx="4">
                  <c:v>64K</c:v>
                </c:pt>
              </c:strCache>
            </c:str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61.5</c:v>
                </c:pt>
                <c:pt idx="1">
                  <c:v>108</c:v>
                </c:pt>
                <c:pt idx="2">
                  <c:v>193.9</c:v>
                </c:pt>
                <c:pt idx="3">
                  <c:v>377.8</c:v>
                </c:pt>
                <c:pt idx="4">
                  <c:v>755.6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90-1647-A241-21EB677E1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新增 </a:t>
                </a:r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token/GPU/step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AD9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ms/step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192F3E"/>
              </a:solidFill>
              <a:latin typeface="Heiti SC"/>
              <a:ea typeface="Heiti SC"/>
              <a:cs typeface="Heiti SC"/>
            </a:defRPr>
          </a:pPr>
          <a:endParaRPr lang="zh-CN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新增输入吞吐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vLLM 实测</c:v>
          </c:tx>
          <c:spPr>
            <a:ln w="33338">
              <a:solidFill>
                <a:srgbClr val="008C9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08C9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4K</c:v>
                </c:pt>
                <c:pt idx="1">
                  <c:v>8K</c:v>
                </c:pt>
                <c:pt idx="2">
                  <c:v>16K</c:v>
                </c:pt>
                <c:pt idx="3">
                  <c:v>32K</c:v>
                </c:pt>
                <c:pt idx="4">
                  <c:v>64K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68747.901980499999</c:v>
                </c:pt>
                <c:pt idx="1">
                  <c:v>85360.008335899998</c:v>
                </c:pt>
                <c:pt idx="2">
                  <c:v>97055.861619599993</c:v>
                </c:pt>
                <c:pt idx="3">
                  <c:v>102046.027841</c:v>
                </c:pt>
                <c:pt idx="4">
                  <c:v>102491.28129699999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40-0E4E-BEF3-6862BB6FBCED}"/>
            </c:ext>
          </c:extLst>
        </c:ser>
        <c:ser>
          <c:idx val="1"/>
          <c:order val="1"/>
          <c:tx>
            <c:v>DI 公开参考</c:v>
          </c:tx>
          <c:spPr>
            <a:ln w="33338">
              <a:solidFill>
                <a:srgbClr val="E27339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E27339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4K</c:v>
                </c:pt>
                <c:pt idx="1">
                  <c:v>8K</c:v>
                </c:pt>
                <c:pt idx="2">
                  <c:v>16K</c:v>
                </c:pt>
                <c:pt idx="3">
                  <c:v>32K</c:v>
                </c:pt>
                <c:pt idx="4">
                  <c:v>64K</c:v>
                </c:pt>
              </c:strCache>
            </c:str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66601.626016299997</c:v>
                </c:pt>
                <c:pt idx="1">
                  <c:v>75851.851851900006</c:v>
                </c:pt>
                <c:pt idx="2">
                  <c:v>84497.163486300007</c:v>
                </c:pt>
                <c:pt idx="3">
                  <c:v>86733.721545799999</c:v>
                </c:pt>
                <c:pt idx="4">
                  <c:v>86733.721545799999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40-0E4E-BEF3-6862BB6FB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新增 </a:t>
                </a:r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token/GPU/step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AD9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token/s/GPU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192F3E"/>
              </a:solidFill>
              <a:latin typeface="Heiti SC"/>
              <a:ea typeface="Heiti SC"/>
              <a:cs typeface="Heiti SC"/>
            </a:defRPr>
          </a:pPr>
          <a:endParaRPr lang="zh-CN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4 × GB300 </a:t>
            </a:r>
            <a:r>
              <a:rPr lang="zh-CN" altLang="en-US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新增输入吞吐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SGLang 实测步时折算</c:v>
          </c:tx>
          <c:spPr>
            <a:ln w="33338">
              <a:solidFill>
                <a:srgbClr val="008C9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08C9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4K</c:v>
                </c:pt>
                <c:pt idx="1">
                  <c:v>8K</c:v>
                </c:pt>
                <c:pt idx="2">
                  <c:v>16K</c:v>
                </c:pt>
                <c:pt idx="3">
                  <c:v>32K</c:v>
                </c:pt>
                <c:pt idx="4">
                  <c:v>64K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70706.024512300006</c:v>
                </c:pt>
                <c:pt idx="1">
                  <c:v>91817.978031799998</c:v>
                </c:pt>
                <c:pt idx="2">
                  <c:v>102049.20585499999</c:v>
                </c:pt>
                <c:pt idx="3">
                  <c:v>106096.81075</c:v>
                </c:pt>
                <c:pt idx="4">
                  <c:v>108804.143908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AA-3240-B299-E864B72694B2}"/>
            </c:ext>
          </c:extLst>
        </c:ser>
        <c:ser>
          <c:idx val="1"/>
          <c:order val="1"/>
          <c:tx>
            <c:v>DI 最佳已测配置折算</c:v>
          </c:tx>
          <c:spPr>
            <a:ln w="33338">
              <a:solidFill>
                <a:srgbClr val="E27339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E27339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4K</c:v>
                </c:pt>
                <c:pt idx="1">
                  <c:v>8K</c:v>
                </c:pt>
                <c:pt idx="2">
                  <c:v>16K</c:v>
                </c:pt>
                <c:pt idx="3">
                  <c:v>32K</c:v>
                </c:pt>
                <c:pt idx="4">
                  <c:v>64K</c:v>
                </c:pt>
              </c:strCache>
            </c:str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68062.479229000004</c:v>
                </c:pt>
                <c:pt idx="1">
                  <c:v>92377.086152499993</c:v>
                </c:pt>
                <c:pt idx="2">
                  <c:v>101896.884135</c:v>
                </c:pt>
                <c:pt idx="3">
                  <c:v>102524.952286</c:v>
                </c:pt>
                <c:pt idx="4">
                  <c:v>106607.67153599999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AA-3240-B299-E864B7269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新增 </a:t>
                </a:r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token/GPU/step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AD9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token/s/GPU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192F3E"/>
              </a:solidFill>
              <a:latin typeface="Heiti SC"/>
              <a:ea typeface="Heiti SC"/>
              <a:cs typeface="Heiti SC"/>
            </a:defRPr>
          </a:pPr>
          <a:endParaRPr lang="zh-CN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4 × B300 </a:t>
            </a:r>
            <a:r>
              <a:rPr lang="zh-CN" altLang="en-US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新增输入吞吐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SGLang 实测步时折算</c:v>
          </c:tx>
          <c:spPr>
            <a:ln w="33338">
              <a:solidFill>
                <a:srgbClr val="008C9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08C9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4K</c:v>
                </c:pt>
                <c:pt idx="1">
                  <c:v>8K</c:v>
                </c:pt>
                <c:pt idx="2">
                  <c:v>16K</c:v>
                </c:pt>
                <c:pt idx="3">
                  <c:v>32K</c:v>
                </c:pt>
                <c:pt idx="4">
                  <c:v>64K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67882.001988699994</c:v>
                </c:pt>
                <c:pt idx="1">
                  <c:v>79781.8465134</c:v>
                </c:pt>
                <c:pt idx="2">
                  <c:v>86154.493348100004</c:v>
                </c:pt>
                <c:pt idx="3">
                  <c:v>89014.451809200007</c:v>
                </c:pt>
                <c:pt idx="4">
                  <c:v>90556.860577600004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A8-9844-A264-397A42C7CA4E}"/>
            </c:ext>
          </c:extLst>
        </c:ser>
        <c:ser>
          <c:idx val="1"/>
          <c:order val="1"/>
          <c:tx>
            <c:v>DI 最佳已测配置折算</c:v>
          </c:tx>
          <c:spPr>
            <a:ln w="33338">
              <a:solidFill>
                <a:srgbClr val="E27339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E27339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4K</c:v>
                </c:pt>
                <c:pt idx="1">
                  <c:v>8K</c:v>
                </c:pt>
                <c:pt idx="2">
                  <c:v>16K</c:v>
                </c:pt>
                <c:pt idx="3">
                  <c:v>32K</c:v>
                </c:pt>
                <c:pt idx="4">
                  <c:v>64K</c:v>
                </c:pt>
              </c:strCache>
            </c:str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65337.374381900001</c:v>
                </c:pt>
                <c:pt idx="1">
                  <c:v>77848.522284499995</c:v>
                </c:pt>
                <c:pt idx="2">
                  <c:v>86404.387722800006</c:v>
                </c:pt>
                <c:pt idx="3">
                  <c:v>87706.431840699996</c:v>
                </c:pt>
                <c:pt idx="4">
                  <c:v>90455.618279899994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A8-9844-A264-397A42C7CA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新增 </a:t>
                </a:r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token/GPU/step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AD9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token/s/GPU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192F3E"/>
              </a:solidFill>
              <a:latin typeface="Heiti SC"/>
              <a:ea typeface="Heiti SC"/>
              <a:cs typeface="Heiti SC"/>
            </a:defRPr>
          </a:pPr>
          <a:endParaRPr lang="zh-CN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Decode </a:t>
            </a:r>
            <a:r>
              <a:rPr lang="zh-CN" altLang="en-US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步时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SGLang 实测</c:v>
          </c:tx>
          <c:spPr>
            <a:ln w="33338">
              <a:solidFill>
                <a:srgbClr val="008C9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08C95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numCache>
            </c:num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9.41</c:v>
                </c:pt>
                <c:pt idx="1">
                  <c:v>9.7100000000000009</c:v>
                </c:pt>
                <c:pt idx="2">
                  <c:v>10.33</c:v>
                </c:pt>
                <c:pt idx="3">
                  <c:v>12.64</c:v>
                </c:pt>
                <c:pt idx="4">
                  <c:v>18.27</c:v>
                </c:pt>
                <c:pt idx="5">
                  <c:v>28.88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56-A04E-BAB8-A5EA4F13AD7F}"/>
            </c:ext>
          </c:extLst>
        </c:ser>
        <c:ser>
          <c:idx val="1"/>
          <c:order val="1"/>
          <c:tx>
            <c:v>DI 实测</c:v>
          </c:tx>
          <c:spPr>
            <a:ln w="33338">
              <a:solidFill>
                <a:srgbClr val="E27339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E27339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numCache>
            </c:numRef>
          </c:cat>
          <c:val>
            <c:numRef>
              <c:f>'Chart Data'!$D$2:$D$7</c:f>
              <c:numCache>
                <c:formatCode>#,##0</c:formatCode>
                <c:ptCount val="6"/>
                <c:pt idx="0">
                  <c:v>9.3699999999999992</c:v>
                </c:pt>
                <c:pt idx="1">
                  <c:v>9.82</c:v>
                </c:pt>
                <c:pt idx="2">
                  <c:v>10.69</c:v>
                </c:pt>
                <c:pt idx="3">
                  <c:v>13.27</c:v>
                </c:pt>
                <c:pt idx="4">
                  <c:v>18.61</c:v>
                </c:pt>
                <c:pt idx="5">
                  <c:v>31.19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E56-A04E-BAB8-A5EA4F13AD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请求</a:t>
                </a:r>
                <a:r>
                  <a:rPr lang="en-US" altLang="zh-C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/</a:t>
                </a:r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GPU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AD9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ms/step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192F3E"/>
              </a:solidFill>
              <a:latin typeface="Heiti SC"/>
              <a:ea typeface="Heiti SC"/>
              <a:cs typeface="Heiti SC"/>
            </a:defRPr>
          </a:pPr>
          <a:endParaRPr lang="zh-CN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固定接受量下折算输出吞吐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SGLang 折算</c:v>
          </c:tx>
          <c:spPr>
            <a:ln w="33338">
              <a:solidFill>
                <a:srgbClr val="008C9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08C95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numCache>
            </c:num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2763.0180658899999</c:v>
                </c:pt>
                <c:pt idx="1">
                  <c:v>5355.3038104999996</c:v>
                </c:pt>
                <c:pt idx="2">
                  <c:v>10067.763794799999</c:v>
                </c:pt>
                <c:pt idx="3">
                  <c:v>16455.696202499999</c:v>
                </c:pt>
                <c:pt idx="4">
                  <c:v>22769.567597199999</c:v>
                </c:pt>
                <c:pt idx="5">
                  <c:v>28808.8642659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9D-AF49-AC6A-B13964778503}"/>
            </c:ext>
          </c:extLst>
        </c:ser>
        <c:ser>
          <c:idx val="1"/>
          <c:order val="1"/>
          <c:tx>
            <c:v>DI 折算</c:v>
          </c:tx>
          <c:spPr>
            <a:ln w="33338">
              <a:solidFill>
                <a:srgbClr val="E27339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E27339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numCache>
            </c:numRef>
          </c:cat>
          <c:val>
            <c:numRef>
              <c:f>'Chart Data'!$D$2:$D$7</c:f>
              <c:numCache>
                <c:formatCode>#,##0</c:formatCode>
                <c:ptCount val="6"/>
                <c:pt idx="0">
                  <c:v>2774.81323372</c:v>
                </c:pt>
                <c:pt idx="1">
                  <c:v>5295.3156822800001</c:v>
                </c:pt>
                <c:pt idx="2">
                  <c:v>9728.7184284399991</c:v>
                </c:pt>
                <c:pt idx="3">
                  <c:v>15674.4536549</c:v>
                </c:pt>
                <c:pt idx="4">
                  <c:v>22353.573347699999</c:v>
                </c:pt>
                <c:pt idx="5">
                  <c:v>26675.216415499999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9D-AF49-AC6A-B139647785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请求</a:t>
                </a:r>
                <a:r>
                  <a:rPr lang="en-US" altLang="zh-C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/</a:t>
                </a:r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GPU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AD9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token/s/GPU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192F3E"/>
              </a:solidFill>
              <a:latin typeface="Heiti SC"/>
              <a:ea typeface="Heiti SC"/>
              <a:cs typeface="Heiti SC"/>
            </a:defRPr>
          </a:pPr>
          <a:endParaRPr lang="zh-CN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D </a:t>
            </a:r>
            <a:r>
              <a:rPr lang="zh-CN" altLang="en-US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端 </a:t>
            </a:r>
            <a:r>
              <a:rPr lang="en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TPOT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DI τ5.1</c:v>
          </c:tx>
          <c:spPr>
            <a:ln w="33338">
              <a:solidFill>
                <a:srgbClr val="E27339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E27339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256</c:v>
                </c:pt>
                <c:pt idx="1">
                  <c:v>384</c:v>
                </c:pt>
                <c:pt idx="2">
                  <c:v>512</c:v>
                </c:pt>
                <c:pt idx="3">
                  <c:v>1024</c:v>
                </c:pt>
                <c:pt idx="4">
                  <c:v>1536</c:v>
                </c:pt>
                <c:pt idx="5">
                  <c:v>2048</c:v>
                </c:pt>
                <c:pt idx="6">
                  <c:v>2560</c:v>
                </c:pt>
              </c:numCache>
            </c:numRef>
          </c:xVal>
          <c:yVal>
            <c:numRef>
              <c:f>'Chart Data'!$B$2:$B$8</c:f>
              <c:numCache>
                <c:formatCode>0.0</c:formatCode>
                <c:ptCount val="7"/>
                <c:pt idx="0">
                  <c:v>4.3099999999999996</c:v>
                </c:pt>
                <c:pt idx="1">
                  <c:v>4.6500000000000004</c:v>
                </c:pt>
                <c:pt idx="2">
                  <c:v>4.8899999999999997</c:v>
                </c:pt>
                <c:pt idx="3">
                  <c:v>6.48</c:v>
                </c:pt>
                <c:pt idx="4">
                  <c:v>8.4499999999999993</c:v>
                </c:pt>
                <c:pt idx="5">
                  <c:v>9.6199999999999992</c:v>
                </c:pt>
                <c:pt idx="6">
                  <c:v>11.44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149-D443-BC73-95B9F0E69EA5}"/>
            </c:ext>
          </c:extLst>
        </c:ser>
        <c:ser>
          <c:idx val="1"/>
          <c:order val="1"/>
          <c:tx>
            <c:v>vLLM-Ascend 实测</c:v>
          </c:tx>
          <c:spPr>
            <a:ln w="33338">
              <a:solidFill>
                <a:srgbClr val="1976B6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1976B6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256</c:v>
                </c:pt>
                <c:pt idx="1">
                  <c:v>384</c:v>
                </c:pt>
                <c:pt idx="2">
                  <c:v>512</c:v>
                </c:pt>
                <c:pt idx="3">
                  <c:v>1024</c:v>
                </c:pt>
                <c:pt idx="4">
                  <c:v>1536</c:v>
                </c:pt>
                <c:pt idx="5">
                  <c:v>2048</c:v>
                </c:pt>
                <c:pt idx="6">
                  <c:v>2560</c:v>
                </c:pt>
              </c:numCache>
            </c:numRef>
          </c:xVal>
          <c:yVal>
            <c:numRef>
              <c:f>'Chart Data'!$D$2:$D$8</c:f>
              <c:numCache>
                <c:formatCode>0.0</c:formatCode>
                <c:ptCount val="7"/>
                <c:pt idx="0">
                  <c:v>4.6100000000000003</c:v>
                </c:pt>
                <c:pt idx="1">
                  <c:v>4.2</c:v>
                </c:pt>
                <c:pt idx="2">
                  <c:v>4.93</c:v>
                </c:pt>
                <c:pt idx="3">
                  <c:v>6.5</c:v>
                </c:pt>
                <c:pt idx="4">
                  <c:v>8.56</c:v>
                </c:pt>
                <c:pt idx="5">
                  <c:v>10.35</c:v>
                </c:pt>
                <c:pt idx="6">
                  <c:v>12.28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149-D443-BC73-95B9F0E69E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AD9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ms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6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总并发（</a:t>
                </a:r>
                <a:r>
                  <a:rPr lang="en-US" altLang="zh-C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32 </a:t>
                </a:r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卡）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crossBetween val="midCat"/>
        <c:majorUnit val="512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192F3E"/>
              </a:solidFill>
              <a:latin typeface="Heiti SC"/>
              <a:ea typeface="Heiti SC"/>
              <a:cs typeface="Heiti SC"/>
            </a:defRPr>
          </a:pPr>
          <a:endParaRPr lang="zh-CN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D </a:t>
            </a:r>
            <a:r>
              <a:rPr lang="zh-CN" altLang="en-US"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端每卡吞吐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DI τ5.1</c:v>
          </c:tx>
          <c:spPr>
            <a:ln w="33338">
              <a:solidFill>
                <a:srgbClr val="E27339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E27339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256</c:v>
                </c:pt>
                <c:pt idx="1">
                  <c:v>384</c:v>
                </c:pt>
                <c:pt idx="2">
                  <c:v>512</c:v>
                </c:pt>
                <c:pt idx="3">
                  <c:v>1024</c:v>
                </c:pt>
                <c:pt idx="4">
                  <c:v>1536</c:v>
                </c:pt>
                <c:pt idx="5">
                  <c:v>2048</c:v>
                </c:pt>
                <c:pt idx="6">
                  <c:v>2560</c:v>
                </c:pt>
              </c:numCache>
            </c:numRef>
          </c:xVal>
          <c:yVal>
            <c:numRef>
              <c:f>'Chart Data'!$B$2:$B$8</c:f>
              <c:numCache>
                <c:formatCode>#,##0</c:formatCode>
                <c:ptCount val="7"/>
                <c:pt idx="0">
                  <c:v>1858.1</c:v>
                </c:pt>
                <c:pt idx="1">
                  <c:v>2581.6999999999998</c:v>
                </c:pt>
                <c:pt idx="2">
                  <c:v>3270.4</c:v>
                </c:pt>
                <c:pt idx="3">
                  <c:v>4938.8999999999996</c:v>
                </c:pt>
                <c:pt idx="4">
                  <c:v>5682.1</c:v>
                </c:pt>
                <c:pt idx="5">
                  <c:v>6650.3</c:v>
                </c:pt>
                <c:pt idx="6">
                  <c:v>6993.1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B8A-AA4F-AB86-BF199C8BB0F9}"/>
            </c:ext>
          </c:extLst>
        </c:ser>
        <c:ser>
          <c:idx val="1"/>
          <c:order val="1"/>
          <c:tx>
            <c:v>vLLM-Ascend 实测</c:v>
          </c:tx>
          <c:spPr>
            <a:ln w="33338">
              <a:solidFill>
                <a:srgbClr val="1976B6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1976B6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256</c:v>
                </c:pt>
                <c:pt idx="1">
                  <c:v>384</c:v>
                </c:pt>
                <c:pt idx="2">
                  <c:v>512</c:v>
                </c:pt>
                <c:pt idx="3">
                  <c:v>1024</c:v>
                </c:pt>
                <c:pt idx="4">
                  <c:v>1536</c:v>
                </c:pt>
                <c:pt idx="5">
                  <c:v>2048</c:v>
                </c:pt>
                <c:pt idx="6">
                  <c:v>2560</c:v>
                </c:pt>
              </c:numCache>
            </c:numRef>
          </c:xVal>
          <c:yVal>
            <c:numRef>
              <c:f>'Chart Data'!$D$2:$D$8</c:f>
              <c:numCache>
                <c:formatCode>#,##0</c:formatCode>
                <c:ptCount val="7"/>
                <c:pt idx="0">
                  <c:v>1736.1</c:v>
                </c:pt>
                <c:pt idx="1">
                  <c:v>2856.5</c:v>
                </c:pt>
                <c:pt idx="2">
                  <c:v>3247.7</c:v>
                </c:pt>
                <c:pt idx="3">
                  <c:v>4924.2</c:v>
                </c:pt>
                <c:pt idx="4">
                  <c:v>5606</c:v>
                </c:pt>
                <c:pt idx="5">
                  <c:v>6181.6</c:v>
                </c:pt>
                <c:pt idx="6">
                  <c:v>6513.1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B8A-AA4F-AB86-BF199C8BB0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AD9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token/s/</a:t>
                </a:r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卡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6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总并发（</a:t>
                </a:r>
                <a:r>
                  <a:rPr lang="en-US" altLang="zh-CN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32 </a:t>
                </a:r>
                <a:r>
                  <a:rPr lang="zh-CN" altLang="en-US" sz="1500">
                    <a:solidFill>
                      <a:srgbClr val="59717F"/>
                    </a:solidFill>
                    <a:latin typeface="Heiti SC"/>
                    <a:ea typeface="Heiti SC"/>
                    <a:cs typeface="Heiti SC"/>
                  </a:rPr>
                  <a:t>卡）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AD9DF"/>
            </a:solidFill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crossBetween val="midCat"/>
        <c:majorUnit val="512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192F3E"/>
              </a:solidFill>
              <a:latin typeface="Heiti SC"/>
              <a:ea typeface="Heiti SC"/>
              <a:cs typeface="Heiti SC"/>
            </a:defRPr>
          </a:pPr>
          <a:endParaRPr lang="zh-CN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202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局部耗时比（</a:t>
            </a:r>
            <a:r>
              <a:rPr lang="en" sz="202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DI ÷ vLLM-Ascend）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耗时比</c:v>
          </c:tx>
          <c:spPr>
            <a:solidFill>
              <a:srgbClr val="008C95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E27339"/>
              </a:solidFill>
            </c:spPr>
            <c:extLst>
              <c:ext xmlns:c16="http://schemas.microsoft.com/office/drawing/2014/chart" uri="{C3380CC4-5D6E-409C-BE32-E72D297353CC}">
                <c16:uniqueId val="{00000001-1BCE-3744-A2A4-E0C325EB504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BCE-3744-A2A4-E0C325EB504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BCE-3744-A2A4-E0C325EB504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BCE-3744-A2A4-E0C325EB504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BCE-3744-A2A4-E0C325EB504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BCE-3744-A2A4-E0C325EB504E}"/>
              </c:ext>
            </c:extLst>
          </c:dPt>
          <c:dPt>
            <c:idx val="6"/>
            <c:invertIfNegative val="0"/>
            <c:bubble3D val="0"/>
            <c:spPr>
              <a:solidFill>
                <a:srgbClr val="E27339"/>
              </a:solidFill>
            </c:spPr>
            <c:extLst>
              <c:ext xmlns:c16="http://schemas.microsoft.com/office/drawing/2014/chart" uri="{C3380CC4-5D6E-409C-BE32-E72D297353CC}">
                <c16:uniqueId val="{0000000D-1BCE-3744-A2A4-E0C325EB504E}"/>
              </c:ext>
            </c:extLst>
          </c:dPt>
          <c:dLbls>
            <c:numFmt formatCode="0.00&quot;×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192F3E"/>
                    </a:solidFill>
                    <a:latin typeface="Heiti SC"/>
                    <a:ea typeface="Heiti SC"/>
                    <a:cs typeface="Heiti SC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mHC Pre</c:v>
                </c:pt>
                <c:pt idx="1">
                  <c:v>mHC Post</c:v>
                </c:pt>
                <c:pt idx="2">
                  <c:v>MoE 路由</c:v>
                </c:pt>
                <c:pt idx="3">
                  <c:v>QLI score + Top-K</c:v>
                </c:pt>
                <c:pt idx="4">
                  <c:v>FlashMLA</c:v>
                </c:pt>
                <c:pt idx="5">
                  <c:v>主模型 MoE</c:v>
                </c:pt>
                <c:pt idx="6">
                  <c:v>草稿 MoE</c:v>
                </c:pt>
              </c:strCache>
            </c:strRef>
          </c:cat>
          <c:val>
            <c:numRef>
              <c:f>'Chart Data'!$B$2:$B$8</c:f>
              <c:numCache>
                <c:formatCode>0.0"×"</c:formatCode>
                <c:ptCount val="7"/>
                <c:pt idx="0">
                  <c:v>1.47162790698</c:v>
                </c:pt>
                <c:pt idx="1">
                  <c:v>0.74415405777200005</c:v>
                </c:pt>
                <c:pt idx="2">
                  <c:v>0.73885945777499995</c:v>
                </c:pt>
                <c:pt idx="3">
                  <c:v>0.721838458658</c:v>
                </c:pt>
                <c:pt idx="4">
                  <c:v>0.774866924121</c:v>
                </c:pt>
                <c:pt idx="5">
                  <c:v>0.61144608331700001</c:v>
                </c:pt>
                <c:pt idx="6">
                  <c:v>2.8115586926199998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BCE-3744-A2A4-E0C325EB50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.25"/>
          <c:min val="0"/>
        </c:scaling>
        <c:delete val="0"/>
        <c:axPos val="b"/>
        <c:majorGridlines>
          <c:spPr>
            <a:ln w="9525">
              <a:solidFill>
                <a:srgbClr val="CAD9DF"/>
              </a:solidFill>
            </a:ln>
          </c:spPr>
        </c:majorGridlines>
        <c:numFmt formatCode="0.0&quot;×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基于《DeepInfer技术洞察领导汇报版第八版》，删除原第一章基础服务介绍；采用后续澄清的 CED 与 SWA 表述。主汇报26页，数据附录6页，来源1页。封面为AI生成抽象示意，不代表真实设备。</a:t>
            </a:r>
          </a:p>
          <a:p>
            <a:endParaRPr/>
          </a:p>
          <a:p>
            <a:r>
              <a:t>[S01] DeepInfer README 支持范围与特性</a:t>
            </a:r>
          </a:p>
          <a:p>
            <a:r>
              <a:t>https://github.com/deepseek-ai/DeepInfer/blob/9bd9cf243fc53ef9afbf8f04d391d989117d6ab9/README.md</a:t>
            </a:r>
          </a:p>
          <a:p>
            <a:endParaRPr/>
          </a:p>
          <a:p>
            <a:r>
              <a:t>[S02] DeepInfer 官方部署问答 开源边界 缓存与异步执行</a:t>
            </a:r>
          </a:p>
          <a:p>
            <a:r>
              <a:t>https://github.com/deepseek-ai/DeepInfer/blob/9bd9cf243fc53ef9afbf8f04d391d989117d6ab9/doc/inference_deployment_qa.md</a:t>
            </a:r>
          </a:p>
          <a:p>
            <a:endParaRPr/>
          </a:p>
          <a:p>
            <a:r>
              <a:t>[S03] 团队提供的两张 A5 测试截图；未独立复测</a:t>
            </a:r>
          </a:p>
          <a:p>
            <a:endParaRPr/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DeepInfer 的核心优化，分布在四个层次</a:t>
            </a:r>
          </a:p>
          <a:p>
            <a:endParaRPr/>
          </a:p>
          <a:p>
            <a:r>
              <a:t>[S01] DeepInfer README 支持范围与特性</a:t>
            </a:r>
          </a:p>
          <a:p>
            <a:r>
              <a:t>https://github.com/deepseek-ai/DeepInfer/blob/9bd9cf243fc53ef9afbf8f04d391d989117d6ab9/README.md</a:t>
            </a:r>
          </a:p>
          <a:p>
            <a:endParaRPr/>
          </a:p>
          <a:p>
            <a:r>
              <a:t>[S02] DeepInfer 官方部署问答 开源边界 缓存与异步执行</a:t>
            </a:r>
          </a:p>
          <a:p>
            <a:r>
              <a:t>https://github.com/deepseek-ai/DeepInfer/blob/9bd9cf243fc53ef9afbf8f04d391d989117d6ab9/doc/inference_deployment_qa.md</a:t>
            </a:r>
          </a:p>
          <a:p>
            <a:endParaRPr/>
          </a:p>
          <a:p>
            <a:r>
              <a:t>[S24] 固定 1017 模型配置及层号</a:t>
            </a:r>
          </a:p>
          <a:p>
            <a:r>
              <a:t>https://huggingface.co/deepseek-ai/DeepSeek-V4.1-Flash-1017/blob/1bae0e1088993b9b82de08f59de5be5a34e42170/config.json</a:t>
            </a:r>
          </a:p>
          <a:p>
            <a:endParaRPr/>
          </a:p>
          <a:p>
            <a:r>
              <a:t>[S32] DeepSeek 官方文章 V4.1 Flash 大规模推理部署实践</a:t>
            </a:r>
          </a:p>
          <a:p>
            <a:r>
              <a:t>https://zhuanlan.zhihu.com/p/2095560295930508953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DeepInfer 的专用路径围绕 V4.1 Flash 1017 构建，并没有另造一个更小的模型。</a:t>
            </a:r>
          </a:p>
          <a:p>
            <a:r>
              <a:t>40 个主干层；典型语义为 mHC Pre→Attention→Post→Pre→MoE→Post。</a:t>
            </a:r>
          </a:p>
          <a:p>
            <a:r>
              <a:t>mHC 管理 4 路残差流；主模型 MoE 为 384 个路由专家选 6，另有 1 个共享专家。</a:t>
            </a:r>
          </a:p>
          <a:p>
            <a:r>
              <a:t>前后各 20 层；全部 40 层都有 SWA，前 2 层纯 SWA，后 38 层同时有 global 稀疏路径。</a:t>
            </a:r>
          </a:p>
          <a:p>
            <a:r>
              <a:t>归属：模型结构；DeepInfer 执行实现</a:t>
            </a:r>
          </a:p>
          <a:p>
            <a:r>
              <a:t>迁移：运行相同权重的 vLLM-Ascend 应实现相同语义；对比的是布局、缓存和执行成本。</a:t>
            </a:r>
          </a:p>
          <a:p>
            <a:endParaRPr/>
          </a:p>
          <a:p>
            <a:r>
              <a:t>图中框是语义职责，不代表独立 kernel；层号统一标注从 0 开始或从 1 开始，不能混用。</a:t>
            </a:r>
          </a:p>
          <a:p>
            <a:r>
              <a:t>这些层数和专家数只用于 1017 主模型，不可套到 DSpark 草稿或其他模型。</a:t>
            </a:r>
          </a:p>
          <a:p>
            <a:endParaRPr/>
          </a:p>
          <a:p>
            <a:endParaRPr/>
          </a:p>
          <a:p>
            <a:r>
              <a:t>[S24] 固定 1017 模型配置及层号</a:t>
            </a:r>
          </a:p>
          <a:p>
            <a:r>
              <a:t>https://huggingface.co/deepseek-ai/DeepSeek-V4.1-Flash-1017/blob/1bae0e1088993b9b82de08f59de5be5a34e42170/config.json</a:t>
            </a:r>
          </a:p>
          <a:p>
            <a:endParaRPr/>
          </a:p>
          <a:p>
            <a:r>
              <a:t>[S25] 单层主干执行与 Engram 插入位置</a:t>
            </a:r>
          </a:p>
          <a:p>
            <a:r>
              <a:t>https://github.com/deepseek-ai/DeepInfer/blob/9bd9cf243fc53ef9afbf8f04d391d989117d6ab9/deepinfer/model_executor/models/decoder_layer.py</a:t>
            </a:r>
          </a:p>
          <a:p>
            <a:endParaRPr/>
          </a:p>
          <a:p>
            <a:r>
              <a:t>[S26] mHC 延迟执行和 NVIDIA 融合条件</a:t>
            </a:r>
          </a:p>
          <a:p>
            <a:r>
              <a:t>https://github.com/deepseek-ai/DeepInfer/blob/9bd9cf243fc53ef9afbf8f04d391d989117d6ab9/deepinfer/model_executor/models/v4_modules/hc.py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跨层 KV 共享省去重复投影和存储，各层仍提出自己的查询并继续计算。</a:t>
            </a:r>
          </a:p>
          <a:p>
            <a:r>
              <a:t>global KV 的零基来源层为 2、8、14、20，共四组；前两层只有局部窗口。</a:t>
            </a:r>
          </a:p>
          <a:p>
            <a:r>
              <a:t>消费层读取同一份物理 global KV，仍有自己的 Q、Attention 输出和 MoE。</a:t>
            </a:r>
          </a:p>
          <a:p>
            <a:r>
              <a:t>主 KV、索引 K、选中位置三类复用分别管理；每层 SWA 状态另行维护。</a:t>
            </a:r>
          </a:p>
          <a:p>
            <a:r>
              <a:t>归属：模型规定来源与消费关系；DeepInfer 实现物理缓存和索引复用</a:t>
            </a:r>
          </a:p>
          <a:p>
            <a:r>
              <a:t>迁移：Ascend 已有来源/消费层支持，需验证实际物理共享、重复投影和索引是否跳过。</a:t>
            </a:r>
          </a:p>
          <a:p>
            <a:endParaRPr/>
          </a:p>
          <a:p>
            <a:r>
              <a:t>四组是 global KV，不是整个模型只有四份缓存。</a:t>
            </a:r>
          </a:p>
          <a:p>
            <a:r>
              <a:t>跨层共享与跨请求前缀缓存是两种复用。</a:t>
            </a:r>
          </a:p>
          <a:p>
            <a:r>
              <a:t>共享的是资料，不是每层计算的结论。后半层 24/28/32/36 还会重新选择历史位置。</a:t>
            </a:r>
          </a:p>
          <a:p>
            <a:endParaRPr/>
          </a:p>
          <a:p>
            <a:r>
              <a:t>[S21] 跨层 KV 与索引共享拓扑</a:t>
            </a:r>
          </a:p>
          <a:p>
            <a:r>
              <a:t>https://github.com/deepseek-ai/DeepInfer/blob/9bd9cf243fc53ef9afbf8f04d391d989117d6ab9/deepinfer/model_executor/models/v4_modules/cross_layer.py</a:t>
            </a:r>
          </a:p>
          <a:p>
            <a:endParaRPr/>
          </a:p>
          <a:p>
            <a:r>
              <a:t>[S24] 固定 1017 模型配置及层号</a:t>
            </a:r>
          </a:p>
          <a:p>
            <a:r>
              <a:t>https://huggingface.co/deepseek-ai/DeepSeek-V4.1-Flash-1017/blob/1bae0e1088993b9b82de08f59de5be5a34e42170/config.json</a:t>
            </a:r>
          </a:p>
          <a:p>
            <a:endParaRPr/>
          </a:p>
          <a:p>
            <a:r>
              <a:t>[S35] Ascend V4.1 source 与 consumer 共享缓存</a:t>
            </a:r>
          </a:p>
          <a:p>
            <a:r>
              <a:t>https://github.com/vllm-project/vllm-ascend/blob/5685a13e434e69fda37099c44b8c903dc31626fb/vllm_ascend/models/deepseek_v41/model.py#L724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裁剪的是后半段主计算的查询行，不是把可见历史截为最后 140 个 token。</a:t>
            </a:r>
          </a:p>
          <a:p>
            <a:r>
              <a:t>示例 N=10,000、R=140：完整 KV 分支保留 N 个位置的信息，尾部 R 行进入后 20 层。</a:t>
            </a:r>
          </a:p>
          <a:p>
            <a:r>
              <a:t>第 21→40 层逐层更新这 R 行隐藏状态，各层用自己的 Q 查询 global KV 和本层 SWA。</a:t>
            </a:r>
          </a:p>
          <a:p>
            <a:r>
              <a:t>后续新增位置仍走完整 40 层；已有 KV 和 SWA 滚动复用，不是每步重算整段尾部。</a:t>
            </a:r>
          </a:p>
          <a:p>
            <a:r>
              <a:t>归属：模型依赖允许节省；DeepInfer compaction 与状态管理兑现节省</a:t>
            </a:r>
          </a:p>
          <a:p>
            <a:r>
              <a:t>迁移：比较减少的实际主计算行数、全长 KV 成本和组合兼容性；不能只看“支持 CED”的功能名。</a:t>
            </a:r>
          </a:p>
          <a:p>
            <a:endParaRPr/>
          </a:p>
          <a:p>
            <a:r>
              <a:t>global 查询有稀疏选择与因果限制，不是 R×N 的密集全读。</a:t>
            </a:r>
          </a:p>
          <a:p>
            <a:r>
              <a:t>有界 SWA replay 是近似恢复，依赖匹配模型的后训练；R=140 不是注意力窗口或上下文上限。</a:t>
            </a:r>
          </a:p>
          <a:p>
            <a:r>
              <a:t>少算的主要是旧位置后半层的大量 Attention/MLP 主计算。工作量示意 20N+20R 不能直接换成真实延迟或固定2倍。</a:t>
            </a:r>
          </a:p>
          <a:p>
            <a:endParaRPr/>
          </a:p>
          <a:p>
            <a:r>
              <a:t>[S02] DeepInfer 官方部署问答 开源边界 缓存与异步执行</a:t>
            </a:r>
          </a:p>
          <a:p>
            <a:r>
              <a:t>https://github.com/deepseek-ai/DeepInfer/blob/9bd9cf243fc53ef9afbf8f04d391d989117d6ab9/doc/inference_deployment_qa.md</a:t>
            </a:r>
          </a:p>
          <a:p>
            <a:endParaRPr/>
          </a:p>
          <a:p>
            <a:r>
              <a:t>[S04] DeepSeek V4.1 技术报告 模型依赖与缓存设计</a:t>
            </a:r>
          </a:p>
          <a:p>
            <a:r>
              <a:t>https://arxiv.org/abs/2609.19969</a:t>
            </a:r>
          </a:p>
          <a:p>
            <a:endParaRPr/>
          </a:p>
          <a:p>
            <a:r>
              <a:t>[S22] CED 保留完整历史 KV 同时裁剪主计算</a:t>
            </a:r>
          </a:p>
          <a:p>
            <a:r>
              <a:t>https://github.com/deepseek-ai/DeepInfer/blob/9bd9cf243fc53ef9afbf8f04d391d989117d6ab9/deepinfer/model_executor/models/v4_modules/attn.py#L672</a:t>
            </a:r>
          </a:p>
          <a:p>
            <a:endParaRPr/>
          </a:p>
          <a:p>
            <a:r>
              <a:t>[S23] YoCo 尾部裁剪与配置约束</a:t>
            </a:r>
          </a:p>
          <a:p>
            <a:r>
              <a:t>https://github.com/deepseek-ai/DeepInfer/blob/9bd9cf243fc53ef9afbf8f04d391d989117d6ab9/deepinfer/model_executor/models/v4_modules/yoco.py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SWA 是每层的近期窗口注意力：prefill 和 decode 都使用，当前请求始终维护其滚动状态。</a:t>
            </a:r>
          </a:p>
          <a:p>
            <a:r>
              <a:t>Flash 1017：前 2 层纯 SWA；后 38 层将 SWA 与选中的 global 历史一起用于 Attention。</a:t>
            </a:r>
          </a:p>
          <a:p>
            <a:r>
              <a:t>注意力窗口为 128 个位置，含当前位置；默认回退配置额外保留 6 个位置，推理环形容量为 134。</a:t>
            </a:r>
          </a:p>
          <a:p>
            <a:r>
              <a:t>Prefill 用当前批次临时 KV 计算并保留尾部窗口；decode 写新位置、覆盖过旧位置。</a:t>
            </a:r>
          </a:p>
          <a:p>
            <a:r>
              <a:t>归属：模型局部注意力语义；DeepInfer 设备状态和环形缓存实现</a:t>
            </a:r>
          </a:p>
          <a:p>
            <a:r>
              <a:t>迁移：Ascend 应分别验收窗口语义、投机回退、分块 prefill 和缓存恢复；不能仅凭分配 SWA slot 判断实际启用。</a:t>
            </a:r>
          </a:p>
          <a:p>
            <a:endParaRPr/>
          </a:p>
          <a:p>
            <a:r>
              <a:t>128 是可读注意力窗口；134 是默认配置下状态容量，可随回退/存储配置改变。</a:t>
            </a:r>
          </a:p>
          <a:p>
            <a:r>
              <a:t>生产跨请求保存仅覆盖前20层且在内存中；后20层仍有当前请求设备缓存。跨请求策略与当前推理保留需分开解释。</a:t>
            </a:r>
          </a:p>
          <a:p>
            <a:r>
              <a:t>这一页只解释 SWA，不展开 CED。生产披露按128边界保存前20层窗口快照，并非每个历史窗口都保存。</a:t>
            </a:r>
          </a:p>
          <a:p>
            <a:endParaRPr/>
          </a:p>
          <a:p>
            <a:r>
              <a:t>[S02] DeepInfer 官方部署问答 开源边界 缓存与异步执行</a:t>
            </a:r>
          </a:p>
          <a:p>
            <a:r>
              <a:t>https://github.com/deepseek-ai/DeepInfer/blob/9bd9cf243fc53ef9afbf8f04d391d989117d6ab9/doc/inference_deployment_qa.md</a:t>
            </a:r>
          </a:p>
          <a:p>
            <a:endParaRPr/>
          </a:p>
          <a:p>
            <a:r>
              <a:t>[S24] 固定 1017 模型配置及层号</a:t>
            </a:r>
          </a:p>
          <a:p>
            <a:r>
              <a:t>https://huggingface.co/deepseek-ai/DeepSeek-V4.1-Flash-1017/blob/1bae0e1088993b9b82de08f59de5be5a34e42170/config.json</a:t>
            </a:r>
          </a:p>
          <a:p>
            <a:endParaRPr/>
          </a:p>
          <a:p>
            <a:r>
              <a:t>[S22] CED 保留完整历史 KV 同时裁剪主计算</a:t>
            </a:r>
          </a:p>
          <a:p>
            <a:r>
              <a:t>https://github.com/deepseek-ai/DeepInfer/blob/9bd9cf243fc53ef9afbf8f04d391d989117d6ab9/deepinfer/model_executor/models/v4_modules/attn.py#L672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DeepInfer 优化的是一条有条件的计算链，不能把整个 Attention 都算作一个融合 kernel。</a:t>
            </a:r>
          </a:p>
          <a:p>
            <a:r>
              <a:t>索引 Q 对索引 K 打分并选历史位置；主 Q 按这些位置读取 global KV，同时使用 SWA。</a:t>
            </a:r>
          </a:p>
          <a:p>
            <a:r>
              <a:t>合并同输入投影，组合 Norm/RoPE/格式转换/缓存写入，复用已算 KV 与索引结果。</a:t>
            </a:r>
          </a:p>
          <a:p>
            <a:r>
              <a:t>NVIDIA 特定路径有 FlashMLA 大融合入口；本地 A5 使用不同的分段和局部融合路径。</a:t>
            </a:r>
          </a:p>
          <a:p>
            <a:r>
              <a:t>归属：模型稀疏结构；DeepInfer 编排和本地算子；外部 FlashMLA/DeepSelect 等库</a:t>
            </a:r>
          </a:p>
          <a:p>
            <a:r>
              <a:t>迁移：GPU 库已有通用框架复用；A5 按投影、转换、索引、缓存访问及输出完整路径比较净收益。</a:t>
            </a:r>
          </a:p>
          <a:p>
            <a:endParaRPr/>
          </a:p>
          <a:p>
            <a:r>
              <a:t>索引 score 与 Top-K 在调用层分开；历史位置 Top-K 与 MoE 专家 Top-K 不同。</a:t>
            </a:r>
          </a:p>
          <a:p>
            <a:r>
              <a:t>主 Attention 的融合不自动包含 WV/O 输出 GEMM；GPU 实现不能直接归为 A5 已有。</a:t>
            </a:r>
          </a:p>
          <a:p>
            <a:endParaRPr/>
          </a:p>
          <a:p>
            <a:endParaRPr/>
          </a:p>
          <a:p>
            <a:r>
              <a:t>[S07] FlashMLA 官方算子库</a:t>
            </a:r>
          </a:p>
          <a:p>
            <a:r>
              <a:t>https://github.com/deepseek-ai/FlashMLA</a:t>
            </a:r>
          </a:p>
          <a:p>
            <a:endParaRPr/>
          </a:p>
          <a:p>
            <a:r>
              <a:t>[S21] 跨层 KV 与索引共享拓扑</a:t>
            </a:r>
          </a:p>
          <a:p>
            <a:r>
              <a:t>https://github.com/deepseek-ai/DeepInfer/blob/9bd9cf243fc53ef9afbf8f04d391d989117d6ab9/deepinfer/model_executor/models/v4_modules/cross_layer.py</a:t>
            </a:r>
          </a:p>
          <a:p>
            <a:endParaRPr/>
          </a:p>
          <a:p>
            <a:r>
              <a:t>[S22] CED 保留完整历史 KV 同时裁剪主计算</a:t>
            </a:r>
          </a:p>
          <a:p>
            <a:r>
              <a:t>https://github.com/deepseek-ai/DeepInfer/blob/9bd9cf243fc53ef9afbf8f04d391d989117d6ab9/deepinfer/model_executor/models/v4_modules/attn.py#L672</a:t>
            </a:r>
          </a:p>
          <a:p>
            <a:endParaRPr/>
          </a:p>
          <a:p>
            <a:r>
              <a:t>[S27] 稀疏索引打分与 Top-K 分开执行</a:t>
            </a:r>
          </a:p>
          <a:p>
            <a:r>
              <a:t>https://github.com/deepseek-ai/DeepInfer/blob/9bd9cf243fc53ef9afbf8f04d391d989117d6ab9/deepinfer/model_executor/models/v4_modules/index_attn.py</a:t>
            </a:r>
          </a:p>
          <a:p>
            <a:endParaRPr/>
          </a:p>
          <a:p>
            <a:r>
              <a:t>[S28] 逐行变换融合及可选参数</a:t>
            </a:r>
          </a:p>
          <a:p>
            <a:r>
              <a:t>https://github.com/deepseek-ai/DeepInfer/blob/9bd9cf243fc53ef9afbf8f04d391d989117d6ab9/deepinfer/model_executor/layers/tilelang_ops/fused_transform.py</a:t>
            </a:r>
          </a:p>
          <a:p>
            <a:endParaRPr/>
          </a:p>
          <a:p>
            <a:r>
              <a:t>[S30] 各平台外部库选择与构建入口</a:t>
            </a:r>
          </a:p>
          <a:p>
            <a:r>
              <a:t>https://github.com/deepseek-ai/DeepInfer/blob/9bd9cf243fc53ef9afbf8f04d391d989117d6ab9/scripts/build_vendor.sh</a:t>
            </a:r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mHC 的四路信息是模型设计；DeepInfer 的价值在混合、回写和格式准备的执行组织。</a:t>
            </a:r>
          </a:p>
          <a:p>
            <a:r>
              <a:t>每 token 的多路残差先聚合为子层输入，Attention 或 MoE 只按对应输入计算，再将结果回写多路残差。</a:t>
            </a:r>
          </a:p>
          <a:p>
            <a:r>
              <a:t>DeepInfer 用 shifted/延迟 Post，将相邻子层 Post–Pre 边界作为融合与减少搬运的位置。</a:t>
            </a:r>
          </a:p>
          <a:p>
            <a:r>
              <a:t>NVIDIA 条件满足时使用外部 mega_mhc；A5 本地版本保留多步处理，并有 Norm+FP8 等局部融合。</a:t>
            </a:r>
          </a:p>
          <a:p>
            <a:r>
              <a:t>归属：模型 mHC 语义；DeepInfer 延迟执行；外部 DeepGEMM mega_mhc 与仓内局部算子</a:t>
            </a:r>
          </a:p>
          <a:p>
            <a:r>
              <a:t>迁移：Ascend 对照完整相邻边界和中间数据搬运，保留已更优路径；不必复制整个执行器。</a:t>
            </a:r>
          </a:p>
          <a:p>
            <a:endParaRPr/>
          </a:p>
          <a:p>
            <a:r>
              <a:t>四路残差不是四个 attention heads、四套历史 KV，也不是 Attention 算四遍。</a:t>
            </a:r>
          </a:p>
          <a:p>
            <a:r>
              <a:t>普通残差已经传递前层信息；mHC 扩展的是多路混合方式。框图是语义顺序，非独立kernel计数。</a:t>
            </a:r>
          </a:p>
          <a:p>
            <a:endParaRPr/>
          </a:p>
          <a:p>
            <a:endParaRPr/>
          </a:p>
          <a:p>
            <a:r>
              <a:t>[S24] 固定 1017 模型配置及层号</a:t>
            </a:r>
          </a:p>
          <a:p>
            <a:r>
              <a:t>https://huggingface.co/deepseek-ai/DeepSeek-V4.1-Flash-1017/blob/1bae0e1088993b9b82de08f59de5be5a34e42170/config.json</a:t>
            </a:r>
          </a:p>
          <a:p>
            <a:endParaRPr/>
          </a:p>
          <a:p>
            <a:r>
              <a:t>[S25] 单层主干执行与 Engram 插入位置</a:t>
            </a:r>
          </a:p>
          <a:p>
            <a:r>
              <a:t>https://github.com/deepseek-ai/DeepInfer/blob/9bd9cf243fc53ef9afbf8f04d391d989117d6ab9/deepinfer/model_executor/models/decoder_layer.py</a:t>
            </a:r>
          </a:p>
          <a:p>
            <a:endParaRPr/>
          </a:p>
          <a:p>
            <a:r>
              <a:t>[S26] mHC 延迟执行和 NVIDIA 融合条件</a:t>
            </a:r>
          </a:p>
          <a:p>
            <a:r>
              <a:t>https://github.com/deepseek-ai/DeepInfer/blob/9bd9cf243fc53ef9afbf8f04d391d989117d6ab9/deepinfer/model_executor/models/v4_modules/hc.py</a:t>
            </a:r>
          </a:p>
          <a:p>
            <a:endParaRPr/>
          </a:p>
          <a:p>
            <a:r>
              <a:t>[S29] A5 RMSNorm 与量化设备实现</a:t>
            </a:r>
          </a:p>
          <a:p>
            <a:r>
              <a:t>https://github.com/deepseek-ai/DeepInfer/blob/9bd9cf243fc53ef9afbf8f04d391d989117d6ab9/deepinfer/model_executor/layers/tilelang_ops/asc/norm.py</a:t>
            </a:r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DeepInfer 接入外部 MegaMoE 路径，主要优化分发、专家计算与合并的完整执行链。</a:t>
            </a:r>
          </a:p>
          <a:p>
            <a:r>
              <a:t>先由 router 选择逻辑专家，再由映射送到物理专家，执行分发→两次 GEMM 与激活→合并。</a:t>
            </a:r>
          </a:p>
          <a:p>
            <a:r>
              <a:t>共享专家可纳入相应路径；前序量化可直接写目标缓冲区，减少额外中间复制。</a:t>
            </a:r>
          </a:p>
          <a:p>
            <a:r>
              <a:t>A5 高速入口要求 FP8 激活、FP4 权重和兼容通信域；NVIDIA 的 MegaGate 路由入口不等于 A5。</a:t>
            </a:r>
          </a:p>
          <a:p>
            <a:r>
              <a:t>归属：模型专家结构；外部融合与通信库；DeepInfer 布局、缓冲区、EPLB 接入</a:t>
            </a:r>
          </a:p>
          <a:p>
            <a:r>
              <a:t>迁移：迁移单元宜为完整 MoE block 加布局、缓冲区和专家映射接口；对比 vLLM-Ascend 已有融合路径。</a:t>
            </a:r>
          </a:p>
          <a:p>
            <a:endParaRPr/>
          </a:p>
          <a:p>
            <a:r>
              <a:t>库级融合不等于该区间只有一个硬件kernel；主仓库证明调用边界，内部launch数需trace。</a:t>
            </a:r>
          </a:p>
          <a:p>
            <a:r>
              <a:t>主模型与草稿工作量、专家数和分支不同；局部MoE更快不等于整步同比提升。</a:t>
            </a:r>
          </a:p>
          <a:p>
            <a:endParaRPr/>
          </a:p>
          <a:p>
            <a:endParaRPr/>
          </a:p>
          <a:p>
            <a:r>
              <a:t>[S08] DeepInfer MoE 实现与融合调用</a:t>
            </a:r>
          </a:p>
          <a:p>
            <a:r>
              <a:t>https://github.com/deepseek-ai/DeepInfer/blob/9bd9cf243fc53ef9afbf8f04d391d989117d6ab9/deepinfer/model_executor/models/v4_modules/mlp.py</a:t>
            </a:r>
          </a:p>
          <a:p>
            <a:endParaRPr/>
          </a:p>
          <a:p>
            <a:r>
              <a:t>[S30] 各平台外部库选择与构建入口</a:t>
            </a:r>
          </a:p>
          <a:p>
            <a:r>
              <a:t>https://github.com/deepseek-ai/DeepInfer/blob/9bd9cf243fc53ef9afbf8f04d391d989117d6ab9/scripts/build_vendor.sh</a:t>
            </a:r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  <a:p>
            <a:endParaRPr/>
          </a:p>
          <a:p>
            <a:r>
              <a:t>[S54] vLLM Ascend 融合 MoE 等附加配置</a:t>
            </a:r>
          </a:p>
          <a:p>
            <a:r>
              <a:t>https://docs.vllm.ai/projects/ascend/en/main/user_guide/configuration/additional_config.html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模型提供草稿和置信度，DeepInfer 再决定验证预算并维护接受、回退和下一轮状态。</a:t>
            </a:r>
          </a:p>
          <a:p>
            <a:r>
              <a:t>草稿从主模型指定层特征生成候选；主模型验证后只提交有效接受的结果。</a:t>
            </a:r>
          </a:p>
          <a:p>
            <a:r>
              <a:t>C++ 成本模型选择总验证预算，设备侧按置信度分配不同请求的验证长度。</a:t>
            </a:r>
          </a:p>
          <a:p>
            <a:r>
              <a:t>预算改变设备工作量，并与图档位、异步元数据及回退状态共同影响每轮成本。</a:t>
            </a:r>
          </a:p>
          <a:p>
            <a:r>
              <a:t>归属：DSpark 草稿/置信度属于模型；DeepInfer 提供变长预算与执行状态链</a:t>
            </a:r>
          </a:p>
          <a:p>
            <a:r>
              <a:t>迁移：Ascend 对比已有 DSpark 路径，优先测实际接受量、验证耗时、回退和图档位；公共调度变化与上游协作。</a:t>
            </a:r>
          </a:p>
          <a:p>
            <a:endParaRPr/>
          </a:p>
          <a:p>
            <a:r>
              <a:t>不能把固定接受率换算图当作真实请求的接受率或变长策略收益。</a:t>
            </a:r>
          </a:p>
          <a:p>
            <a:r>
              <a:t>公开约4–7%是特定工作点变长验证相对fixed-5的增量口径，不是整体DSpark、C++或A5通用收益；主汇报可不放此数字。</a:t>
            </a:r>
          </a:p>
          <a:p>
            <a:r>
              <a:t>关闭图执行可能连带使现版本成本模型退回固定草稿，做消融前须核对策略是否保持。</a:t>
            </a:r>
          </a:p>
          <a:p>
            <a:endParaRPr/>
          </a:p>
          <a:p>
            <a:r>
              <a:t>[S02] DeepInfer 官方部署问答 开源边界 缓存与异步执行</a:t>
            </a:r>
          </a:p>
          <a:p>
            <a:r>
              <a:t>https://github.com/deepseek-ai/DeepInfer/blob/9bd9cf243fc53ef9afbf8f04d391d989117d6ab9/doc/inference_deployment_qa.md</a:t>
            </a:r>
          </a:p>
          <a:p>
            <a:endParaRPr/>
          </a:p>
          <a:p>
            <a:r>
              <a:t>[S12] DeepInfer C++ 引擎目录</a:t>
            </a:r>
          </a:p>
          <a:p>
            <a:r>
              <a:t>https://github.com/deepseek-ai/DeepInfer/tree/9bd9cf243fc53ef9afbf8f04d391d989117d6ab9/csrc/engine</a:t>
            </a:r>
          </a:p>
          <a:p>
            <a:endParaRPr/>
          </a:p>
          <a:p>
            <a:r>
              <a:t>[S31] 异步执行与结果处理时序</a:t>
            </a:r>
          </a:p>
          <a:p>
            <a:r>
              <a:t>https://github.com/deepseek-ai/DeepInfer/blob/9bd9cf243fc53ef9afbf8f04d391d989117d6ab9/deepinfer/worker/worker.py</a:t>
            </a:r>
          </a:p>
          <a:p>
            <a:endParaRPr/>
          </a:p>
          <a:p>
            <a:r>
              <a:t>[S53] vLLM Ascend 投机解码与 DSpark 适配指南</a:t>
            </a:r>
          </a:p>
          <a:p>
            <a:r>
              <a:t>https://docs.vllm.ai/projects/ascend/en/main/user_guide/feature_guide/speculative_decoding.html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DeepInfer 开源了专家负载统计、布局决策和权重搬运，目标是减少最忙卡造成的等待。</a:t>
            </a:r>
          </a:p>
          <a:p>
            <a:r>
              <a:t>逻辑专家选择不变，热点专家可复制到冗余物理槽位，并分担对应 token。</a:t>
            </a:r>
          </a:p>
          <a:p>
            <a:r>
              <a:t>根据跨步负载窗口重排位置，再搬运权重并更新映射；这不是只有空接口。</a:t>
            </a:r>
          </a:p>
          <a:p>
            <a:r>
              <a:t>收益需扣除统计、通信、迁移和额外权重内存成本，并分别考虑主模型与草稿。</a:t>
            </a:r>
          </a:p>
          <a:p>
            <a:r>
              <a:t>归属：通用专家负载均衡机制；DeepInfer 开源策略和执行；GPU/A5搬运路径不同</a:t>
            </a:r>
          </a:p>
          <a:p>
            <a:r>
              <a:t>迁移：vLLM-Ascend 已有 EPLB，比较实际算法、低精度支持及整步净收益，不承诺全套替换。</a:t>
            </a:r>
          </a:p>
          <a:p>
            <a:endParaRPr/>
          </a:p>
          <a:p>
            <a:r>
              <a:t>EPLB 平衡实例内专家；跨服务实例的请求路由是另一套生产控制面。</a:t>
            </a:r>
          </a:p>
          <a:p>
            <a:r>
              <a:t>强制均衡基准不能验证真实 EPLB 效果；GPU NVLink/symm_mem 快路径不可直接迁到 A5。</a:t>
            </a:r>
          </a:p>
          <a:p>
            <a:r>
              <a:t>实际策略考虑跨step负载互补，不是简单按请求数平均分卡。</a:t>
            </a:r>
          </a:p>
          <a:p>
            <a:endParaRPr/>
          </a:p>
          <a:p>
            <a:r>
              <a:t>[S09] DeepInfer EPLB 策略与执行</a:t>
            </a:r>
          </a:p>
          <a:p>
            <a:r>
              <a:t>https://github.com/deepseek-ai/DeepInfer/tree/9bd9cf243fc53ef9afbf8f04d391d989117d6ab9/deepinfer/model_executor/eplb</a:t>
            </a:r>
          </a:p>
          <a:p>
            <a:endParaRPr/>
          </a:p>
          <a:p>
            <a:r>
              <a:t>[S44] vLLM PR 61395 主模型与草稿异构专家 EPLB</a:t>
            </a:r>
          </a:p>
          <a:p>
            <a:r>
              <a:t>https://github.com/vllm-project/vllm/pull/61395</a:t>
            </a:r>
          </a:p>
          <a:p>
            <a:endParaRPr/>
          </a:p>
          <a:p>
            <a:r>
              <a:t>[S45] vLLM PR 62009 MegaMoE EPLB 与实验构建说明</a:t>
            </a:r>
          </a:p>
          <a:p>
            <a:r>
              <a:t>https://github.com/vllm-project/vllm/pull/62009</a:t>
            </a:r>
          </a:p>
          <a:p>
            <a:endParaRPr/>
          </a:p>
          <a:p>
            <a:r>
              <a:t>[S52] vLLM Ascend EPLB 机制及 runner 量化硬件限制</a:t>
            </a:r>
          </a:p>
          <a:p>
            <a:r>
              <a:t>https://docs.vllm.ai/projects/ascend/en/main/user_guide/feature_guide/expert_parallelism_load_balancer.html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DeepInfer 重视主机关键路径，但采用 C++ 不足以证明我们的 Python 调度就是瓶颈。</a:t>
            </a:r>
          </a:p>
          <a:p>
            <a:r>
              <a:t>C++ 覆盖调度、序列状态及部分输入/采样元数据；Python 编排和设备侧计算仍存在。</a:t>
            </a:r>
          </a:p>
          <a:p>
            <a:r>
              <a:t>异步让设备当前轮与主机处理前轮、准备后轮重叠；设备仍需正确处理接受长度和输入修正。</a:t>
            </a:r>
          </a:p>
          <a:p>
            <a:r>
              <a:t>图执行减少重复下发；本地审查的主模型图路径用于非 Prefill，覆盖和实例化方式随平台不同。</a:t>
            </a:r>
          </a:p>
          <a:p>
            <a:r>
              <a:t>归属：DeepInfer 原生热路径和异步实现；调度重叠借鉴已有框架；通用图执行思想</a:t>
            </a:r>
          </a:p>
          <a:p>
            <a:r>
              <a:t>迁移：先用A5时间线定位未隐藏的准备、同步和搬运，再做局部原生化/重叠优化；公共调度架构通过上游协作。</a:t>
            </a:r>
          </a:p>
          <a:p>
            <a:endParaRPr/>
          </a:p>
          <a:p>
            <a:r>
              <a:t>zero-overhead 不代表 CPU 零工作、同步消失或全负载零气泡。</a:t>
            </a:r>
          </a:p>
          <a:p>
            <a:r>
              <a:t>现有公开材料没有仅把同算法 Python 改 C++ 的独立端到端收益；异步开关不是语言对照实验。</a:t>
            </a:r>
          </a:p>
          <a:p>
            <a:r>
              <a:t>同步时近似Tcpu+Tdevice；理想重叠时近似max(Tcpu,Tdevice)，还要加无法隐藏的依赖。不要把语言速度倍数换成模型吞吐倍数。</a:t>
            </a:r>
          </a:p>
          <a:p>
            <a:endParaRPr/>
          </a:p>
          <a:p>
            <a:r>
              <a:t>[S02] DeepInfer 官方部署问答 开源边界 缓存与异步执行</a:t>
            </a:r>
          </a:p>
          <a:p>
            <a:r>
              <a:t>https://github.com/deepseek-ai/DeepInfer/blob/9bd9cf243fc53ef9afbf8f04d391d989117d6ab9/doc/inference_deployment_qa.md</a:t>
            </a:r>
          </a:p>
          <a:p>
            <a:endParaRPr/>
          </a:p>
          <a:p>
            <a:r>
              <a:t>[S11] vLLM V1 官方架构说明 2025 年</a:t>
            </a:r>
          </a:p>
          <a:p>
            <a:r>
              <a:t>https://vllm.ai/blog/2025-01-27-v1-alpha-release</a:t>
            </a:r>
          </a:p>
          <a:p>
            <a:endParaRPr/>
          </a:p>
          <a:p>
            <a:r>
              <a:t>[S12] DeepInfer C++ 引擎目录</a:t>
            </a:r>
          </a:p>
          <a:p>
            <a:r>
              <a:t>https://github.com/deepseek-ai/DeepInfer/tree/9bd9cf243fc53ef9afbf8f04d391d989117d6ab9/csrc/engine</a:t>
            </a:r>
          </a:p>
          <a:p>
            <a:endParaRPr/>
          </a:p>
          <a:p>
            <a:r>
              <a:t>[S13] vLLM 2024 年 CPU 开销优化案例</a:t>
            </a:r>
          </a:p>
          <a:p>
            <a:r>
              <a:t>https://vllm.ai/blog/2024-09-05-perf-update</a:t>
            </a:r>
          </a:p>
          <a:p>
            <a:endParaRPr/>
          </a:p>
          <a:p>
            <a:r>
              <a:t>[S31] 异步执行与结果处理时序</a:t>
            </a:r>
          </a:p>
          <a:p>
            <a:r>
              <a:t>https://github.com/deepseek-ai/DeepInfer/blob/9bd9cf243fc53ef9afbf8f04d391d989117d6ab9/deepinfer/worker/worker.py</a:t>
            </a:r>
          </a:p>
          <a:p>
            <a:endParaRPr/>
          </a:p>
          <a:p>
            <a:r>
              <a:t>[S51] DeepInfer 主模型 graph 选择与非 Prefill 条件</a:t>
            </a:r>
          </a:p>
          <a:p>
            <a:r>
              <a:t>https://github.com/deepseek-ai/DeepInfer/blob/9bd9cf243fc53ef9afbf8f04d391d989117d6ab9/deepinfer/worker/model_runner.py#L182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Python 何时会拖慢推理？看设备是否在等主机</a:t>
            </a:r>
          </a:p>
          <a:p>
            <a:endParaRPr/>
          </a:p>
          <a:p>
            <a:r>
              <a:t>[S12] DeepInfer C++ 引擎目录</a:t>
            </a:r>
          </a:p>
          <a:p>
            <a:r>
              <a:t>https://github.com/deepseek-ai/DeepInfer/tree/9bd9cf243fc53ef9afbf8f04d391d989117d6ab9/csrc/engine</a:t>
            </a:r>
          </a:p>
          <a:p>
            <a:endParaRPr/>
          </a:p>
          <a:p>
            <a:r>
              <a:t>[S13] vLLM 2024 年 CPU 开销优化案例</a:t>
            </a:r>
          </a:p>
          <a:p>
            <a:r>
              <a:t>https://vllm.ai/blog/2024-09-05-perf-update</a:t>
            </a:r>
          </a:p>
          <a:p>
            <a:endParaRPr/>
          </a:p>
          <a:p>
            <a:r>
              <a:t>[S16] vLLM Rust 前端范围与 Python 引擎连接</a:t>
            </a:r>
          </a:p>
          <a:p>
            <a:r>
              <a:t>https://github.com/vllm-project/vllm/blob/f4edf9f0f078ae67392510aafd1871288948a3c3/rust/README.md</a:t>
            </a:r>
          </a:p>
          <a:p>
            <a:endParaRPr/>
          </a:p>
          <a:p>
            <a:r>
              <a:t>[S17] vLLM 默认核心调度器选择</a:t>
            </a:r>
          </a:p>
          <a:p>
            <a:r>
              <a:t>https://github.com/vllm-project/vllm/blob/f4edf9f0f078ae67392510aafd1871288948a3c3/vllm/config/scheduler.py#L231</a:t>
            </a:r>
          </a:p>
          <a:p>
            <a:endParaRPr/>
          </a:p>
          <a:p>
            <a:r>
              <a:t>[S20] vLLM Rust 前端提案及特定 CPU 压力测试</a:t>
            </a:r>
          </a:p>
          <a:p>
            <a:r>
              <a:t>https://github.com/vllm-project/vllm/issues/40846</a:t>
            </a:r>
          </a:p>
          <a:p>
            <a:endParaRPr/>
          </a:p>
          <a:p>
            <a:r>
              <a:t>[S43] vLLM PR 61767 CPU 元数据同步算法与微基准</a:t>
            </a:r>
          </a:p>
          <a:p>
            <a:r>
              <a:t>https://github.com/vllm-project/vllm/pull/61767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96% 命中与跨天保留，来自 DeepSeek 的完整生产系统</a:t>
            </a:r>
          </a:p>
          <a:p>
            <a:endParaRPr/>
          </a:p>
          <a:p>
            <a:r>
              <a:t>[S02] DeepInfer 官方部署问答 开源边界 缓存与异步执行</a:t>
            </a:r>
          </a:p>
          <a:p>
            <a:r>
              <a:t>https://github.com/deepseek-ai/DeepInfer/blob/9bd9cf243fc53ef9afbf8f04d391d989117d6ab9/doc/inference_deployment_qa.md</a:t>
            </a:r>
          </a:p>
          <a:p>
            <a:endParaRPr/>
          </a:p>
          <a:p>
            <a:r>
              <a:t>[S32] DeepSeek 官方文章 V4.1 Flash 大规模推理部署实践</a:t>
            </a:r>
          </a:p>
          <a:p>
            <a:r>
              <a:t>https://zhuanlan.zhihu.com/p/2095560295930508953</a:t>
            </a:r>
          </a:p>
          <a:p>
            <a:endParaRPr/>
          </a:p>
          <a:p>
            <a:r>
              <a:t>[S33] Ascend KV Pool 后端 硬件与布局限制</a:t>
            </a:r>
          </a:p>
          <a:p>
            <a:r>
              <a:t>https://github.com/vllm-project/vllm-ascend/blob/4e6eac4e476d9be3476e99440f4cabed67b253ea/docs/source/user_guide/feature_guide/kv_cache_pool_ascend_store.md</a:t>
            </a:r>
          </a:p>
          <a:p>
            <a:endParaRPr/>
          </a:p>
          <a:p>
            <a:r>
              <a:t>[S38] Ascend 原生 CPU 与文件系统分层缓存</a:t>
            </a:r>
          </a:p>
          <a:p>
            <a:r>
              <a:t>https://github.com/vllm-project/vllm-ascend/blob/4e6eac4e476d9be3476e99440f4cabed67b253ea/docs/source/user_guide/feature_guide/kv_cache_cpu_offload.md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vLLM Decode：公开曲线接近，硬件与规模未完全对齐</a:t>
            </a:r>
          </a:p>
          <a:p>
            <a:r>
              <a:t>vLLM 为 GB200 DEP32、384+32 专家；DeepInfer 参考为 EP64DP64、384+64 专家。上下文约 131K、草稿 3 token，按每步接受 3.25 token 归一化。DeepInfer 公布为 64 张 SM100，未标明具体 SKU。[S39、S48]</a:t>
            </a:r>
          </a:p>
          <a:p>
            <a:r>
              <a:t>这些点的吞吐差异为 −5.97% 至 +4.46%，支持性能接近；它们是发布曲线对照，不能表述为同机、同配置的独立复测。</a:t>
            </a:r>
          </a:p>
          <a:p>
            <a:endParaRPr/>
          </a:p>
          <a:p>
            <a:endParaRPr/>
          </a:p>
          <a:p>
            <a:r>
              <a:t>来源 S48。每卡吞吐=每卡请求数×每用户速度；两项不是独立测量证据。百分比以 DI 为分母。vLLM 使用真实路由及 EPLB；DeepInfer 公开复现脚本强制均衡。双方并行规模、冗余专家和硬件信息不完全对齐。[S50]</a:t>
            </a:r>
          </a:p>
          <a:p>
            <a:r>
              <a:t>作者以 DeepInfer 的公开曲线作为参照，并展示 vLLM 的在线扩展能力。Prefill 原文明确承认条件不同，不据此计算框架加速比。对硬件应表述为“未充分对齐”：vLLM 指明 GB200 或 GB300，DI 参考仅说明 SM100，无法确认具体型号相同。把这一结果称为严格同硬件胜负对比，证据不足。[S39、S48–S50]</a:t>
            </a:r>
          </a:p>
          <a:p>
            <a:r>
              <a:t>Decode 的 32 卡与 64 卡即使都折算成每卡吞吐，专家驻留量、通信和总并发仍不同。相同每卡请求数下，64 卡的总请求数约为 32 卡的两倍，因此不能解读成“vLLM 用一半卡提供相同总容量”。其价值在于展示一条可实现的优化路线；是否具有相同成本，要另行测量。</a:t>
            </a:r>
          </a:p>
          <a:p>
            <a:r>
              <a:t>官方博客/图源 commit 是 215c503827bca884e606bc4ae545ed91f398902d，不是引擎实验构建 SHA。不能写成标准 main 已全部可复现。</a:t>
            </a:r>
          </a:p>
          <a:p>
            <a:r>
              <a:t>先明确这是一组公开曲线对照，而非作者在同一套机器上重跑双方。vLLM 用 32 张 GB200，DI 公开说明为 64 张 SM100，具体 SKU 未注明；专家冗余为 32 对 64，均按固定 3.25 接受 token/步归一化。每卡吞吐差异为 −5.97% 至 +4.46%，说明优化路线能达到接近的性能区间。每用户速度与每卡吞吐存在乘法关系，不是两份独立证据。相同每卡请求数下，两者总并发不同；不能说 vLLM 用一半卡提供相同总容量，也不能据此判定 TCO 相同。</a:t>
            </a:r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[S48] vLLM Decode 官方交互图源及逐点数组</a:t>
            </a:r>
          </a:p>
          <a:p>
            <a:r>
              <a:t>https://github.com/vllm-project/vllm-project.github.io/blob/215c503827bca884e606bc4ae545ed91f398902d/assets/interactive_pages/dsv41-pd-decode-vs-deepinfer.html#L1471-L1494</a:t>
            </a:r>
          </a:p>
          <a:p>
            <a:endParaRPr/>
          </a:p>
          <a:p>
            <a:r>
              <a:t>[S50] DeepInfer 官方基准脚本 输入与强制负载均衡</a:t>
            </a:r>
          </a:p>
          <a:p>
            <a:r>
              <a:t>https://github.com/deepseek-ai/DeepInfer/blob/553741557a57df44a46fb3ab72b6aafeaf945337/examples/benchmark.py#L151-L165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vLLM Prefill：达到相近量级，不据此计算纯框架加速比</a:t>
            </a:r>
          </a:p>
          <a:p>
            <a:r>
              <a:t>vLLM 为 GB300 DEP2、无冗余专家、128 token 重放，并在 128K 缓存前缀后处理新增输入。DI 参考为 EP4DP4、32 个冗余专家、140 token 重放；其图标为 128K 总上下文，具体 SKU 未注明。[S39、S49]</a:t>
            </a:r>
          </a:p>
          <a:p>
            <a:r>
              <a:t>vLLM 已达到相近量级；曲线间距不能作为纯框架加速比。硬件信息、并行、冗余专家、重放长度和输入结构均有差别，本表不据此计算引擎提升百分比。</a:t>
            </a:r>
          </a:p>
          <a:p>
            <a:endParaRPr/>
          </a:p>
          <a:p>
            <a:endParaRPr/>
          </a:p>
          <a:p>
            <a:r>
              <a:t>来源 S49。K=1024；吞吐由新增 token 数÷步时折算。vLLM 为 100 次 forward replay 的中位数、取最慢 rank，再对两次运行求均值。DI 数值取自 vLLM 图源中的参考数组，并非 DI 原始日志。</a:t>
            </a:r>
          </a:p>
          <a:p>
            <a:r>
              <a:t>读图结论：vLLM 已达到相近量级；曲线间距不能作为纯框架加速比。硬件信息、并行、冗余专家、重放长度和输入结构均有差别，本表不据此计算引擎提升百分比。</a:t>
            </a:r>
          </a:p>
          <a:p>
            <a:r>
              <a:t>DI 的缓存前缀长度未确认，不能把 vLLM 的 128K cached + N new 套用到 DI；DI 图标为 128K 总上下文。</a:t>
            </a:r>
          </a:p>
          <a:p>
            <a:r>
              <a:t>DI 数组是 vLLM 作者采用的图读数，不能标为 DI 原始实测日志。</a:t>
            </a:r>
          </a:p>
          <a:p>
            <a:r>
              <a:t>这页保留原步时与新增输入吞吐，但不展示框架加速百分比。vLLM 用 GB300 DEP2、无冗余专家、128 token 重放，处理 128K 缓存前缀后的新增输入；DI 参考用 EP4DP4、32 个冗余专家、140 token 重放，且其图标为 128K 总上下文，具体 SKU 未注明。vLLM 的计时是 100 次 forward replay 中位数、最慢 rank、两次运行均值；DI 数字来自公开图读数。其价值是技术可达性参照，不能承担严格同条件胜负或成本结论。</a:t>
            </a:r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[S49] vLLM Prefill 官方图源 数组与换算方法</a:t>
            </a:r>
          </a:p>
          <a:p>
            <a:r>
              <a:t>https://github.com/vllm-project/vllm-project.github.io/blob/215c503827bca884e606bc4ae545ed91f398902d/assets/interactive_pages/dsv41-pd-prefill-vs-deepinfer.html#L543-L551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SGLang Prefill：同硬件重跑，双方各批量表现接近</a:t>
            </a:r>
          </a:p>
          <a:p>
            <a:r>
              <a:t>同一节点分别运行两套引擎，GB300 与 B300 各 4 卡、DP4/EP4；128K 上下文，每个请求含 4K 新 token。强制均衡、EPLB 关闭，32 个冗余专家；DI 每点取已测试配置中最快者。[S40–S41]</a:t>
            </a:r>
          </a:p>
          <a:p>
            <a:r>
              <a:t>两平台最大吞吐比均约 1.039×，其余点也接近。8K GB300 和 16K B300 点 SGLang 略慢，不能把“最高约快 4%”读成所有批量都快 4%。</a:t>
            </a:r>
          </a:p>
          <a:p>
            <a:endParaRPr/>
          </a:p>
          <a:p>
            <a:endParaRPr/>
          </a:p>
          <a:p>
            <a:r>
              <a:t>来源 S41 的 Measured 表。SG=SGLang；吞吐比=DI 步时÷SG 步时，&gt;1 表示 SG 吞吐较高。DI 的 host/GPU Engram 与调优配置按每点择优；其约 9 批 GPU 0 计时与 SG 多 GPU 稳定窗口统计不同。</a:t>
            </a:r>
          </a:p>
          <a:p>
            <a:r>
              <a:t>版本：SG Prefill 7d996300b9，DI 774ce24。此处仅用双方重跑的实测表，不混入官方原图中来自旧曲线读数的 Published 虚线。</a:t>
            </a:r>
          </a:p>
          <a:p>
            <a:r>
              <a:t>强制专家均衡、EPLB 关闭；固定批次测试不能验证线上真实路由、长期缓存或完整服务成本。</a:t>
            </a:r>
          </a:p>
          <a:p>
            <a:r>
              <a:t>DI 每点选择已测试配置中最快者，并不等于已证明所有可能配置的全局最优。</a:t>
            </a:r>
          </a:p>
          <a:p>
            <a:r>
              <a:t>每个请求含 4K 新 token；横轴 4K–64K 是每 GPU 每步聚合新增 token，不能写成单请求输入长度从 4K 变到 64K。</a:t>
            </a:r>
          </a:p>
          <a:p>
            <a:r>
              <a:t>这组比公开曲线对照更直接：两引擎在同一 GB300 或 B300 节点分别重跑，均为 4 卡 DP4/EP4，模型权重相同；两平台各自比较，不能跨硬件拼成一个排名。每个请求 4K 新 token，横轴是每 GPU 每步聚合量。DI 每点取已测试配置中的最快者。两平台最大 SG 吞吐比均约 1.039×，但 GB300 的 8K 和 B300 的 16K 点 SG 略慢，不能概括为处处快 4%。计时窗口和 Engram/调优组合仍有差异，强制均衡也排除了真实 EPLB 的效果。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  <a:p>
            <a:endParaRPr/>
          </a:p>
          <a:p>
            <a:r>
              <a:t>[S41] SGLang 配套 benchmark 脚本 配置与固定版本</a:t>
            </a:r>
          </a:p>
          <a:p>
            <a:r>
              <a:t>https://gist.github.com/sglang-bot/f03d7d0dd268b0386177eb2ef09f8b3b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SGLang Decode：同硬件步时接近，最高点折算吞吐约高 8%</a:t>
            </a:r>
          </a:p>
          <a:p>
            <a:r>
              <a:t>双方均在 64 张 GB300 上采用 DP64/EP64，128K 上下文与共享缓存前缀；固定并发、静态验证 3 个草稿 token、强制专家均衡。右图统一按 3.25 接受 token/步换算吞吐。[S40–S41]</a:t>
            </a:r>
          </a:p>
          <a:p>
            <a:r>
              <a:t>每卡 8 请求时 SG 步时略长，16–256 请求时短 1.1%–7.4%；最后一点对应约 8.0% 的折算吞吐提升。固定批次对比不验证实际 EPLB、真实投机质量或完整在线服务。</a:t>
            </a:r>
          </a:p>
          <a:p>
            <a:endParaRPr/>
          </a:p>
          <a:p>
            <a:endParaRPr/>
          </a:p>
          <a:p>
            <a:r>
              <a:t>来源 S41。SG 步时变化=(SG÷DI−1)×100%，负值表示 SG 较短；同接受量下吞吐比=DI 步时÷SG 步时。SG Engram 在 GPU，DI 在主机；草稿冗余专家数也不同。</a:t>
            </a:r>
          </a:p>
          <a:p>
            <a:r>
              <a:t>版本：SG Decode 3b95120f00，DI 774ce24。双方由 SGLang 团队重跑；虽使用服务接口发请求，测量仍针对稳定批次的引擎步时。</a:t>
            </a:r>
          </a:p>
          <a:p>
            <a:r>
              <a:t>固定批次与强制均衡适合比较执行步时，不能验证线上 EPLB 和缓存容量影响。Engram 放在设备会占用 HBM，放在主机有读取成本，最优选择可能随业务变化。SG 模拟每步接受 3.25 token，DI 使用实际接受结果，图轴统一按 3.25 折算；完整静态验证使步时可比，但未证明真实接受率相同。[S41]</a:t>
            </a:r>
          </a:p>
          <a:p>
            <a:r>
              <a:t>固定 3.25 接受量只是统一折算假设，不能将右图标成自然接受率下独立测得的生产吞吐。</a:t>
            </a:r>
          </a:p>
          <a:p>
            <a:r>
              <a:t>31.19 ms → 28.88 ms 是步时约少 7.4%、同输出假设下吞吐约高 8.0%；不是整套服务成本下降 7.4%。</a:t>
            </a:r>
          </a:p>
          <a:p>
            <a:r>
              <a:t>双方同为 64 张 GB300、DP64/EP64、128K 上下文及共享前缀，固定并发、静态验证 3 个草稿 token、强制专家均衡。8 请求/GPU 点 SG 步时略长，16–256 请求点短 1.1%–7.4%；最后一点 31.19 降至 28.88 毫秒，统一接受量下折算吞吐高约 8.0%。SG 模拟接受量，DI 使用实际接受；图轴统一按 3.25 计算，不证明真实投机质量相同。SG Engram 在 GPU，DI 在主机，草稿冗余副本数也不同。该结果是稳定批次执行证据，不能代替完整服务或 TCO。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  <a:p>
            <a:endParaRPr/>
          </a:p>
          <a:p>
            <a:r>
              <a:t>[S41] SGLang 配套 benchmark 脚本 配置与固定版本</a:t>
            </a:r>
          </a:p>
          <a:p>
            <a:r>
              <a:t>https://gist.github.com/sglang-bot/f03d7d0dd268b0386177eb2ef09f8b3b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内部 A5：优势随并发反转，尚无悬殊差距</a:t>
            </a:r>
          </a:p>
          <a:p>
            <a:r>
              <a:t>内部图表称为端到端对比，其实际边界为 D 节点满载：输入 128K、输出 1K、DP32/EP32；vLLM-Ascend 使用 P/D，DI 使用纯模型模式。双方强制均衡，投机步数 5，图中标注每步接受 5.1 token。[S03]</a:t>
            </a:r>
          </a:p>
          <a:p>
            <a:r>
              <a:t>以 vLLM-A 为分母，DI 吞吐差异为 −9.62% 至 +7.58%。反向计算，384 并发时 vLLM-A 高约 10.64%；因此“10%以内”必须说明分母。两者在本组工作点接近，优势随并发变化。</a:t>
            </a:r>
          </a:p>
          <a:p>
            <a:endParaRPr/>
          </a:p>
          <a:p>
            <a:endParaRPr/>
          </a:p>
          <a:p>
            <a:r>
              <a:t>来源 S03 图 1，原值转录；vLLM-A=vLLM-Ascend。TPOT 与吞吐近似满足同一 32 卡换算关系，不是两份独立证据。τ5.1 与“实测”的具体计量方式仍需结合原日志确认。</a:t>
            </a:r>
          </a:p>
          <a:p>
            <a:r>
              <a:t>同 A5、同 DP32/EP32 下的 D 节点结果，比 GPU 数据更能回答当前是否存在悬殊差距。但 vLLM-Ascend 为 P/D，DI 为纯模型模式，且列名分别是“实测”和“τ5.1”；需要对齐计时边界和实际接受量，才能更准确归因。只统计 D 端也不能推断全部 P/D 服务成本相同。[S03]</a:t>
            </a:r>
          </a:p>
          <a:p>
            <a:r>
              <a:t>双方强制均衡；不检验真实路由热点或 EPLB。各并发只有表内点值，不是重复运行的统计误差或置信区间。</a:t>
            </a:r>
          </a:p>
          <a:p>
            <a:r>
              <a:t>模型/软件 commit、完整测试日志及重复性未提供。</a:t>
            </a:r>
          </a:p>
          <a:p>
            <a:r>
              <a:t>以 vLLM-Ascend 为分母时 DI 为 −9.62% 至 +7.58%；384 并发反向以 DI 为分母时 vLLM-Ascend 高约 10.64%，不能无分母地说所有优势不超 10%。</a:t>
            </a:r>
          </a:p>
          <a:p>
            <a:r>
              <a:t>这是对本团队最直接的一组，但原图虽称端到端，其测量边界实为 D 节点满载。双方 A5、DP32/EP32、128K 输入、1K 输出，vLLM-Ascend 是 P/D，DI 是纯模型；强制均衡、投机步数 5，DI 列名为 τ5.1，Ascend 列名为实测。以 Ascend 为分母，DI 吞吐差异 −9.62% 到 +7.58%；384 并发出现优势反转，Ascend 相对 DI 高约 10.64%。这支持优先在现有框架按热点改进，不能推出完整 P/D 服务成本或投机质量等价。复测应覆盖低、中、高并发并包含 384 点，补计时边界和实际接受量。</a:t>
            </a:r>
          </a:p>
          <a:p>
            <a:endParaRPr/>
          </a:p>
          <a:p>
            <a:r>
              <a:t>[S03] 团队提供的两张 A5 测试截图；未独立复测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内部 A5 profiling：主模型 MoE 与草稿 MoE 的优势方向相反</a:t>
            </a:r>
          </a:p>
          <a:p>
            <a:r>
              <a:t>下面保留内部表的全部 7 个区间及数值。原表两列 kernel 耗时没有标单位，故图中使用无量纲比值；末列 ms/step 及正负号按原表保留，不把推断单位写成实测单位。[S03]</a:t>
            </a:r>
          </a:p>
          <a:p>
            <a:r>
              <a:t>主模型完整 MoE 的 DI 耗时低约 38.86%，草稿完整 MoE 却为 vLLM-A 的约 2.812 倍。**12.476 是 ms/step，不是 12%。**优化应分主模型和草稿路径验证。</a:t>
            </a:r>
          </a:p>
          <a:p>
            <a:endParaRPr/>
          </a:p>
          <a:p>
            <a:r>
              <a:t>原始耗时列单位未完整标明，因此主图使用同区间无量纲比。不能将所有区间差值加成整步时间。</a:t>
            </a:r>
          </a:p>
          <a:p>
            <a:r>
              <a:t>来源 S03 图 2。两耗时列单位未注明；末列正值表示 DI 在该区间耗时较低。完整 MoE 已含 router，单列路由可能与之重叠；原图也未给 profiling 并发，不能将各行相加或映射到图 14 的某个点。</a:t>
            </a:r>
          </a:p>
          <a:p>
            <a:r>
              <a:t>12.476 是主模型完整 MoE 行的原表 ms/step 差值，不是 12%；原图标题的 12% 无法由展示数据验证。</a:t>
            </a:r>
          </a:p>
          <a:p>
            <a:r>
              <a:t>两列原始 kernel 耗时单位未注明；不得标为 μs、ms 或补乘未经确认的调用次数。</a:t>
            </a:r>
          </a:p>
          <a:p>
            <a:r>
              <a:t>主模型完整 MoE 已含 router，单列路由可能重叠；不能将七行相加，也不能把局部差值当作整步关键路径节省。</a:t>
            </a:r>
          </a:p>
          <a:p>
            <a:r>
              <a:t>未注明 profiling 并发、shape、版本、聚合方法和计时边界；不能映射到 D 端吞吐图的某个并发点。</a:t>
            </a:r>
          </a:p>
          <a:p>
            <a:r>
              <a:t>草稿行的“3 层”不授权再乘另图中的 5 个 draft。</a:t>
            </a:r>
          </a:p>
          <a:p>
            <a:r>
              <a:t>先看完整执行区间，避免只凭 kernel 名归因。原表保留 7 行和 delta：主模型完整 MoE 的 DI 数值 490.82，对照 802.72，局部耗时低约 38.86%；草稿 MoE 为 1250.75 对 444.86，DI 反而约 2.812 倍。mHC Pre 也由 Ascend 占优。这支持分主模型、草稿和实际 shape 吸收实现。必须强调：原耗时列单位没有写，图用无量纲比值；+12.476 是 ms/step，不是 12%。完整 MoE 已含路由，行间可能重复和重叠，不能相加估算整步收益，亦不能归到上一页某个并发点。</a:t>
            </a:r>
          </a:p>
          <a:p>
            <a:endParaRPr/>
          </a:p>
          <a:p>
            <a:r>
              <a:t>[S03] 团队提供的两张 A5 测试截图；未独立复测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保持 vLLM-Ascend 主线，吸收已被证明有效的优化</a:t>
            </a:r>
          </a:p>
          <a:p>
            <a:endParaRPr/>
          </a:p>
          <a:p>
            <a:r>
              <a:t>[S01] DeepInfer README 支持范围与特性</a:t>
            </a:r>
          </a:p>
          <a:p>
            <a:r>
              <a:t>https://github.com/deepseek-ai/DeepInfer/blob/9bd9cf243fc53ef9afbf8f04d391d989117d6ab9/README.md</a:t>
            </a:r>
          </a:p>
          <a:p>
            <a:endParaRPr/>
          </a:p>
          <a:p>
            <a:r>
              <a:t>[S03] 团队提供的两张 A5 测试截图；未独立复测</a:t>
            </a:r>
          </a:p>
          <a:p>
            <a:endParaRPr/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汇报问答：保持主线，用证据决定哪些优化值得吸收</a:t>
            </a:r>
          </a:p>
          <a:p>
            <a:endParaRPr/>
          </a:p>
          <a:p>
            <a:r>
              <a:t>[S01] DeepInfer README 支持范围与特性</a:t>
            </a:r>
          </a:p>
          <a:p>
            <a:r>
              <a:t>https://github.com/deepseek-ai/DeepInfer/blob/9bd9cf243fc53ef9afbf8f04d391d989117d6ab9/README.md</a:t>
            </a:r>
          </a:p>
          <a:p>
            <a:endParaRPr/>
          </a:p>
          <a:p>
            <a:r>
              <a:t>[S02] DeepInfer 官方部署问答 开源边界 缓存与异步执行</a:t>
            </a:r>
          </a:p>
          <a:p>
            <a:r>
              <a:t>https://github.com/deepseek-ai/DeepInfer/blob/9bd9cf243fc53ef9afbf8f04d391d989117d6ab9/doc/inference_deployment_qa.md</a:t>
            </a:r>
          </a:p>
          <a:p>
            <a:endParaRPr/>
          </a:p>
          <a:p>
            <a:r>
              <a:t>[S03] 团队提供的两张 A5 测试截图；未独立复测</a:t>
            </a:r>
          </a:p>
          <a:p>
            <a:endParaRPr/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KV Pool 的重点是可接入、可恢复、可观测</a:t>
            </a:r>
          </a:p>
          <a:p>
            <a:endParaRPr/>
          </a:p>
          <a:p>
            <a:r>
              <a:t>[S33] Ascend KV Pool 后端 硬件与布局限制</a:t>
            </a:r>
          </a:p>
          <a:p>
            <a:r>
              <a:t>https://github.com/vllm-project/vllm-ascend/blob/4e6eac4e476d9be3476e99440f4cabed67b253ea/docs/source/user_guide/feature_guide/kv_cache_pool_ascend_store.md</a:t>
            </a:r>
          </a:p>
          <a:p>
            <a:endParaRPr/>
          </a:p>
          <a:p>
            <a:r>
              <a:t>[S34] AscendStoreConnector 共享缓存接入</a:t>
            </a:r>
          </a:p>
          <a:p>
            <a:r>
              <a:t>https://github.com/vllm-project/vllm-ascend/blob/4e6eac4e476d9be3476e99440f4cabed67b253ea/vllm_ascend/distributed/kv_transfer/kv_pool/ascend_store/ascend_store_connector.py</a:t>
            </a:r>
          </a:p>
          <a:p>
            <a:endParaRPr/>
          </a:p>
          <a:p>
            <a:r>
              <a:t>[S35] Ascend V4.1 source 与 consumer 共享缓存</a:t>
            </a:r>
          </a:p>
          <a:p>
            <a:r>
              <a:t>https://github.com/vllm-project/vllm-ascend/blob/5685a13e434e69fda37099c44b8c903dc31626fb/vllm_ascend/models/deepseek_v41/model.py#L724</a:t>
            </a:r>
          </a:p>
          <a:p>
            <a:endParaRPr/>
          </a:p>
          <a:p>
            <a:r>
              <a:t>[S36] Ascend V4.1 decoder 裁剪与执行限制</a:t>
            </a:r>
          </a:p>
          <a:p>
            <a:r>
              <a:t>https://github.com/vllm-project/vllm-ascend/blob/5685a13e434e69fda37099c44b8c903dc31626fb/vllm_ascend/models/deepseek_v41/decoder_replay_layers.py</a:t>
            </a:r>
          </a:p>
          <a:p>
            <a:endParaRPr/>
          </a:p>
          <a:p>
            <a:r>
              <a:t>[S37] Ascend V4.1 KV Pool 示例和 SWA replay 组合边界</a:t>
            </a:r>
          </a:p>
          <a:p>
            <a:r>
              <a:t>https://github.com/vllm-project/vllm-ascend/blob/4e6eac4e476d9be3476e99440f4cabed67b253ea/docs/source/tutorials/models/DeepSeek-V4.1-Flash.md</a:t>
            </a:r>
          </a:p>
          <a:p>
            <a:endParaRPr/>
          </a:p>
          <a:p>
            <a:r>
              <a:t>[S38] Ascend 原生 CPU 与文件系统分层缓存</a:t>
            </a:r>
          </a:p>
          <a:p>
            <a:r>
              <a:t>https://github.com/vllm-project/vllm-ascend/blob/4e6eac4e476d9be3476e99440f4cabed67b253ea/docs/source/user_guide/feature_guide/kv_cache_cpu_offload.md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三组实验回答不同问题，性能接近不等于成本相同</a:t>
            </a:r>
          </a:p>
          <a:p>
            <a:endParaRPr/>
          </a:p>
          <a:p>
            <a:r>
              <a:t>[S03] 团队提供的两张 A5 测试截图；未独立复测</a:t>
            </a:r>
          </a:p>
          <a:p>
            <a:endParaRPr/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  <a:p>
            <a:endParaRPr/>
          </a:p>
          <a:p>
            <a:r>
              <a:t>[S41] SGLang 配套 benchmark 脚本 配置与固定版本</a:t>
            </a:r>
          </a:p>
          <a:p>
            <a:r>
              <a:t>https://gist.github.com/sglang-bot/f03d7d0dd268b0386177eb2ef09f8b3b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把借鉴工作按可控范围与验证周期分层</a:t>
            </a:r>
          </a:p>
          <a:p>
            <a:endParaRPr/>
          </a:p>
          <a:p>
            <a:r>
              <a:t>[S35] Ascend V4.1 source 与 consumer 共享缓存</a:t>
            </a:r>
          </a:p>
          <a:p>
            <a:r>
              <a:t>https://github.com/vllm-project/vllm-ascend/blob/5685a13e434e69fda37099c44b8c903dc31626fb/vllm_ascend/models/deepseek_v41/model.py#L724</a:t>
            </a:r>
          </a:p>
          <a:p>
            <a:endParaRPr/>
          </a:p>
          <a:p>
            <a:r>
              <a:t>[S36] Ascend V4.1 decoder 裁剪与执行限制</a:t>
            </a:r>
          </a:p>
          <a:p>
            <a:r>
              <a:t>https://github.com/vllm-project/vllm-ascend/blob/5685a13e434e69fda37099c44b8c903dc31626fb/vllm_ascend/models/deepseek_v41/decoder_replay_layers.py</a:t>
            </a:r>
          </a:p>
          <a:p>
            <a:endParaRPr/>
          </a:p>
          <a:p>
            <a:r>
              <a:t>[S37] Ascend V4.1 KV Pool 示例和 SWA replay 组合边界</a:t>
            </a:r>
          </a:p>
          <a:p>
            <a:r>
              <a:t>https://github.com/vllm-project/vllm-ascend/blob/4e6eac4e476d9be3476e99440f4cabed67b253ea/docs/source/tutorials/models/DeepSeek-V4.1-Flash.md</a:t>
            </a:r>
          </a:p>
          <a:p>
            <a:endParaRPr/>
          </a:p>
          <a:p>
            <a:r>
              <a:t>[S52] vLLM Ascend EPLB 机制及 runner 量化硬件限制</a:t>
            </a:r>
          </a:p>
          <a:p>
            <a:r>
              <a:t>https://docs.vllm.ai/projects/ascend/en/main/user_guide/feature_guide/expert_parallelism_load_balancer.html</a:t>
            </a:r>
          </a:p>
          <a:p>
            <a:endParaRPr/>
          </a:p>
          <a:p>
            <a:r>
              <a:t>[S53] vLLM Ascend 投机解码与 DSpark 适配指南</a:t>
            </a:r>
          </a:p>
          <a:p>
            <a:r>
              <a:t>https://docs.vllm.ai/projects/ascend/en/main/user_guide/feature_guide/speculative_decoding.html</a:t>
            </a:r>
          </a:p>
          <a:p>
            <a:endParaRPr/>
          </a:p>
          <a:p>
            <a:r>
              <a:t>[S54] vLLM Ascend 融合 MoE 等附加配置</a:t>
            </a:r>
          </a:p>
          <a:p>
            <a:r>
              <a:t>https://docs.vllm.ai/projects/ascend/en/main/user_guide/configuration/additional_config.html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下一轮验证：四类证据决定投入顺序</a:t>
            </a:r>
          </a:p>
          <a:p>
            <a:endParaRPr/>
          </a:p>
          <a:p>
            <a:r>
              <a:t>[S03] 团队提供的两张 A5 测试截图；未独立复测</a:t>
            </a:r>
          </a:p>
          <a:p>
            <a:endParaRPr/>
          </a:p>
          <a:p>
            <a:endParaRPr/>
          </a:p>
          <a:p>
            <a:r>
              <a:t>[S37] Ascend V4.1 KV Pool 示例和 SWA replay 组合边界</a:t>
            </a:r>
          </a:p>
          <a:p>
            <a:r>
              <a:t>https://github.com/vllm-project/vllm-ascend/blob/4e6eac4e476d9be3476e99440f4cabed67b253ea/docs/source/tutorials/models/DeepSeek-V4.1-Flash.md</a:t>
            </a:r>
          </a:p>
          <a:p>
            <a:endParaRPr/>
          </a:p>
          <a:p>
            <a:r>
              <a:t>[S52] vLLM Ascend EPLB 机制及 runner 量化硬件限制</a:t>
            </a:r>
          </a:p>
          <a:p>
            <a:r>
              <a:t>https://docs.vllm.ai/projects/ascend/en/main/user_guide/feature_guide/expert_parallelism_load_balancer.html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vLLM Decode：公开曲线接近，硬件与规模未完全对齐</a:t>
            </a:r>
          </a:p>
          <a:p>
            <a:r>
              <a:t>vLLM 为 GB200 DEP32、384+32 专家；DeepInfer 参考为 EP64DP64、384+64 专家。上下文约 131K、草稿 3 token，按每步接受 3.25 token 归一化。DeepInfer 公布为 64 张 SM100，未标明具体 SKU。[S39、S48]</a:t>
            </a:r>
          </a:p>
          <a:p>
            <a:r>
              <a:t>这些点的吞吐差异为 −5.97% 至 +4.46%，支持性能接近；它们是发布曲线对照，不能表述为同机、同配置的独立复测。</a:t>
            </a:r>
          </a:p>
          <a:p>
            <a:endParaRPr/>
          </a:p>
          <a:p>
            <a:r>
              <a:t>本页完整保留第八版报告表格数值。</a:t>
            </a:r>
          </a:p>
          <a:p>
            <a:r>
              <a:t>来源 S48。每卡吞吐=每卡请求数×每用户速度；两项不是独立测量证据。百分比以 DI 为分母。vLLM 使用真实路由及 EPLB；DeepInfer 公开复现脚本强制均衡。双方并行规模、冗余专家和硬件信息不完全对齐。[S50]</a:t>
            </a:r>
          </a:p>
          <a:p>
            <a:r>
              <a:t>作者以 DeepInfer 的公开曲线作为参照，并展示 vLLM 的在线扩展能力。Prefill 原文明确承认条件不同，不据此计算框架加速比。对硬件应表述为“未充分对齐”：vLLM 指明 GB200 或 GB300，DI 参考仅说明 SM100，无法确认具体型号相同。把这一结果称为严格同硬件胜负对比，证据不足。[S39、S48–S50]</a:t>
            </a:r>
          </a:p>
          <a:p>
            <a:r>
              <a:t>Decode 的 32 卡与 64 卡即使都折算成每卡吞吐，专家驻留量、通信和总并发仍不同。相同每卡请求数下，64 卡的总请求数约为 32 卡的两倍，因此不能解读成“vLLM 用一半卡提供相同总容量”。其价值在于展示一条可实现的优化路线；是否具有相同成本，要另行测量。</a:t>
            </a:r>
          </a:p>
          <a:p>
            <a:r>
              <a:t>官方博客/图源 commit 是 215c503827bca884e606bc4ae545ed91f398902d，不是引擎实验构建 SHA。不能写成标准 main 已全部可复现。</a:t>
            </a:r>
          </a:p>
          <a:p>
            <a:r>
              <a:t>先明确这是一组公开曲线对照，而非作者在同一套机器上重跑双方。vLLM 用 32 张 GB200，DI 公开说明为 64 张 SM100，具体 SKU 未注明；专家冗余为 32 对 64，均按固定 3.25 接受 token/步归一化。每卡吞吐差异为 −5.97% 至 +4.46%，说明优化路线能达到接近的性能区间。每用户速度与每卡吞吐存在乘法关系，不是两份独立证据。相同每卡请求数下，两者总并发不同；不能说 vLLM 用一半卡提供相同总容量，也不能据此判定 TCO 相同。</a:t>
            </a:r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[S48] vLLM Decode 官方交互图源及逐点数组</a:t>
            </a:r>
          </a:p>
          <a:p>
            <a:r>
              <a:t>https://github.com/vllm-project/vllm-project.github.io/blob/215c503827bca884e606bc4ae545ed91f398902d/assets/interactive_pages/dsv41-pd-decode-vs-deepinfer.html#L1471-L1494</a:t>
            </a:r>
          </a:p>
          <a:p>
            <a:endParaRPr/>
          </a:p>
          <a:p>
            <a:r>
              <a:t>[S50] DeepInfer 官方基准脚本 输入与强制负载均衡</a:t>
            </a:r>
          </a:p>
          <a:p>
            <a:r>
              <a:t>https://github.com/deepseek-ai/DeepInfer/blob/553741557a57df44a46fb3ab72b6aafeaf945337/examples/benchmark.py#L151-L165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vLLM Prefill：达到相近量级，不据此计算纯框架加速比</a:t>
            </a:r>
          </a:p>
          <a:p>
            <a:r>
              <a:t>vLLM 为 GB300 DEP2、无冗余专家、128 token 重放，并在 128K 缓存前缀后处理新增输入。DI 参考为 EP4DP4、32 个冗余专家、140 token 重放；其图标为 128K 总上下文，具体 SKU 未注明。[S39、S49]</a:t>
            </a:r>
          </a:p>
          <a:p>
            <a:r>
              <a:t>vLLM 已达到相近量级；曲线间距不能作为纯框架加速比。硬件信息、并行、冗余专家、重放长度和输入结构均有差别，本表不据此计算引擎提升百分比。</a:t>
            </a:r>
          </a:p>
          <a:p>
            <a:endParaRPr/>
          </a:p>
          <a:p>
            <a:r>
              <a:t>本页完整保留第八版报告表格数值。</a:t>
            </a:r>
          </a:p>
          <a:p>
            <a:r>
              <a:t>来源 S49。K=1024；吞吐由新增 token 数÷步时折算。vLLM 为 100 次 forward replay 的中位数、取最慢 rank，再对两次运行求均值。DI 数值取自 vLLM 图源中的参考数组，并非 DI 原始日志。</a:t>
            </a:r>
          </a:p>
          <a:p>
            <a:r>
              <a:t>读图结论：vLLM 已达到相近量级；曲线间距不能作为纯框架加速比。硬件信息、并行、冗余专家、重放长度和输入结构均有差别，本表不据此计算引擎提升百分比。</a:t>
            </a:r>
          </a:p>
          <a:p>
            <a:r>
              <a:t>DI 的缓存前缀长度未确认，不能把 vLLM 的 128K cached + N new 套用到 DI；DI 图标为 128K 总上下文。</a:t>
            </a:r>
          </a:p>
          <a:p>
            <a:r>
              <a:t>DI 数组是 vLLM 作者采用的图读数，不能标为 DI 原始实测日志。</a:t>
            </a:r>
          </a:p>
          <a:p>
            <a:r>
              <a:t>这页保留原步时与新增输入吞吐，但不展示框架加速百分比。vLLM 用 GB300 DEP2、无冗余专家、128 token 重放，处理 128K 缓存前缀后的新增输入；DI 参考用 EP4DP4、32 个冗余专家、140 token 重放，且其图标为 128K 总上下文，具体 SKU 未注明。vLLM 的计时是 100 次 forward replay 中位数、最慢 rank、两次运行均值；DI 数字来自公开图读数。其价值是技术可达性参照，不能承担严格同条件胜负或成本结论。</a:t>
            </a:r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[S49] vLLM Prefill 官方图源 数组与换算方法</a:t>
            </a:r>
          </a:p>
          <a:p>
            <a:r>
              <a:t>https://github.com/vllm-project/vllm-project.github.io/blob/215c503827bca884e606bc4ae545ed91f398902d/assets/interactive_pages/dsv41-pd-prefill-vs-deepinfer.html#L543-L551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SGLang Prefill：同硬件重跑，双方各批量表现接近</a:t>
            </a:r>
          </a:p>
          <a:p>
            <a:r>
              <a:t>同一节点分别运行两套引擎，GB300 与 B300 各 4 卡、DP4/EP4；128K 上下文，每个请求含 4K 新 token。强制均衡、EPLB 关闭，32 个冗余专家；DI 每点取已测试配置中最快者。[S40–S41]</a:t>
            </a:r>
          </a:p>
          <a:p>
            <a:r>
              <a:t>两平台最大吞吐比均约 1.039×，其余点也接近。8K GB300 和 16K B300 点 SGLang 略慢，不能把“最高约快 4%”读成所有批量都快 4%。</a:t>
            </a:r>
          </a:p>
          <a:p>
            <a:endParaRPr/>
          </a:p>
          <a:p>
            <a:r>
              <a:t>本页完整保留第八版报告表格数值。</a:t>
            </a:r>
          </a:p>
          <a:p>
            <a:r>
              <a:t>来源 S41 的 Measured 表。SG=SGLang；吞吐比=DI 步时÷SG 步时，&gt;1 表示 SG 吞吐较高。DI 的 host/GPU Engram 与调优配置按每点择优；其约 9 批 GPU 0 计时与 SG 多 GPU 稳定窗口统计不同。</a:t>
            </a:r>
          </a:p>
          <a:p>
            <a:r>
              <a:t>版本：SG Prefill 7d996300b9，DI 774ce24。此处仅用双方重跑的实测表，不混入官方原图中来自旧曲线读数的 Published 虚线。</a:t>
            </a:r>
          </a:p>
          <a:p>
            <a:r>
              <a:t>强制专家均衡、EPLB 关闭；固定批次测试不能验证线上真实路由、长期缓存或完整服务成本。</a:t>
            </a:r>
          </a:p>
          <a:p>
            <a:r>
              <a:t>DI 每点选择已测试配置中最快者，并不等于已证明所有可能配置的全局最优。</a:t>
            </a:r>
          </a:p>
          <a:p>
            <a:r>
              <a:t>每个请求含 4K 新 token；横轴 4K–64K 是每 GPU 每步聚合新增 token，不能写成单请求输入长度从 4K 变到 64K。</a:t>
            </a:r>
          </a:p>
          <a:p>
            <a:r>
              <a:t>这组比公开曲线对照更直接：两引擎在同一 GB300 或 B300 节点分别重跑，均为 4 卡 DP4/EP4，模型权重相同；两平台各自比较，不能跨硬件拼成一个排名。每个请求 4K 新 token，横轴是每 GPU 每步聚合量。DI 每点取已测试配置中的最快者。两平台最大 SG 吞吐比均约 1.039×，但 GB300 的 8K 和 B300 的 16K 点 SG 略慢，不能概括为处处快 4%。计时窗口和 Engram/调优组合仍有差异，强制均衡也排除了真实 EPLB 的效果。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  <a:p>
            <a:endParaRPr/>
          </a:p>
          <a:p>
            <a:r>
              <a:t>[S41] SGLang 配套 benchmark 脚本 配置与固定版本</a:t>
            </a:r>
          </a:p>
          <a:p>
            <a:r>
              <a:t>https://gist.github.com/sglang-bot/f03d7d0dd268b0386177eb2ef09f8b3b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SGLang Decode：同硬件步时接近，最高点折算吞吐约高 8%</a:t>
            </a:r>
          </a:p>
          <a:p>
            <a:r>
              <a:t>双方均在 64 张 GB300 上采用 DP64/EP64，128K 上下文与共享缓存前缀；固定并发、静态验证 3 个草稿 token、强制专家均衡。右图统一按 3.25 接受 token/步换算吞吐。[S40–S41]</a:t>
            </a:r>
          </a:p>
          <a:p>
            <a:r>
              <a:t>每卡 8 请求时 SG 步时略长，16–256 请求时短 1.1%–7.4%；最后一点对应约 8.0% 的折算吞吐提升。固定批次对比不验证实际 EPLB、真实投机质量或完整在线服务。</a:t>
            </a:r>
          </a:p>
          <a:p>
            <a:endParaRPr/>
          </a:p>
          <a:p>
            <a:r>
              <a:t>本页完整保留第八版报告表格数值。</a:t>
            </a:r>
          </a:p>
          <a:p>
            <a:r>
              <a:t>来源 S41。SG 步时变化=(SG÷DI−1)×100%，负值表示 SG 较短；同接受量下吞吐比=DI 步时÷SG 步时。SG Engram 在 GPU，DI 在主机；草稿冗余专家数也不同。</a:t>
            </a:r>
          </a:p>
          <a:p>
            <a:r>
              <a:t>版本：SG Decode 3b95120f00，DI 774ce24。双方由 SGLang 团队重跑；虽使用服务接口发请求，测量仍针对稳定批次的引擎步时。</a:t>
            </a:r>
          </a:p>
          <a:p>
            <a:r>
              <a:t>固定批次与强制均衡适合比较执行步时，不能验证线上 EPLB 和缓存容量影响。Engram 放在设备会占用 HBM，放在主机有读取成本，最优选择可能随业务变化。SG 模拟每步接受 3.25 token，DI 使用实际接受结果，图轴统一按 3.25 折算；完整静态验证使步时可比，但未证明真实接受率相同。[S41]</a:t>
            </a:r>
          </a:p>
          <a:p>
            <a:r>
              <a:t>固定 3.25 接受量只是统一折算假设，不能将右图标成自然接受率下独立测得的生产吞吐。</a:t>
            </a:r>
          </a:p>
          <a:p>
            <a:r>
              <a:t>31.19 ms → 28.88 ms 是步时约少 7.4%、同输出假设下吞吐约高 8.0%；不是整套服务成本下降 7.4%。</a:t>
            </a:r>
          </a:p>
          <a:p>
            <a:r>
              <a:t>双方同为 64 张 GB300、DP64/EP64、128K 上下文及共享前缀，固定并发、静态验证 3 个草稿 token、强制专家均衡。8 请求/GPU 点 SG 步时略长，16–256 请求点短 1.1%–7.4%；最后一点 31.19 降至 28.88 毫秒，统一接受量下折算吞吐高约 8.0%。SG 模拟接受量，DI 使用实际接受；图轴统一按 3.25 计算，不证明真实投机质量相同。SG Engram 在 GPU，DI 在主机，草稿冗余副本数也不同。该结果是稳定批次执行证据，不能代替完整服务或 TCO。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  <a:p>
            <a:endParaRPr/>
          </a:p>
          <a:p>
            <a:r>
              <a:t>[S41] SGLang 配套 benchmark 脚本 配置与固定版本</a:t>
            </a:r>
          </a:p>
          <a:p>
            <a:r>
              <a:t>https://gist.github.com/sglang-bot/f03d7d0dd268b0386177eb2ef09f8b3b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内部 A5：优势随并发反转，尚无悬殊差距</a:t>
            </a:r>
          </a:p>
          <a:p>
            <a:r>
              <a:t>内部图表称为端到端对比，其实际边界为 D 节点满载：输入 128K、输出 1K、DP32/EP32；vLLM-Ascend 使用 P/D，DI 使用纯模型模式。双方强制均衡，投机步数 5，图中标注每步接受 5.1 token。[S03]</a:t>
            </a:r>
          </a:p>
          <a:p>
            <a:r>
              <a:t>以 vLLM-A 为分母，DI 吞吐差异为 −9.62% 至 +7.58%。反向计算，384 并发时 vLLM-A 高约 10.64%；因此“10%以内”必须说明分母。两者在本组工作点接近，优势随并发变化。</a:t>
            </a:r>
          </a:p>
          <a:p>
            <a:endParaRPr/>
          </a:p>
          <a:p>
            <a:r>
              <a:t>本页完整保留第八版报告表格数值。</a:t>
            </a:r>
          </a:p>
          <a:p>
            <a:r>
              <a:t>来源 S03 图 1，原值转录；vLLM-A=vLLM-Ascend。TPOT 与吞吐近似满足同一 32 卡换算关系，不是两份独立证据。τ5.1 与“实测”的具体计量方式仍需结合原日志确认。</a:t>
            </a:r>
          </a:p>
          <a:p>
            <a:r>
              <a:t>同 A5、同 DP32/EP32 下的 D 节点结果，比 GPU 数据更能回答当前是否存在悬殊差距。但 vLLM-Ascend 为 P/D，DI 为纯模型模式，且列名分别是“实测”和“τ5.1”；需要对齐计时边界和实际接受量，才能更准确归因。只统计 D 端也不能推断全部 P/D 服务成本相同。[S03]</a:t>
            </a:r>
          </a:p>
          <a:p>
            <a:r>
              <a:t>双方强制均衡；不检验真实路由热点或 EPLB。各并发只有表内点值，不是重复运行的统计误差或置信区间。</a:t>
            </a:r>
          </a:p>
          <a:p>
            <a:r>
              <a:t>模型/软件 commit、完整测试日志及重复性未提供。</a:t>
            </a:r>
          </a:p>
          <a:p>
            <a:r>
              <a:t>以 vLLM-Ascend 为分母时 DI 为 −9.62% 至 +7.58%；384 并发反向以 DI 为分母时 vLLM-Ascend 高约 10.64%，不能无分母地说所有优势不超 10%。</a:t>
            </a:r>
          </a:p>
          <a:p>
            <a:r>
              <a:t>这是对本团队最直接的一组，但原图虽称端到端，其测量边界实为 D 节点满载。双方 A5、DP32/EP32、128K 输入、1K 输出，vLLM-Ascend 是 P/D，DI 是纯模型；强制均衡、投机步数 5，DI 列名为 τ5.1，Ascend 列名为实测。以 Ascend 为分母，DI 吞吐差异 −9.62% 到 +7.58%；384 并发出现优势反转，Ascend 相对 DI 高约 10.64%。这支持优先在现有框架按热点改进，不能推出完整 P/D 服务成本或投机质量等价。复测应覆盖低、中、高并发并包含 384 点，补计时边界和实际接受量。</a:t>
            </a:r>
          </a:p>
          <a:p>
            <a:endParaRPr/>
          </a:p>
          <a:p>
            <a:r>
              <a:t>[S03] 团队提供的两张 A5 测试截图；未独立复测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内部 A5 profiling：主模型 MoE 与草稿 MoE 的优势方向相反</a:t>
            </a:r>
          </a:p>
          <a:p>
            <a:r>
              <a:t>下面保留内部表的全部 7 个区间及数值。原表两列 kernel 耗时没有标单位，故图中使用无量纲比值；末列 ms/step 及正负号按原表保留，不把推断单位写成实测单位。[S03]</a:t>
            </a:r>
          </a:p>
          <a:p>
            <a:r>
              <a:t>主模型完整 MoE 的 DI 耗时低约 38.86%，草稿完整 MoE 却为 vLLM-A 的约 2.812 倍。**12.476 是 ms/step，不是 12%。**优化应分主模型和草稿路径验证。</a:t>
            </a:r>
          </a:p>
          <a:p>
            <a:endParaRPr/>
          </a:p>
          <a:p>
            <a:r>
              <a:t>本页完整保留第八版报告表格数值。</a:t>
            </a:r>
          </a:p>
          <a:p>
            <a:r>
              <a:t>来源 S03 图 2。两耗时列单位未注明；末列正值表示 DI 在该区间耗时较低。完整 MoE 已含 router，单列路由可能与之重叠；原图也未给 profiling 并发，不能将各行相加或映射到图 14 的某个点。</a:t>
            </a:r>
          </a:p>
          <a:p>
            <a:r>
              <a:t>12.476 是主模型完整 MoE 行的原表 ms/step 差值，不是 12%；原图标题的 12% 无法由展示数据验证。</a:t>
            </a:r>
          </a:p>
          <a:p>
            <a:r>
              <a:t>两列原始 kernel 耗时单位未注明；不得标为 μs、ms 或补乘未经确认的调用次数。</a:t>
            </a:r>
          </a:p>
          <a:p>
            <a:r>
              <a:t>主模型完整 MoE 已含 router，单列路由可能重叠；不能将七行相加，也不能把局部差值当作整步关键路径节省。</a:t>
            </a:r>
          </a:p>
          <a:p>
            <a:r>
              <a:t>未注明 profiling 并发、shape、版本、聚合方法和计时边界；不能映射到 D 端吞吐图的某个并发点。</a:t>
            </a:r>
          </a:p>
          <a:p>
            <a:r>
              <a:t>草稿行的“3 层”不授权再乘另图中的 5 个 draft。</a:t>
            </a:r>
          </a:p>
          <a:p>
            <a:r>
              <a:t>先看完整执行区间，避免只凭 kernel 名归因。原表保留 7 行和 delta：主模型完整 MoE 的 DI 数值 490.82，对照 802.72，局部耗时低约 38.86%；草稿 MoE 为 1250.75 对 444.86，DI 反而约 2.812 倍。mHC Pre 也由 Ascend 占优。这支持分主模型、草稿和实际 shape 吸收实现。必须强调：原耗时列单位没有写，图用无量纲比值；+12.476 是 ms/step，不是 12%。完整 MoE 已含路由，行间可能重复和重叠，不能相加估算整步收益，亦不能归到上一页某个并发点。</a:t>
            </a:r>
          </a:p>
          <a:p>
            <a:endParaRPr/>
          </a:p>
          <a:p>
            <a:r>
              <a:t>[S03] 团队提供的两张 A5 测试截图；未独立复测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全部来源（含各技术页详细链接）。</a:t>
            </a:r>
          </a:p>
          <a:p>
            <a:endParaRPr/>
          </a:p>
          <a:p>
            <a:r>
              <a:t>本版于 2026 年 10 月 26 日修订。新增 vLLM 10 月 23 日与 SGLang 10 月 24 日官方对比，并核查配套脚本和关键 PR。原有 DeepInfer 源码基线为 9bd9cf2；SGLang 对比采用 DeepInfer 774ce24，SGLang Prefill 7d996300b9 与 Decode 3b95120f00。原有 Ascend 模型核查基线为 5685a13e，KV Pool 与指南为 4e6eac4e，Rust 范围为此前固定的 f4edf9f0。实验构建、已合入代码与团队生产版本分别对待；PR 状态以本版核查时为准。 图 10–15 均据官方数据或内部截图重绘；折算公式、图读数和单位限制在图旁注明。vLLM 图源固定于 215c5038，该版本属于博客仓库，并非引擎实验构建。 第七版增加实验可比性、产出价值与运行成本的区分，以及分阶段成本推断的条件。 第八版明确模型语义、DeepInfer 仓内代码、外部算子库和生产系统的归属，并补充各技术与通用框架的吸收关系。新增 S51 为固定源码；S52–S54 为本次读取的官方指南，具体组合仍以团队版本验收。</a:t>
            </a:r>
          </a:p>
          <a:p>
            <a:endParaRPr/>
          </a:p>
          <a:p>
            <a:r>
              <a:t>[S01] DeepInfer README 支持范围与特性</a:t>
            </a:r>
          </a:p>
          <a:p>
            <a:r>
              <a:t>https://github.com/deepseek-ai/DeepInfer/blob/9bd9cf243fc53ef9afbf8f04d391d989117d6ab9/README.md</a:t>
            </a:r>
          </a:p>
          <a:p>
            <a:endParaRPr/>
          </a:p>
          <a:p>
            <a:r>
              <a:t>[S02] DeepInfer 官方部署问答 开源边界 缓存与异步执行</a:t>
            </a:r>
          </a:p>
          <a:p>
            <a:r>
              <a:t>https://github.com/deepseek-ai/DeepInfer/blob/9bd9cf243fc53ef9afbf8f04d391d989117d6ab9/doc/inference_deployment_qa.md</a:t>
            </a:r>
          </a:p>
          <a:p>
            <a:endParaRPr/>
          </a:p>
          <a:p>
            <a:r>
              <a:t>[S04] DeepSeek V4.1 技术报告 模型依赖与缓存设计</a:t>
            </a:r>
          </a:p>
          <a:p>
            <a:r>
              <a:t>https://arxiv.org/abs/2609.19969</a:t>
            </a:r>
          </a:p>
          <a:p>
            <a:endParaRPr/>
          </a:p>
          <a:p>
            <a:r>
              <a:t>[S05] vLLM Ascend V4.1 专项实现与部署约束</a:t>
            </a:r>
          </a:p>
          <a:p>
            <a:r>
              <a:t>https://github.com/vllm-project/vllm-ascend/tree/5685a13e434e69fda37099c44b8c903dc31626fb</a:t>
            </a:r>
          </a:p>
          <a:p>
            <a:endParaRPr/>
          </a:p>
          <a:p>
            <a:r>
              <a:t>[S06] DeepSeek V2 论文 MLA 的模型机制</a:t>
            </a:r>
          </a:p>
          <a:p>
            <a:r>
              <a:t>https://arxiv.org/abs/2405.04434</a:t>
            </a:r>
          </a:p>
          <a:p>
            <a:endParaRPr/>
          </a:p>
          <a:p>
            <a:r>
              <a:t>[S07] FlashMLA 官方算子库</a:t>
            </a:r>
          </a:p>
          <a:p>
            <a:r>
              <a:t>https://github.com/deepseek-ai/FlashMLA</a:t>
            </a:r>
          </a:p>
          <a:p>
            <a:endParaRPr/>
          </a:p>
          <a:p>
            <a:r>
              <a:t>[S08] DeepInfer MoE 实现与融合调用</a:t>
            </a:r>
          </a:p>
          <a:p>
            <a:r>
              <a:t>https://github.com/deepseek-ai/DeepInfer/blob/9bd9cf243fc53ef9afbf8f04d391d989117d6ab9/deepinfer/model_executor/models/v4_modules/mlp.py</a:t>
            </a:r>
          </a:p>
          <a:p>
            <a:endParaRPr/>
          </a:p>
          <a:p>
            <a:r>
              <a:t>[S09] DeepInfer EPLB 策略与执行</a:t>
            </a:r>
          </a:p>
          <a:p>
            <a:r>
              <a:t>https://github.com/deepseek-ai/DeepInfer/tree/9bd9cf243fc53ef9afbf8f04d391d989117d6ab9/deepinfer/model_executor/eplb</a:t>
            </a:r>
          </a:p>
          <a:p>
            <a:endParaRPr/>
          </a:p>
          <a:p>
            <a:r>
              <a:t>[S10] DeepInfer 平台配置 Engram 设备存储</a:t>
            </a:r>
          </a:p>
          <a:p>
            <a:r>
              <a:t>https://github.com/deepseek-ai/DeepInfer/blob/9bd9cf243fc53ef9afbf8f04d391d989117d6ab9/deepinfer/environ.py</a:t>
            </a:r>
          </a:p>
          <a:p>
            <a:endParaRPr/>
          </a:p>
          <a:p>
            <a:r>
              <a:t>[S11] vLLM V1 官方架构说明 2025 年</a:t>
            </a:r>
          </a:p>
          <a:p>
            <a:r>
              <a:t>https://vllm.ai/blog/2025-01-27-v1-alpha-release</a:t>
            </a:r>
          </a:p>
          <a:p>
            <a:endParaRPr/>
          </a:p>
          <a:p>
            <a:r>
              <a:t>[S12] DeepInfer C++ 引擎目录</a:t>
            </a:r>
          </a:p>
          <a:p>
            <a:r>
              <a:t>https://github.com/deepseek-ai/DeepInfer/tree/9bd9cf243fc53ef9afbf8f04d391d989117d6ab9/csrc/engine</a:t>
            </a:r>
          </a:p>
          <a:p>
            <a:endParaRPr/>
          </a:p>
          <a:p>
            <a:r>
              <a:t>[S13] vLLM 2024 年 CPU 开销优化案例</a:t>
            </a:r>
          </a:p>
          <a:p>
            <a:r>
              <a:t>https://vllm.ai/blog/2024-09-05-perf-update</a:t>
            </a:r>
          </a:p>
          <a:p>
            <a:endParaRPr/>
          </a:p>
          <a:p>
            <a:r>
              <a:t>[S14] vLLM 前缀缓存设计</a:t>
            </a:r>
          </a:p>
          <a:p>
            <a:r>
              <a:t>https://docs.vllm.ai/en/latest/design/prefix_caching/</a:t>
            </a:r>
          </a:p>
          <a:p>
            <a:endParaRPr/>
          </a:p>
          <a:p>
            <a:r>
              <a:t>[S15] Ascend CPU 与文件系统分层缓存指南</a:t>
            </a:r>
          </a:p>
          <a:p>
            <a:r>
              <a:t>https://github.com/vllm-project/vllm-ascend/blob/d04ca23915093c662b4061c77d0c08a07791d7dc/docs/source/user_guide/feature_guide/kv_cache_cpu_offload.md</a:t>
            </a:r>
          </a:p>
          <a:p>
            <a:endParaRPr/>
          </a:p>
          <a:p>
            <a:r>
              <a:t>[S16] vLLM Rust 前端范围与 Python 引擎连接</a:t>
            </a:r>
          </a:p>
          <a:p>
            <a:r>
              <a:t>https://github.com/vllm-project/vllm/blob/f4edf9f0f078ae67392510aafd1871288948a3c3/rust/README.md</a:t>
            </a:r>
          </a:p>
          <a:p>
            <a:endParaRPr/>
          </a:p>
          <a:p>
            <a:r>
              <a:t>[S17] vLLM 默认核心调度器选择</a:t>
            </a:r>
          </a:p>
          <a:p>
            <a:r>
              <a:t>https://github.com/vllm-project/vllm/blob/f4edf9f0f078ae67392510aafd1871288948a3c3/vllm/config/scheduler.py#L231</a:t>
            </a:r>
          </a:p>
          <a:p>
            <a:endParaRPr/>
          </a:p>
          <a:p>
            <a:r>
              <a:t>[S18] vLLM Rust 前端默认开关</a:t>
            </a:r>
          </a:p>
          <a:p>
            <a:r>
              <a:t>https://github.com/vllm-project/vllm/blob/f4edf9f0f078ae67392510aafd1871288948a3c3/vllm/envs.py#L1452</a:t>
            </a:r>
          </a:p>
          <a:p>
            <a:endParaRPr/>
          </a:p>
          <a:p>
            <a:r>
              <a:t>[S19] Ascend A5 镜像版本与 Rust 构建入口</a:t>
            </a:r>
          </a:p>
          <a:p>
            <a:r>
              <a:t>https://github.com/vllm-project/vllm-ascend/blob/d04ca23915093c662b4061c77d0c08a07791d7dc/Dockerfile.a5</a:t>
            </a:r>
          </a:p>
          <a:p>
            <a:endParaRPr/>
          </a:p>
          <a:p>
            <a:r>
              <a:t>[S20] vLLM Rust 前端提案及特定 CPU 压力测试</a:t>
            </a:r>
          </a:p>
          <a:p>
            <a:r>
              <a:t>https://github.com/vllm-project/vllm/issues/40846</a:t>
            </a:r>
          </a:p>
          <a:p>
            <a:endParaRPr/>
          </a:p>
          <a:p>
            <a:r>
              <a:t>[S21] 跨层 KV 与索引共享拓扑</a:t>
            </a:r>
          </a:p>
          <a:p>
            <a:r>
              <a:t>https://github.com/deepseek-ai/DeepInfer/blob/9bd9cf243fc53ef9afbf8f04d391d989117d6ab9/deepinfer/model_executor/models/v4_modules/cross_layer.py</a:t>
            </a:r>
          </a:p>
          <a:p>
            <a:endParaRPr/>
          </a:p>
          <a:p>
            <a:r>
              <a:t>[S22] CED 保留完整历史 KV 同时裁剪主计算</a:t>
            </a:r>
          </a:p>
          <a:p>
            <a:r>
              <a:t>https://github.com/deepseek-ai/DeepInfer/blob/9bd9cf243fc53ef9afbf8f04d391d989117d6ab9/deepinfer/model_executor/models/v4_modules/attn.py#L672</a:t>
            </a:r>
          </a:p>
          <a:p>
            <a:endParaRPr/>
          </a:p>
          <a:p>
            <a:r>
              <a:t>[S23] YoCo 尾部裁剪与配置约束</a:t>
            </a:r>
          </a:p>
          <a:p>
            <a:r>
              <a:t>https://github.com/deepseek-ai/DeepInfer/blob/9bd9cf243fc53ef9afbf8f04d391d989117d6ab9/deepinfer/model_executor/models/v4_modules/yoco.py</a:t>
            </a:r>
          </a:p>
          <a:p>
            <a:endParaRPr/>
          </a:p>
          <a:p>
            <a:r>
              <a:t>[S24] 固定 1017 模型配置及层号</a:t>
            </a:r>
          </a:p>
          <a:p>
            <a:r>
              <a:t>https://huggingface.co/deepseek-ai/DeepSeek-V4.1-Flash-1017/blob/1bae0e1088993b9b82de08f59de5be5a34e42170/config.json</a:t>
            </a:r>
          </a:p>
          <a:p>
            <a:endParaRPr/>
          </a:p>
          <a:p>
            <a:r>
              <a:t>[S25] 单层主干执行与 Engram 插入位置</a:t>
            </a:r>
          </a:p>
          <a:p>
            <a:r>
              <a:t>https://github.com/deepseek-ai/DeepInfer/blob/9bd9cf243fc53ef9afbf8f04d391d989117d6ab9/deepinfer/model_executor/models/decoder_layer.py</a:t>
            </a:r>
          </a:p>
          <a:p>
            <a:endParaRPr/>
          </a:p>
          <a:p>
            <a:r>
              <a:t>[S26] mHC 延迟执行和 NVIDIA 融合条件</a:t>
            </a:r>
          </a:p>
          <a:p>
            <a:r>
              <a:t>https://github.com/deepseek-ai/DeepInfer/blob/9bd9cf243fc53ef9afbf8f04d391d989117d6ab9/deepinfer/model_executor/models/v4_modules/hc.py</a:t>
            </a:r>
          </a:p>
          <a:p>
            <a:endParaRPr/>
          </a:p>
          <a:p>
            <a:r>
              <a:t>[S27] 稀疏索引打分与 Top-K 分开执行</a:t>
            </a:r>
          </a:p>
          <a:p>
            <a:r>
              <a:t>https://github.com/deepseek-ai/DeepInfer/blob/9bd9cf243fc53ef9afbf8f04d391d989117d6ab9/deepinfer/model_executor/models/v4_modules/index_attn.py</a:t>
            </a:r>
          </a:p>
          <a:p>
            <a:endParaRPr/>
          </a:p>
          <a:p>
            <a:r>
              <a:t>[S28] 逐行变换融合及可选参数</a:t>
            </a:r>
          </a:p>
          <a:p>
            <a:r>
              <a:t>https://github.com/deepseek-ai/DeepInfer/blob/9bd9cf243fc53ef9afbf8f04d391d989117d6ab9/deepinfer/model_executor/layers/tilelang_ops/fused_transform.py</a:t>
            </a:r>
          </a:p>
          <a:p>
            <a:endParaRPr/>
          </a:p>
          <a:p>
            <a:r>
              <a:t>[S29] A5 RMSNorm 与量化设备实现</a:t>
            </a:r>
          </a:p>
          <a:p>
            <a:r>
              <a:t>https://github.com/deepseek-ai/DeepInfer/blob/9bd9cf243fc53ef9afbf8f04d391d989117d6ab9/deepinfer/model_executor/layers/tilelang_ops/asc/norm.py</a:t>
            </a:r>
          </a:p>
          <a:p>
            <a:endParaRPr/>
          </a:p>
          <a:p>
            <a:r>
              <a:t>[S30] 各平台外部库选择与构建入口</a:t>
            </a:r>
          </a:p>
          <a:p>
            <a:r>
              <a:t>https://github.com/deepseek-ai/DeepInfer/blob/9bd9cf243fc53ef9afbf8f04d391d989117d6ab9/scripts/build_vendor.sh</a:t>
            </a:r>
          </a:p>
          <a:p>
            <a:endParaRPr/>
          </a:p>
          <a:p>
            <a:r>
              <a:t>[S31] 异步执行与结果处理时序</a:t>
            </a:r>
          </a:p>
          <a:p>
            <a:r>
              <a:t>https://github.com/deepseek-ai/DeepInfer/blob/9bd9cf243fc53ef9afbf8f04d391d989117d6ab9/deepinfer/worker/worker.py</a:t>
            </a:r>
          </a:p>
          <a:p>
            <a:endParaRPr/>
          </a:p>
          <a:p>
            <a:r>
              <a:t>[S32] DeepSeek 官方文章 V4.1 Flash 大规模推理部署实践</a:t>
            </a:r>
          </a:p>
          <a:p>
            <a:r>
              <a:t>https://zhuanlan.zhihu.com/p/2095560295930508953</a:t>
            </a:r>
          </a:p>
          <a:p>
            <a:endParaRPr/>
          </a:p>
          <a:p>
            <a:r>
              <a:t>[S33] Ascend KV Pool 后端 硬件与布局限制</a:t>
            </a:r>
          </a:p>
          <a:p>
            <a:r>
              <a:t>https://github.com/vllm-project/vllm-ascend/blob/4e6eac4e476d9be3476e99440f4cabed67b253ea/docs/source/user_guide/feature_guide/kv_cache_pool_ascend_store.md</a:t>
            </a:r>
          </a:p>
          <a:p>
            <a:endParaRPr/>
          </a:p>
          <a:p>
            <a:r>
              <a:t>[S34] AscendStoreConnector 共享缓存接入</a:t>
            </a:r>
          </a:p>
          <a:p>
            <a:r>
              <a:t>https://github.com/vllm-project/vllm-ascend/blob/4e6eac4e476d9be3476e99440f4cabed67b253ea/vllm_ascend/distributed/kv_transfer/kv_pool/ascend_store/ascend_store_connector.py</a:t>
            </a:r>
          </a:p>
          <a:p>
            <a:endParaRPr/>
          </a:p>
          <a:p>
            <a:r>
              <a:t>[S35] Ascend V4.1 source 与 consumer 共享缓存</a:t>
            </a:r>
          </a:p>
          <a:p>
            <a:r>
              <a:t>https://github.com/vllm-project/vllm-ascend/blob/5685a13e434e69fda37099c44b8c903dc31626fb/vllm_ascend/models/deepseek_v41/model.py#L724</a:t>
            </a:r>
          </a:p>
          <a:p>
            <a:endParaRPr/>
          </a:p>
          <a:p>
            <a:r>
              <a:t>[S36] Ascend V4.1 decoder 裁剪与执行限制</a:t>
            </a:r>
          </a:p>
          <a:p>
            <a:r>
              <a:t>https://github.com/vllm-project/vllm-ascend/blob/5685a13e434e69fda37099c44b8c903dc31626fb/vllm_ascend/models/deepseek_v41/decoder_replay_layers.py</a:t>
            </a:r>
          </a:p>
          <a:p>
            <a:endParaRPr/>
          </a:p>
          <a:p>
            <a:r>
              <a:t>[S37] Ascend V4.1 KV Pool 示例和 SWA replay 组合边界</a:t>
            </a:r>
          </a:p>
          <a:p>
            <a:r>
              <a:t>https://github.com/vllm-project/vllm-ascend/blob/4e6eac4e476d9be3476e99440f4cabed67b253ea/docs/source/tutorials/models/DeepSeek-V4.1-Flash.md</a:t>
            </a:r>
          </a:p>
          <a:p>
            <a:endParaRPr/>
          </a:p>
          <a:p>
            <a:r>
              <a:t>[S38] Ascend 原生 CPU 与文件系统分层缓存</a:t>
            </a:r>
          </a:p>
          <a:p>
            <a:r>
              <a:t>https://github.com/vllm-project/vllm-ascend/blob/4e6eac4e476d9be3476e99440f4cabed67b253ea/docs/source/user_guide/feature_guide/kv_cache_cpu_offload.md</a:t>
            </a:r>
          </a:p>
          <a:p>
            <a:endParaRPr/>
          </a:p>
          <a:p>
            <a:r>
              <a:t>[S39] vLLM 官方对比 Decode 接近与 Prefill 口径边界</a:t>
            </a:r>
          </a:p>
          <a:p>
            <a:r>
              <a:t>https://vllm.ai/blog/2026-10-23-deepseek-v41-flash-pd-wide-ep</a:t>
            </a:r>
          </a:p>
          <a:p>
            <a:endParaRPr/>
          </a:p>
          <a:p>
            <a:r>
              <a:t>[S40] SGLang 官方对比 同硬件重跑与服务能力范围</a:t>
            </a:r>
          </a:p>
          <a:p>
            <a:r>
              <a:t>https://www.lmsys.org/blog/2026-10-24-dsv41-deepinfer</a:t>
            </a:r>
          </a:p>
          <a:p>
            <a:endParaRPr/>
          </a:p>
          <a:p>
            <a:r>
              <a:t>[S41] SGLang 配套 benchmark 脚本 配置与固定版本</a:t>
            </a:r>
          </a:p>
          <a:p>
            <a:r>
              <a:t>https://gist.github.com/sglang-bot/f03d7d0dd268b0386177eb2ef09f8b3b</a:t>
            </a:r>
          </a:p>
          <a:p>
            <a:endParaRPr/>
          </a:p>
          <a:p>
            <a:r>
              <a:t>[S42] vLLM PR 59894 保留 KV 支路并裁剪 CED 边界层</a:t>
            </a:r>
          </a:p>
          <a:p>
            <a:r>
              <a:t>https://github.com/vllm-project/vllm/pull/59894</a:t>
            </a:r>
          </a:p>
          <a:p>
            <a:endParaRPr/>
          </a:p>
          <a:p>
            <a:r>
              <a:t>[S43] vLLM PR 61767 CPU 元数据同步算法与微基准</a:t>
            </a:r>
          </a:p>
          <a:p>
            <a:r>
              <a:t>https://github.com/vllm-project/vllm/pull/61767</a:t>
            </a:r>
          </a:p>
          <a:p>
            <a:endParaRPr/>
          </a:p>
          <a:p>
            <a:r>
              <a:t>[S44] vLLM PR 61395 主模型与草稿异构专家 EPLB</a:t>
            </a:r>
          </a:p>
          <a:p>
            <a:r>
              <a:t>https://github.com/vllm-project/vllm/pull/61395</a:t>
            </a:r>
          </a:p>
          <a:p>
            <a:endParaRPr/>
          </a:p>
          <a:p>
            <a:r>
              <a:t>[S45] vLLM PR 62009 MegaMoE EPLB 与实验构建说明</a:t>
            </a:r>
          </a:p>
          <a:p>
            <a:r>
              <a:t>https://github.com/vllm-project/vllm/pull/62009</a:t>
            </a:r>
          </a:p>
          <a:p>
            <a:endParaRPr/>
          </a:p>
          <a:p>
            <a:r>
              <a:t>[S46] SGLang PR 46230 Prefill 压缩器融合与图执行衔接</a:t>
            </a:r>
          </a:p>
          <a:p>
            <a:r>
              <a:t>https://github.com/sgl-project/sglang/pull/46230</a:t>
            </a:r>
          </a:p>
          <a:p>
            <a:endParaRPr/>
          </a:p>
          <a:p>
            <a:r>
              <a:t>[S47] SGLang PR 46242 按执行阶段限制 MegaGate 路径</a:t>
            </a:r>
          </a:p>
          <a:p>
            <a:r>
              <a:t>https://github.com/sgl-project/sglang/pull/46242</a:t>
            </a:r>
          </a:p>
          <a:p>
            <a:endParaRPr/>
          </a:p>
          <a:p>
            <a:r>
              <a:t>[S48] vLLM Decode 官方交互图源及逐点数组</a:t>
            </a:r>
          </a:p>
          <a:p>
            <a:r>
              <a:t>https://github.com/vllm-project/vllm-project.github.io/blob/215c503827bca884e606bc4ae545ed91f398902d/assets/interactive_pages/dsv41-pd-decode-vs-deepinfer.html#L1471-L1494</a:t>
            </a:r>
          </a:p>
          <a:p>
            <a:endParaRPr/>
          </a:p>
          <a:p>
            <a:r>
              <a:t>[S49] vLLM Prefill 官方图源 数组与换算方法</a:t>
            </a:r>
          </a:p>
          <a:p>
            <a:r>
              <a:t>https://github.com/vllm-project/vllm-project.github.io/blob/215c503827bca884e606bc4ae545ed91f398902d/assets/interactive_pages/dsv41-pd-prefill-vs-deepinfer.html#L543-L551</a:t>
            </a:r>
          </a:p>
          <a:p>
            <a:endParaRPr/>
          </a:p>
          <a:p>
            <a:r>
              <a:t>[S50] DeepInfer 官方基准脚本 输入与强制负载均衡</a:t>
            </a:r>
          </a:p>
          <a:p>
            <a:r>
              <a:t>https://github.com/deepseek-ai/DeepInfer/blob/553741557a57df44a46fb3ab72b6aafeaf945337/examples/benchmark.py#L151-L165</a:t>
            </a:r>
          </a:p>
          <a:p>
            <a:endParaRPr/>
          </a:p>
          <a:p>
            <a:r>
              <a:t>[S51] DeepInfer 主模型 graph 选择与非 Prefill 条件</a:t>
            </a:r>
          </a:p>
          <a:p>
            <a:r>
              <a:t>https://github.com/deepseek-ai/DeepInfer/blob/9bd9cf243fc53ef9afbf8f04d391d989117d6ab9/deepinfer/worker/model_runner.py#L182</a:t>
            </a:r>
          </a:p>
          <a:p>
            <a:endParaRPr/>
          </a:p>
          <a:p>
            <a:r>
              <a:t>[S52] vLLM Ascend EPLB 机制及 runner 量化硬件限制</a:t>
            </a:r>
          </a:p>
          <a:p>
            <a:r>
              <a:t>https://docs.vllm.ai/projects/ascend/en/main/user_guide/feature_guide/expert_parallelism_load_balancer.html</a:t>
            </a:r>
          </a:p>
          <a:p>
            <a:endParaRPr/>
          </a:p>
          <a:p>
            <a:r>
              <a:t>[S53] vLLM Ascend 投机解码与 DSpark 适配指南</a:t>
            </a:r>
          </a:p>
          <a:p>
            <a:r>
              <a:t>https://docs.vllm.ai/projects/ascend/en/main/user_guide/feature_guide/speculative_decoding.html</a:t>
            </a:r>
          </a:p>
          <a:p>
            <a:endParaRPr/>
          </a:p>
          <a:p>
            <a:r>
              <a:t>[S54] vLLM Ascend 融合 MoE 等附加配置</a:t>
            </a:r>
          </a:p>
          <a:p>
            <a:r>
              <a:t>https://docs.vllm.ai/projects/ascend/en/main/user_guide/configuration/additional_config.html</a:t>
            </a:r>
          </a:p>
          <a:p>
            <a:endParaRPr/>
          </a:p>
          <a:p>
            <a:r>
              <a:t>[S03] 团队提供的两张 A5 测试截图；未独立复测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A6165DC-93E3-44E7-9319-5DC2CC006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837BF70-275F-40AD-9F18-758BD3B36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C5692B7-480C-4BBA-8826-AE0E9D49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28C5586-266C-43B2-A1EC-4510DDFE5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A66C149-86AA-440C-8DF8-8FC7411AE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F6E056B-0CFE-4A28-9ECB-471DCC996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C3C0888-A9DB-4616-AC02-29E14A84D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FA4AF96-EC59-4637-878D-C782EB1ACB3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26E3EB2-950C-46EC-B4D9-27D746BC2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C9E6A6C-20DC-4EB5-8FAE-A5667E658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C7AB23C-5905-4B67-ADFD-5385B4C332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418455"/>
            <a:ext cx="15240000" cy="8572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F60C287-0AE7-4119-B7B6-C341ACAAEF37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90487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51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5100" b="1" dirty="0" err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DeepInfer</a:t>
            </a:r>
            <a:r>
              <a:rPr sz="5100" b="1" dirty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5100" b="1" dirty="0" err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技术洞察</a:t>
            </a:r>
            <a:endParaRPr sz="5100" b="1" dirty="0">
              <a:solidFill>
                <a:srgbClr val="FFFFF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EDF9D3-3941-40CA-949D-0AD928FC45B0}"/>
              </a:ext>
            </a:extLst>
          </p:cNvPr>
          <p:cNvSpPr>
            <a:spLocks noGrp="1"/>
          </p:cNvSpPr>
          <p:nvPr/>
        </p:nvSpPr>
        <p:spPr>
          <a:xfrm>
            <a:off x="819150" y="2762250"/>
            <a:ext cx="8953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300" b="1">
                <a:solidFill>
                  <a:srgbClr val="CDEFF1"/>
                </a:solidFill>
                <a:latin typeface="Heiti SC"/>
                <a:ea typeface="Heiti SC"/>
                <a:cs typeface="Heiti SC"/>
              </a:defRPr>
            </a:pPr>
            <a:r>
              <a:rPr sz="3300" b="1" dirty="0" err="1">
                <a:solidFill>
                  <a:srgbClr val="CDEFF1"/>
                </a:solidFill>
                <a:latin typeface="Heiti SC"/>
                <a:ea typeface="Heiti SC"/>
                <a:cs typeface="Heiti SC"/>
              </a:rPr>
              <a:t>对</a:t>
            </a:r>
            <a:r>
              <a:rPr lang="zh-CN" altLang="en-US" sz="3300" b="1" dirty="0">
                <a:solidFill>
                  <a:srgbClr val="CDEFF1"/>
                </a:solidFill>
                <a:latin typeface="Heiti SC"/>
                <a:ea typeface="Heiti SC"/>
                <a:cs typeface="Heiti SC"/>
              </a:rPr>
              <a:t>通用</a:t>
            </a:r>
            <a:r>
              <a:rPr sz="3300" b="1" dirty="0" err="1">
                <a:solidFill>
                  <a:srgbClr val="CDEFF1"/>
                </a:solidFill>
                <a:latin typeface="Heiti SC"/>
                <a:ea typeface="Heiti SC"/>
                <a:cs typeface="Heiti SC"/>
              </a:rPr>
              <a:t>推理平台的影响与应对</a:t>
            </a:r>
            <a:endParaRPr sz="3300" b="1" dirty="0">
              <a:solidFill>
                <a:srgbClr val="CDEFF1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C0D24E-BFD2-4832-91AF-CE04110522D9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8096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pPr>
            <a:r>
              <a:rPr sz="2400" b="0" dirty="0" err="1">
                <a:solidFill>
                  <a:srgbClr val="E4F0F4"/>
                </a:solidFill>
                <a:latin typeface="Heiti SC"/>
                <a:ea typeface="Heiti SC"/>
                <a:cs typeface="Heiti SC"/>
              </a:rPr>
              <a:t>从模型结构、算子执行到生产系统</a:t>
            </a:r>
            <a:endParaRPr sz="2400" b="0" dirty="0">
              <a:solidFill>
                <a:srgbClr val="E4F0F4"/>
              </a:solidFill>
              <a:latin typeface="Heiti SC"/>
              <a:ea typeface="Heiti SC"/>
              <a:cs typeface="Heiti SC"/>
            </a:endParaRPr>
          </a:p>
          <a:p>
            <a:pPr algn="l">
              <a:defRPr sz="2400" b="0">
                <a:solidFill>
                  <a:srgbClr val="E4F0F4"/>
                </a:solidFill>
                <a:latin typeface="Heiti SC"/>
                <a:ea typeface="Heiti SC"/>
                <a:cs typeface="Heiti SC"/>
              </a:defRPr>
            </a:pPr>
            <a:r>
              <a:rPr sz="2400" b="0" dirty="0" err="1">
                <a:solidFill>
                  <a:srgbClr val="E4F0F4"/>
                </a:solidFill>
                <a:latin typeface="Heiti SC"/>
                <a:ea typeface="Heiti SC"/>
                <a:cs typeface="Heiti SC"/>
              </a:rPr>
              <a:t>理解优势来源</a:t>
            </a:r>
            <a:endParaRPr sz="2400" b="0" dirty="0">
              <a:solidFill>
                <a:srgbClr val="E4F0F4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71802F-ED94-41ED-A6BE-3F757FA54BFD}"/>
              </a:ext>
            </a:extLst>
          </p:cNvPr>
          <p:cNvSpPr>
            <a:spLocks noGrp="1"/>
          </p:cNvSpPr>
          <p:nvPr/>
        </p:nvSpPr>
        <p:spPr>
          <a:xfrm>
            <a:off x="838200" y="6048375"/>
            <a:ext cx="6286500" cy="38100"/>
          </a:xfrm>
          <a:prstGeom prst="rect">
            <a:avLst/>
          </a:prstGeom>
          <a:solidFill>
            <a:srgbClr val="41C7C5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D15608-327F-41A9-8E1E-0790007B6845}"/>
              </a:ext>
            </a:extLst>
          </p:cNvPr>
          <p:cNvSpPr>
            <a:spLocks noGrp="1"/>
          </p:cNvSpPr>
          <p:nvPr/>
        </p:nvSpPr>
        <p:spPr>
          <a:xfrm>
            <a:off x="838200" y="7000875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950" b="0">
                <a:solidFill>
                  <a:srgbClr val="A9CDD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A9CDD5"/>
                </a:solidFill>
                <a:latin typeface="Heiti SC"/>
                <a:ea typeface="Heiti SC"/>
                <a:cs typeface="Heiti SC"/>
              </a:rPr>
              <a:t>2026.10.27</a:t>
            </a:r>
          </a:p>
        </p:txBody>
      </p:sp>
    </p:spTree>
    <p:extLst>
      <p:ext uri="{BB962C8B-B14F-4D97-AF65-F5344CB8AC3E}">
        <p14:creationId xmlns:p14="http://schemas.microsoft.com/office/powerpoint/2010/main" val="31609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E8E6C82-345B-4163-9F71-7F5D07A1389F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技术全景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C4207C-E4FA-415D-82C0-CE24DAF04BDB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DeepInfer 的核心优化，分布在四个层次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5BC8A4-A2DE-41BC-A0CA-9A55C88EDD02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模型决定“需要算什么”；引擎与算子决定“怎样算得高效”；系统决定“多少计算能复用”。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E921B4-6724-44A4-9AA8-D81D2C32C8B0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DC8295-B217-41F4-916E-3D339F4E59A9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来源：S01、S02、S24、S32；详见本页备注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C8E8C3-8589-482D-8B30-EAF03BC1A402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A951C9E-9A48-4895-B07B-EB959A2385FE}"/>
              </a:ext>
            </a:extLst>
          </p:cNvPr>
          <p:cNvGraphicFramePr/>
          <p:nvPr/>
        </p:nvGraphicFramePr>
        <p:xfrm>
          <a:off x="666750" y="2190750"/>
          <a:ext cx="13906500" cy="4333875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层次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DeepInfer 实际利用或实现的能力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与通用框架的关系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模型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跨层 KV、CED、SWA、mHC、DSpark、低精度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同权重共享模型收益；执行方式仍有差异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算子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Attention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局部融合、mHC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边界优化、MegaMoE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接入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可复用库或适配完整算子链；平台路径不同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框架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C++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热路径、异步执行、图执行、变长验证、EPLB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多数有同类机制；比较具体算法和组合效果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系统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长期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KV、P/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D、缓存感知路由等生产实践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完整生产配套未全部开源；需跨团队联合建设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4765C17-4F9C-4B96-8EE5-872B75251036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A33592-C4F2-4EA5-85EA-873A2D6AB027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开源的不只是算子；但生产系统披露的全部收益，也不等于下载引擎即可获得。</a:t>
            </a:r>
          </a:p>
        </p:txBody>
      </p:sp>
    </p:spTree>
    <p:extLst>
      <p:ext uri="{BB962C8B-B14F-4D97-AF65-F5344CB8AC3E}">
        <p14:creationId xmlns:p14="http://schemas.microsoft.com/office/powerpoint/2010/main" val="88255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76412E8D-489A-451E-9E72-4329F96A3858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模型结构 → 算子流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52C8FF-1642-4F93-B433-F1D8CD313227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先沿模型结构，定位优化发生在哪里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5611EE-AA09-4F6C-B15B-7B887DBA0B23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V4.1 Flash 1017：40 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层主干，前后各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 20 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层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D45B48-5473-47B9-AD6D-FEC7255D01D9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1FC8CB-CDBF-43CA-AB77-60941FFD29CD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来源：S24、S25、S26；详见本页备注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69BDF7-AB28-4B9F-AB7F-59AFEC9A0A17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293602-22BB-43D9-95FC-0AAEA904AABD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2047875" cy="1047750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6FDB76-3199-48DF-9F07-4A69F4742076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178117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输入 token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与 Embedding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9DF8B0-AF85-429D-8050-5F5D0990D7DD}"/>
              </a:ext>
            </a:extLst>
          </p:cNvPr>
          <p:cNvSpPr>
            <a:spLocks noGrp="1"/>
          </p:cNvSpPr>
          <p:nvPr/>
        </p:nvSpPr>
        <p:spPr>
          <a:xfrm>
            <a:off x="2762250" y="276225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630AC7-27FB-4F3E-8BB3-CC5BF15B71DD}"/>
              </a:ext>
            </a:extLst>
          </p:cNvPr>
          <p:cNvSpPr>
            <a:spLocks noGrp="1"/>
          </p:cNvSpPr>
          <p:nvPr/>
        </p:nvSpPr>
        <p:spPr>
          <a:xfrm>
            <a:off x="3381375" y="2457450"/>
            <a:ext cx="2762250" cy="1047750"/>
          </a:xfrm>
          <a:prstGeom prst="rect">
            <a:avLst/>
          </a:prstGeom>
          <a:solidFill>
            <a:srgbClr val="E1F1F1"/>
          </a:solidFill>
          <a:ln w="14288">
            <a:solidFill>
              <a:srgbClr val="CAD9D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5FB6176-3384-4F0B-8833-DB46D8E93068}"/>
              </a:ext>
            </a:extLst>
          </p:cNvPr>
          <p:cNvSpPr>
            <a:spLocks noGrp="1"/>
          </p:cNvSpPr>
          <p:nvPr/>
        </p:nvSpPr>
        <p:spPr>
          <a:xfrm>
            <a:off x="3514725" y="2533650"/>
            <a:ext cx="24955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第 1–20 层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完整前段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400BC8-6915-4921-926E-28431CCA1A70}"/>
              </a:ext>
            </a:extLst>
          </p:cNvPr>
          <p:cNvSpPr>
            <a:spLocks noGrp="1"/>
          </p:cNvSpPr>
          <p:nvPr/>
        </p:nvSpPr>
        <p:spPr>
          <a:xfrm>
            <a:off x="6191250" y="276225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82101C-27DF-4FC7-9074-52ACFA6663DC}"/>
              </a:ext>
            </a:extLst>
          </p:cNvPr>
          <p:cNvSpPr>
            <a:spLocks noGrp="1"/>
          </p:cNvSpPr>
          <p:nvPr/>
        </p:nvSpPr>
        <p:spPr>
          <a:xfrm>
            <a:off x="6810375" y="2457450"/>
            <a:ext cx="3905250" cy="1047750"/>
          </a:xfrm>
          <a:prstGeom prst="rect">
            <a:avLst/>
          </a:prstGeom>
          <a:solidFill>
            <a:srgbClr val="E1F1F1"/>
          </a:solidFill>
          <a:ln w="14288">
            <a:solidFill>
              <a:srgbClr val="CAD9D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9072F2-D49B-4474-847A-137595191E8A}"/>
              </a:ext>
            </a:extLst>
          </p:cNvPr>
          <p:cNvSpPr>
            <a:spLocks noGrp="1"/>
          </p:cNvSpPr>
          <p:nvPr/>
        </p:nvSpPr>
        <p:spPr>
          <a:xfrm>
            <a:off x="6943725" y="2533650"/>
            <a:ext cx="36385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第 21–40 层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共享后段 global KV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B10B9D-9D99-47C3-853B-58C5D2329BF3}"/>
              </a:ext>
            </a:extLst>
          </p:cNvPr>
          <p:cNvSpPr>
            <a:spLocks noGrp="1"/>
          </p:cNvSpPr>
          <p:nvPr/>
        </p:nvSpPr>
        <p:spPr>
          <a:xfrm>
            <a:off x="10763250" y="276225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B76C15-E303-42CD-A5FC-19268CE5DC17}"/>
              </a:ext>
            </a:extLst>
          </p:cNvPr>
          <p:cNvSpPr>
            <a:spLocks noGrp="1"/>
          </p:cNvSpPr>
          <p:nvPr/>
        </p:nvSpPr>
        <p:spPr>
          <a:xfrm>
            <a:off x="11382375" y="2457450"/>
            <a:ext cx="3190875" cy="1047750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D33257-D7D9-4787-919C-9AFCBD02C5D1}"/>
              </a:ext>
            </a:extLst>
          </p:cNvPr>
          <p:cNvSpPr>
            <a:spLocks noGrp="1"/>
          </p:cNvSpPr>
          <p:nvPr/>
        </p:nvSpPr>
        <p:spPr>
          <a:xfrm>
            <a:off x="11515725" y="2533650"/>
            <a:ext cx="292417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输出分布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与采样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EA1A89-694C-48FB-B975-8522F9D7EDF2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展开一个主干层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59E887-7734-4C20-BBF4-2281AAFED02A}"/>
              </a:ext>
            </a:extLst>
          </p:cNvPr>
          <p:cNvSpPr>
            <a:spLocks noGrp="1"/>
          </p:cNvSpPr>
          <p:nvPr/>
        </p:nvSpPr>
        <p:spPr>
          <a:xfrm>
            <a:off x="666750" y="4695825"/>
            <a:ext cx="1476375" cy="914400"/>
          </a:xfrm>
          <a:prstGeom prst="rect">
            <a:avLst/>
          </a:prstGeom>
          <a:solidFill>
            <a:srgbClr val="F7F9FA"/>
          </a:solidFill>
          <a:ln w="14288">
            <a:solidFill>
              <a:srgbClr val="CAD9DF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E524DD0-ADF1-42E3-AFB5-8EB1A1F7C312}"/>
              </a:ext>
            </a:extLst>
          </p:cNvPr>
          <p:cNvSpPr>
            <a:spLocks noGrp="1"/>
          </p:cNvSpPr>
          <p:nvPr/>
        </p:nvSpPr>
        <p:spPr>
          <a:xfrm>
            <a:off x="800100" y="4772025"/>
            <a:ext cx="12096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mHC Pre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B5BB4F-4B3F-4C3C-9EF3-29CD783BFD99}"/>
              </a:ext>
            </a:extLst>
          </p:cNvPr>
          <p:cNvSpPr>
            <a:spLocks noGrp="1"/>
          </p:cNvSpPr>
          <p:nvPr/>
        </p:nvSpPr>
        <p:spPr>
          <a:xfrm>
            <a:off x="2162175" y="4905375"/>
            <a:ext cx="4381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AF4A05-93C7-46AB-BEBD-A378B6D0A51C}"/>
              </a:ext>
            </a:extLst>
          </p:cNvPr>
          <p:cNvSpPr>
            <a:spLocks noGrp="1"/>
          </p:cNvSpPr>
          <p:nvPr/>
        </p:nvSpPr>
        <p:spPr>
          <a:xfrm>
            <a:off x="2619375" y="4695825"/>
            <a:ext cx="2000250" cy="914400"/>
          </a:xfrm>
          <a:prstGeom prst="rect">
            <a:avLst/>
          </a:prstGeom>
          <a:solidFill>
            <a:srgbClr val="DDF0EF"/>
          </a:solidFill>
          <a:ln w="14288">
            <a:solidFill>
              <a:srgbClr val="CAD9DF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502EAD-931E-4AD5-AEEE-C0ACE541CE2D}"/>
              </a:ext>
            </a:extLst>
          </p:cNvPr>
          <p:cNvSpPr>
            <a:spLocks noGrp="1"/>
          </p:cNvSpPr>
          <p:nvPr/>
        </p:nvSpPr>
        <p:spPr>
          <a:xfrm>
            <a:off x="2752725" y="4772025"/>
            <a:ext cx="17335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Attention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48E0AC0-24B4-45F9-834D-3D05F20E9DFF}"/>
              </a:ext>
            </a:extLst>
          </p:cNvPr>
          <p:cNvSpPr>
            <a:spLocks noGrp="1"/>
          </p:cNvSpPr>
          <p:nvPr/>
        </p:nvSpPr>
        <p:spPr>
          <a:xfrm>
            <a:off x="4638675" y="4905375"/>
            <a:ext cx="4381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7B0255A-688F-4367-86F5-4165951AD439}"/>
              </a:ext>
            </a:extLst>
          </p:cNvPr>
          <p:cNvSpPr>
            <a:spLocks noGrp="1"/>
          </p:cNvSpPr>
          <p:nvPr/>
        </p:nvSpPr>
        <p:spPr>
          <a:xfrm>
            <a:off x="5095875" y="4695825"/>
            <a:ext cx="1476375" cy="914400"/>
          </a:xfrm>
          <a:prstGeom prst="rect">
            <a:avLst/>
          </a:prstGeom>
          <a:solidFill>
            <a:srgbClr val="F7F9FA"/>
          </a:solidFill>
          <a:ln w="14288">
            <a:solidFill>
              <a:srgbClr val="CAD9D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BA1A20A-0093-42BD-99C4-B8AD8B54C803}"/>
              </a:ext>
            </a:extLst>
          </p:cNvPr>
          <p:cNvSpPr>
            <a:spLocks noGrp="1"/>
          </p:cNvSpPr>
          <p:nvPr/>
        </p:nvSpPr>
        <p:spPr>
          <a:xfrm>
            <a:off x="5229225" y="4772025"/>
            <a:ext cx="12096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mHC Post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EB439CB-13F9-4903-92CA-08860007B98E}"/>
              </a:ext>
            </a:extLst>
          </p:cNvPr>
          <p:cNvSpPr>
            <a:spLocks noGrp="1"/>
          </p:cNvSpPr>
          <p:nvPr/>
        </p:nvSpPr>
        <p:spPr>
          <a:xfrm>
            <a:off x="6591300" y="4905375"/>
            <a:ext cx="4381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23AAEE-F7A7-43D8-97B8-777DFE09D3BE}"/>
              </a:ext>
            </a:extLst>
          </p:cNvPr>
          <p:cNvSpPr>
            <a:spLocks noGrp="1"/>
          </p:cNvSpPr>
          <p:nvPr/>
        </p:nvSpPr>
        <p:spPr>
          <a:xfrm>
            <a:off x="7048500" y="4695825"/>
            <a:ext cx="1476375" cy="914400"/>
          </a:xfrm>
          <a:prstGeom prst="rect">
            <a:avLst/>
          </a:prstGeom>
          <a:solidFill>
            <a:srgbClr val="F7F9FA"/>
          </a:solidFill>
          <a:ln w="14288">
            <a:solidFill>
              <a:srgbClr val="CAD9D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FD14CC8-EA11-499B-834E-06575F3CCE3C}"/>
              </a:ext>
            </a:extLst>
          </p:cNvPr>
          <p:cNvSpPr>
            <a:spLocks noGrp="1"/>
          </p:cNvSpPr>
          <p:nvPr/>
        </p:nvSpPr>
        <p:spPr>
          <a:xfrm>
            <a:off x="7181850" y="4772025"/>
            <a:ext cx="12096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mHC Pre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6BDC76-A3E5-478D-8245-F78372BCBB12}"/>
              </a:ext>
            </a:extLst>
          </p:cNvPr>
          <p:cNvSpPr>
            <a:spLocks noGrp="1"/>
          </p:cNvSpPr>
          <p:nvPr/>
        </p:nvSpPr>
        <p:spPr>
          <a:xfrm>
            <a:off x="8543925" y="4905375"/>
            <a:ext cx="4381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DD0EC3B-89C7-42B8-AEE7-020A96501A30}"/>
              </a:ext>
            </a:extLst>
          </p:cNvPr>
          <p:cNvSpPr>
            <a:spLocks noGrp="1"/>
          </p:cNvSpPr>
          <p:nvPr/>
        </p:nvSpPr>
        <p:spPr>
          <a:xfrm>
            <a:off x="9001125" y="4695825"/>
            <a:ext cx="2047875" cy="914400"/>
          </a:xfrm>
          <a:prstGeom prst="rect">
            <a:avLst/>
          </a:prstGeom>
          <a:solidFill>
            <a:srgbClr val="DDF0EF"/>
          </a:solidFill>
          <a:ln w="14288">
            <a:solidFill>
              <a:srgbClr val="CAD9DF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6DC818B-4954-4B14-8DB7-ECDAB36CBD26}"/>
              </a:ext>
            </a:extLst>
          </p:cNvPr>
          <p:cNvSpPr>
            <a:spLocks noGrp="1"/>
          </p:cNvSpPr>
          <p:nvPr/>
        </p:nvSpPr>
        <p:spPr>
          <a:xfrm>
            <a:off x="9134475" y="4772025"/>
            <a:ext cx="17811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MoE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A8CCC9-AB5F-441F-B6B3-0FF134CBA8E7}"/>
              </a:ext>
            </a:extLst>
          </p:cNvPr>
          <p:cNvSpPr>
            <a:spLocks noGrp="1"/>
          </p:cNvSpPr>
          <p:nvPr/>
        </p:nvSpPr>
        <p:spPr>
          <a:xfrm>
            <a:off x="11068050" y="4905375"/>
            <a:ext cx="4381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C2920B6-92D7-44CE-A850-76DBCA3C7D16}"/>
              </a:ext>
            </a:extLst>
          </p:cNvPr>
          <p:cNvSpPr>
            <a:spLocks noGrp="1"/>
          </p:cNvSpPr>
          <p:nvPr/>
        </p:nvSpPr>
        <p:spPr>
          <a:xfrm>
            <a:off x="11525250" y="4695825"/>
            <a:ext cx="1476375" cy="914400"/>
          </a:xfrm>
          <a:prstGeom prst="rect">
            <a:avLst/>
          </a:prstGeom>
          <a:solidFill>
            <a:srgbClr val="F7F9FA"/>
          </a:solidFill>
          <a:ln w="14288">
            <a:solidFill>
              <a:srgbClr val="CAD9DF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4445312-3E69-469D-8B08-BD44D6D45972}"/>
              </a:ext>
            </a:extLst>
          </p:cNvPr>
          <p:cNvSpPr>
            <a:spLocks noGrp="1"/>
          </p:cNvSpPr>
          <p:nvPr/>
        </p:nvSpPr>
        <p:spPr>
          <a:xfrm>
            <a:off x="11658600" y="4772025"/>
            <a:ext cx="12096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mHC Post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AA07A77-FC0F-4AFC-9AE7-F57D1BC855C3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3906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4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路残差信息在子层边界混合与回写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；</a:t>
            </a:r>
            <a:endParaRPr lang="en-US" sz="2175" b="0" dirty="0">
              <a:solidFill>
                <a:srgbClr val="192F3E"/>
              </a:solidFill>
              <a:latin typeface="Heiti SC"/>
              <a:ea typeface="Heiti SC"/>
              <a:cs typeface="Heiti SC"/>
            </a:endParaRPr>
          </a:p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Attention /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MoE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各执行对应的一次主计算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92149B8-B354-49B4-8E9E-828357678CA9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39DC297-5C46-4952-9A21-DA3CFE9DC67D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同一个模型的结构收益大家都能利用；竞争焦点是物理状态、布局、搬运与执行成本</a:t>
            </a:r>
            <a:r>
              <a:rPr sz="2175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4130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ACFBFEB-2D1C-44C4-BAA0-E2690BEC67DC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模型能力｜DeepInfer 实现共享状态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9039FB-74E1-4D98-9A4B-65AC8BAE5522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跨层 KV：多层读同一份历史资料，各自继续计算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A87DF7-9DAF-4F96-96BA-056FE0ECA8DE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本页层号从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 1 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开始；四组指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 global 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KV，并非整个模型只有四份缓存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7E2D62-41FF-405C-8DC2-9B24D44785E6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39C4DB-F88E-4FA6-A6CE-369736CCAE6D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来源：S21、S24、S35；详见本页备注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2B5AC9-966C-4E05-8BC3-41EB7F13E41B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05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68CD4D-876B-4384-85A8-50DB8C6B6687}"/>
              </a:ext>
            </a:extLst>
          </p:cNvPr>
          <p:cNvGraphicFramePr/>
          <p:nvPr/>
        </p:nvGraphicFramePr>
        <p:xfrm>
          <a:off x="666750" y="2200275"/>
          <a:ext cx="13906500" cy="4048128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主干层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global KV 来源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各层仍执行什么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第 1–2 层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无 global 路径，仅 SWA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本层 Q、局部 Attention、MoE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第 3–8 层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第 3 层产生的一份共享 KV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本层查询与输出；本层 SWA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第 9–14 层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第 9 层产生的一份共享 KV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本层查询与输出；本层 SWA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第 15–20 层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第 15 层产生的一份共享 KV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本层查询与输出；本层 SWA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第 21–40 层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第 21 层投影生成的共享 KV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本层 Q 与主计算；部分层重新选历史位置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402DDD8-9671-4573-BA15-CF7B8405464E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3906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DeepInfer 还分别管理索引 K 和已选历史位置的复用，减少重复打分与选择。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CC7383-CAC7-44DE-83A8-661AE1139610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B3B427-19C4-4677-AC5A-2420CEB2B4AE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Ascend </a:t>
            </a:r>
            <a:r>
              <a:rPr sz="2175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已有来源层</a:t>
            </a:r>
            <a:r>
              <a:rPr sz="2175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 / </a:t>
            </a:r>
            <a:r>
              <a:rPr sz="2175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消费层支持：应核对物理共享与跳过重复计算是否真正生效</a:t>
            </a:r>
            <a:r>
              <a:rPr sz="2175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5251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43485850-40E8-42F9-A8F6-A8A545A3A387}"/>
              </a:ext>
            </a:extLst>
          </p:cNvPr>
          <p:cNvCxnSpPr>
            <a:stCxn id="15" idx="0"/>
            <a:endCxn id="11" idx="2"/>
          </p:cNvCxnSpPr>
          <p:nvPr/>
        </p:nvCxnSpPr>
        <p:spPr>
          <a:xfrm flipV="1">
            <a:off x="12239625" y="3343275"/>
            <a:ext cx="0" cy="1333500"/>
          </a:xfrm>
          <a:prstGeom prst="straightConnector1">
            <a:avLst/>
          </a:prstGeom>
          <a:ln w="28575">
            <a:solidFill>
              <a:srgbClr val="1976B6"/>
            </a:solidFill>
            <a:tailEnd type="arrow" w="med" len="med"/>
          </a:ln>
        </p:spPr>
      </p:cxnSp>
      <p:cxnSp>
        <p:nvCxnSpPr>
          <p:cNvPr id="18" name="肘形连接符 17">
            <a:extLst>
              <a:ext uri="{FF2B5EF4-FFF2-40B4-BE49-F238E27FC236}">
                <a16:creationId xmlns:a16="http://schemas.microsoft.com/office/drawing/2014/main" id="{5889972D-9D87-4125-A4C7-7FB73BE77AD5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3429000" y="3962400"/>
            <a:ext cx="1047750" cy="1219200"/>
          </a:xfrm>
          <a:prstGeom prst="bentConnector3">
            <a:avLst>
              <a:gd name="adj1" fmla="val 50000"/>
            </a:avLst>
          </a:prstGeom>
          <a:ln w="28575">
            <a:solidFill>
              <a:srgbClr val="008C95"/>
            </a:solidFill>
            <a:tailEnd type="arrow" w="med" len="med"/>
          </a:ln>
        </p:spPr>
      </p:cxn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D5B851F6-FF05-4D38-AA4B-5294996868DC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3429000" y="2838450"/>
            <a:ext cx="1047750" cy="1123950"/>
          </a:xfrm>
          <a:prstGeom prst="bentConnector3">
            <a:avLst>
              <a:gd name="adj1" fmla="val 50000"/>
            </a:avLst>
          </a:prstGeom>
          <a:ln w="28575">
            <a:solidFill>
              <a:srgbClr val="008C95"/>
            </a:solidFill>
            <a:tailEnd type="arrow" w="med" len="med"/>
          </a:ln>
        </p:spPr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27E094A-397E-41EF-BC2A-F05653D75BED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模型依赖｜DeepInfer 裁剪执行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41EC8E-D692-423B-86C6-671C328440CF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CED：完整历史形成</a:t>
            </a:r>
            <a:r>
              <a:rPr sz="3450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3450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KV，尾部位置继续深层主计算</a:t>
            </a:r>
            <a:endParaRPr sz="3450" b="1" dirty="0">
              <a:solidFill>
                <a:srgbClr val="123B52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97DD34-C7F6-4C47-AE5A-113004A8F334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以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 Prefill 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输入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 10,000 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token、保留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 R＝140 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为例；R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是示例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 / README 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建议值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95A7DC-C5FD-47C6-8EEF-0A578DB6404D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AD6FD9-A6D1-4690-A8EF-0F2076FC96F6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来源：S02、S04、S22、S23、S36；详见本页备注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030BEC-F8A9-4D65-AD38-6A74915612DC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77ED15-D702-4E58-8333-01B9186E1C10}"/>
              </a:ext>
            </a:extLst>
          </p:cNvPr>
          <p:cNvSpPr>
            <a:spLocks noGrp="1"/>
          </p:cNvSpPr>
          <p:nvPr/>
        </p:nvSpPr>
        <p:spPr>
          <a:xfrm>
            <a:off x="666750" y="3381375"/>
            <a:ext cx="2762250" cy="1162050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A6562F-BDDC-4782-9291-160894B9C651}"/>
              </a:ext>
            </a:extLst>
          </p:cNvPr>
          <p:cNvSpPr>
            <a:spLocks noGrp="1"/>
          </p:cNvSpPr>
          <p:nvPr/>
        </p:nvSpPr>
        <p:spPr>
          <a:xfrm>
            <a:off x="800100" y="3457575"/>
            <a:ext cx="24955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10,000 个位置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经过第 1–20 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9A3057-CCC2-4DB1-89E3-343A15459636}"/>
              </a:ext>
            </a:extLst>
          </p:cNvPr>
          <p:cNvSpPr>
            <a:spLocks noGrp="1"/>
          </p:cNvSpPr>
          <p:nvPr/>
        </p:nvSpPr>
        <p:spPr>
          <a:xfrm>
            <a:off x="4476750" y="2333625"/>
            <a:ext cx="4333875" cy="1009650"/>
          </a:xfrm>
          <a:prstGeom prst="rect">
            <a:avLst/>
          </a:prstGeom>
          <a:solidFill>
            <a:srgbClr val="E5F1F7"/>
          </a:solidFill>
          <a:ln w="14288">
            <a:solidFill>
              <a:srgbClr val="CAD9D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0DE406-4852-4B67-9F83-51EA470BA736}"/>
              </a:ext>
            </a:extLst>
          </p:cNvPr>
          <p:cNvSpPr>
            <a:spLocks noGrp="1"/>
          </p:cNvSpPr>
          <p:nvPr/>
        </p:nvSpPr>
        <p:spPr>
          <a:xfrm>
            <a:off x="4610100" y="2409825"/>
            <a:ext cx="40671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完整前段隐藏状态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经第 21 层的 KV 投影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4C7D75-A3E3-4FBA-8885-E66B92C41FA5}"/>
              </a:ext>
            </a:extLst>
          </p:cNvPr>
          <p:cNvSpPr>
            <a:spLocks noGrp="1"/>
          </p:cNvSpPr>
          <p:nvPr/>
        </p:nvSpPr>
        <p:spPr>
          <a:xfrm>
            <a:off x="9906000" y="2333625"/>
            <a:ext cx="4667250" cy="1009650"/>
          </a:xfrm>
          <a:prstGeom prst="rect">
            <a:avLst/>
          </a:prstGeom>
          <a:solidFill>
            <a:srgbClr val="E5F1F7"/>
          </a:solidFill>
          <a:ln w="14288">
            <a:solidFill>
              <a:srgbClr val="CAD9D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8A2FB1-1931-4108-8B0A-34032CEE5410}"/>
              </a:ext>
            </a:extLst>
          </p:cNvPr>
          <p:cNvSpPr>
            <a:spLocks noGrp="1"/>
          </p:cNvSpPr>
          <p:nvPr/>
        </p:nvSpPr>
        <p:spPr>
          <a:xfrm>
            <a:off x="10039350" y="2409825"/>
            <a:ext cx="44005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覆盖完整历史的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后段共享 global KV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8F56BA-843F-4EFB-AD6F-DC7C470936AD}"/>
              </a:ext>
            </a:extLst>
          </p:cNvPr>
          <p:cNvSpPr>
            <a:spLocks noGrp="1"/>
          </p:cNvSpPr>
          <p:nvPr/>
        </p:nvSpPr>
        <p:spPr>
          <a:xfrm>
            <a:off x="4476750" y="4676775"/>
            <a:ext cx="4333875" cy="1009650"/>
          </a:xfrm>
          <a:prstGeom prst="rect">
            <a:avLst/>
          </a:prstGeom>
          <a:solidFill>
            <a:srgbClr val="E7F4EF"/>
          </a:solidFill>
          <a:ln w="14288">
            <a:solidFill>
              <a:srgbClr val="CAD9D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FAE906-932E-4FB3-998B-7F293AD65C8E}"/>
              </a:ext>
            </a:extLst>
          </p:cNvPr>
          <p:cNvSpPr>
            <a:spLocks noGrp="1"/>
          </p:cNvSpPr>
          <p:nvPr/>
        </p:nvSpPr>
        <p:spPr>
          <a:xfrm>
            <a:off x="4610100" y="4752975"/>
            <a:ext cx="40671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仅保留尾部 140 行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隐藏状态 / Q 主计算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B8CC87-E87E-4FDB-BD8F-A4DD287D6270}"/>
              </a:ext>
            </a:extLst>
          </p:cNvPr>
          <p:cNvSpPr>
            <a:spLocks noGrp="1"/>
          </p:cNvSpPr>
          <p:nvPr/>
        </p:nvSpPr>
        <p:spPr>
          <a:xfrm>
            <a:off x="9906000" y="4676775"/>
            <a:ext cx="4667250" cy="1009650"/>
          </a:xfrm>
          <a:prstGeom prst="rect">
            <a:avLst/>
          </a:prstGeom>
          <a:solidFill>
            <a:srgbClr val="E7F4EF"/>
          </a:solidFill>
          <a:ln w="14288">
            <a:solidFill>
              <a:srgbClr val="CAD9DF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0C8DD7-6765-485D-A0DC-7CD30A75B243}"/>
              </a:ext>
            </a:extLst>
          </p:cNvPr>
          <p:cNvSpPr>
            <a:spLocks noGrp="1"/>
          </p:cNvSpPr>
          <p:nvPr/>
        </p:nvSpPr>
        <p:spPr>
          <a:xfrm>
            <a:off x="10039350" y="4752975"/>
            <a:ext cx="44005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第 21 → … → 40 层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逐层更新这 140 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5F27BD-4FDD-402A-A942-7B4F30667E4E}"/>
              </a:ext>
            </a:extLst>
          </p:cNvPr>
          <p:cNvSpPr>
            <a:spLocks noGrp="1"/>
          </p:cNvSpPr>
          <p:nvPr/>
        </p:nvSpPr>
        <p:spPr>
          <a:xfrm>
            <a:off x="9001125" y="2571750"/>
            <a:ext cx="714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83444C-D1CC-4301-B2C0-B4D0D0BE9AED}"/>
              </a:ext>
            </a:extLst>
          </p:cNvPr>
          <p:cNvSpPr>
            <a:spLocks noGrp="1"/>
          </p:cNvSpPr>
          <p:nvPr/>
        </p:nvSpPr>
        <p:spPr>
          <a:xfrm>
            <a:off x="9001125" y="4933950"/>
            <a:ext cx="714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CE188F8-3A0D-4CD6-AAEA-84EEC34ABB4D}"/>
              </a:ext>
            </a:extLst>
          </p:cNvPr>
          <p:cNvSpPr>
            <a:spLocks noGrp="1"/>
          </p:cNvSpPr>
          <p:nvPr/>
        </p:nvSpPr>
        <p:spPr>
          <a:xfrm>
            <a:off x="12430125" y="3638550"/>
            <a:ext cx="2095500" cy="666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022766-F98C-440A-B2CA-6D86214BF75A}"/>
              </a:ext>
            </a:extLst>
          </p:cNvPr>
          <p:cNvSpPr>
            <a:spLocks noGrp="1"/>
          </p:cNvSpPr>
          <p:nvPr/>
        </p:nvSpPr>
        <p:spPr>
          <a:xfrm>
            <a:off x="12477750" y="3648075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1976B6"/>
                </a:solidFill>
                <a:latin typeface="Heiti SC"/>
                <a:ea typeface="Heiti SC"/>
                <a:cs typeface="Heiti SC"/>
              </a:rPr>
              <a:t>稀疏且因果</a:t>
            </a:r>
          </a:p>
          <a:p>
            <a:pPr algn="l">
              <a:defRPr sz="1800" b="0">
                <a:solidFill>
                  <a:srgbClr val="1976B6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1976B6"/>
                </a:solidFill>
                <a:latin typeface="Heiti SC"/>
                <a:ea typeface="Heiti SC"/>
                <a:cs typeface="Heiti SC"/>
              </a:rPr>
              <a:t>查询共享历史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72FDB9-C2C1-40B2-9B8C-115FA628C2EF}"/>
              </a:ext>
            </a:extLst>
          </p:cNvPr>
          <p:cNvSpPr>
            <a:spLocks noGrp="1"/>
          </p:cNvSpPr>
          <p:nvPr/>
        </p:nvSpPr>
        <p:spPr>
          <a:xfrm>
            <a:off x="666750" y="59436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尾部 SWA 采用有界近似重放，匹配模型已作后训练适应；R 不是上下文上限。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AC635D-2A60-4B17-8367-185FA98286E2}"/>
              </a:ext>
            </a:extLst>
          </p:cNvPr>
          <p:cNvSpPr>
            <a:spLocks noGrp="1"/>
          </p:cNvSpPr>
          <p:nvPr/>
        </p:nvSpPr>
        <p:spPr>
          <a:xfrm>
            <a:off x="666750" y="6543675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Decode：本轮新增位置走 40 层并复用历史状态，不会将历史 token 全部再跑一遍。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B3EB63-5F7E-4606-B097-F91DB467FC7E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5FF8FCE-509A-4E6C-8637-292267DCCD26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模型允许少算，DeepInfer 用裁剪与状态管理兑现；Ascend 也应享有并验证这一收益。</a:t>
            </a:r>
          </a:p>
        </p:txBody>
      </p:sp>
    </p:spTree>
    <p:extLst>
      <p:ext uri="{BB962C8B-B14F-4D97-AF65-F5344CB8AC3E}">
        <p14:creationId xmlns:p14="http://schemas.microsoft.com/office/powerpoint/2010/main" val="23084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DF0B9C1-D530-46AB-BB81-4FE051D642F3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模型能力｜每层独立的窗口状态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1CAE69-946A-4FD7-8B7B-6243F52F2045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SWA：两阶段、全部 40 层都保留近期细节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F84A3D-B2C8-4B86-92C0-13DFA1F0B352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Prefill 与 Decode 均使用；第 1–2 层仅 SWA，第 3–40 层为 SWA + global 稀疏历史。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716179-AE34-4533-8002-58EC7A47AC52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475D64-540F-4E33-93B9-5014EC47FCDE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来源：S02、S22、S24；详见本页备注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A2ACDF-C991-4146-9722-0C93BE91BC5A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07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12D99-1463-46D0-ACAC-DF01FD9ED48D}"/>
              </a:ext>
            </a:extLst>
          </p:cNvPr>
          <p:cNvSpPr>
            <a:spLocks noGrp="1"/>
          </p:cNvSpPr>
          <p:nvPr/>
        </p:nvSpPr>
        <p:spPr>
          <a:xfrm>
            <a:off x="666750" y="2200275"/>
            <a:ext cx="714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一个查询位置可读的局部 KV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C7FA03-E515-4F4C-881B-C3F25935C9A3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3524250" cy="819150"/>
          </a:xfrm>
          <a:prstGeom prst="rect">
            <a:avLst/>
          </a:prstGeom>
          <a:solidFill>
            <a:srgbClr val="F7F9FA"/>
          </a:solidFill>
          <a:ln w="14288">
            <a:solidFill>
              <a:srgbClr val="CAD9DF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482796-A1F6-499A-97FE-5D0067ED620D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32575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更早历史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5389C6-E5E6-43D3-9018-E66772B43244}"/>
              </a:ext>
            </a:extLst>
          </p:cNvPr>
          <p:cNvSpPr>
            <a:spLocks noGrp="1"/>
          </p:cNvSpPr>
          <p:nvPr/>
        </p:nvSpPr>
        <p:spPr>
          <a:xfrm>
            <a:off x="4476750" y="2857500"/>
            <a:ext cx="7143750" cy="819150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C1C354-7A3D-4A04-9226-F44FC4BFF745}"/>
              </a:ext>
            </a:extLst>
          </p:cNvPr>
          <p:cNvSpPr>
            <a:spLocks noGrp="1"/>
          </p:cNvSpPr>
          <p:nvPr/>
        </p:nvSpPr>
        <p:spPr>
          <a:xfrm>
            <a:off x="4610100" y="2933700"/>
            <a:ext cx="68770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前 127 个位置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7A14C4-09B8-46D9-A8A4-1AF691EBCF10}"/>
              </a:ext>
            </a:extLst>
          </p:cNvPr>
          <p:cNvSpPr>
            <a:spLocks noGrp="1"/>
          </p:cNvSpPr>
          <p:nvPr/>
        </p:nvSpPr>
        <p:spPr>
          <a:xfrm>
            <a:off x="11906250" y="2857500"/>
            <a:ext cx="2667000" cy="819150"/>
          </a:xfrm>
          <a:prstGeom prst="rect">
            <a:avLst/>
          </a:prstGeom>
          <a:solidFill>
            <a:srgbClr val="008C95"/>
          </a:solidFill>
          <a:ln w="14288">
            <a:solidFill>
              <a:srgbClr val="CAD9D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549953-1E31-4746-BA72-27C8A4EC2688}"/>
              </a:ext>
            </a:extLst>
          </p:cNvPr>
          <p:cNvSpPr>
            <a:spLocks noGrp="1"/>
          </p:cNvSpPr>
          <p:nvPr/>
        </p:nvSpPr>
        <p:spPr>
          <a:xfrm>
            <a:off x="12039600" y="2933700"/>
            <a:ext cx="24003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当前位置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067A15-4671-43EF-A1A4-852A26BE838D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13906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窗口 128：包含当前位置。默认回退余量 6 → 环形状态容量 134；容量并非固定常数。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147AE33-9A86-4F71-B0FC-4797911F9E08}"/>
              </a:ext>
            </a:extLst>
          </p:cNvPr>
          <p:cNvGraphicFramePr/>
          <p:nvPr/>
        </p:nvGraphicFramePr>
        <p:xfrm>
          <a:off x="666750" y="4686300"/>
          <a:ext cx="13906500" cy="2190752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阶段 / 状态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DeepInfer 如何保留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Prefill 计算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当前批次临时 KV 可超过 128；完成后留下后续需要的尾部状态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Decode 当前请求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各层持续写入新位置，循环覆盖过旧的局部状态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生产跨请求复用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官方披露保存前 20 层 SWA 快照于内存；后 20 层恢复时重建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A4039D61-856B-4829-9041-F4CB099256F0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B11926-35B9-401B-8AC3-D1761CD20B0A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滑出 SWA 窗口，只影响局部状态；独立的 global KV 历史不会因此被一并删除。</a:t>
            </a:r>
          </a:p>
        </p:txBody>
      </p:sp>
    </p:spTree>
    <p:extLst>
      <p:ext uri="{BB962C8B-B14F-4D97-AF65-F5344CB8AC3E}">
        <p14:creationId xmlns:p14="http://schemas.microsoft.com/office/powerpoint/2010/main" val="2037106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E613AE7-9485-42B2-B73D-59D4E19B447D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算子｜DeepInfer 的融合边界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5BBBDC-3670-4299-82C0-CEEC7568A114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Attention 优化：减少投影、数据搬运与重复选择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4D6032-4280-4191-A258-BCCCCC41A593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MLA 把注意力所需的 K/V 信息压缩表示；稀疏路径再选择值得读取的历史位置。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AE99CF-57AD-40F8-A581-0C5A35038D9A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86ADB9-D4E9-4B11-A6DE-9F29519DE25F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来源：S06、S07、S22、S27、S28、S29；详见本页备注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E65F76-7FD7-4D1F-8E23-4ED9248A77EC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08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575F57-303D-411F-B425-E561D1AA2F13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2333625" cy="1238250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6374F-9E27-4A71-83D9-A006C8075242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2066925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输入投影</a:t>
            </a:r>
          </a:p>
          <a:p>
            <a: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生成 Q / KV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A5D501-E4B2-461A-9F02-182069C71581}"/>
              </a:ext>
            </a:extLst>
          </p:cNvPr>
          <p:cNvSpPr>
            <a:spLocks noGrp="1"/>
          </p:cNvSpPr>
          <p:nvPr/>
        </p:nvSpPr>
        <p:spPr>
          <a:xfrm>
            <a:off x="3057525" y="2857500"/>
            <a:ext cx="5048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FDD5CA-84BC-4041-AC78-65A6D09AF5EE}"/>
              </a:ext>
            </a:extLst>
          </p:cNvPr>
          <p:cNvSpPr>
            <a:spLocks noGrp="1"/>
          </p:cNvSpPr>
          <p:nvPr/>
        </p:nvSpPr>
        <p:spPr>
          <a:xfrm>
            <a:off x="3619500" y="2476500"/>
            <a:ext cx="2333625" cy="1238250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045FC5-2415-4D40-9C6C-5A11E39F5031}"/>
              </a:ext>
            </a:extLst>
          </p:cNvPr>
          <p:cNvSpPr>
            <a:spLocks noGrp="1"/>
          </p:cNvSpPr>
          <p:nvPr/>
        </p:nvSpPr>
        <p:spPr>
          <a:xfrm>
            <a:off x="3752850" y="2552700"/>
            <a:ext cx="2066925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归一化、旋转</a:t>
            </a:r>
          </a:p>
          <a:p>
            <a: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量化与写缓存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9C73B7-46CF-4E6A-8F0A-4372DFE336FD}"/>
              </a:ext>
            </a:extLst>
          </p:cNvPr>
          <p:cNvSpPr>
            <a:spLocks noGrp="1"/>
          </p:cNvSpPr>
          <p:nvPr/>
        </p:nvSpPr>
        <p:spPr>
          <a:xfrm>
            <a:off x="6010275" y="2857500"/>
            <a:ext cx="5048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899DA8-2997-47B5-B09C-94325480502F}"/>
              </a:ext>
            </a:extLst>
          </p:cNvPr>
          <p:cNvSpPr>
            <a:spLocks noGrp="1"/>
          </p:cNvSpPr>
          <p:nvPr/>
        </p:nvSpPr>
        <p:spPr>
          <a:xfrm>
            <a:off x="6572250" y="2476500"/>
            <a:ext cx="2333625" cy="1238250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FD1336-7AC3-4F4C-9640-0892B22D9E9A}"/>
              </a:ext>
            </a:extLst>
          </p:cNvPr>
          <p:cNvSpPr>
            <a:spLocks noGrp="1"/>
          </p:cNvSpPr>
          <p:nvPr/>
        </p:nvSpPr>
        <p:spPr>
          <a:xfrm>
            <a:off x="6705600" y="2552700"/>
            <a:ext cx="2066925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索引打分</a:t>
            </a:r>
          </a:p>
          <a:p>
            <a: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选择历史位置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184084-C9D2-416E-ACC6-D1F7C459D3AB}"/>
              </a:ext>
            </a:extLst>
          </p:cNvPr>
          <p:cNvSpPr>
            <a:spLocks noGrp="1"/>
          </p:cNvSpPr>
          <p:nvPr/>
        </p:nvSpPr>
        <p:spPr>
          <a:xfrm>
            <a:off x="8963025" y="2857500"/>
            <a:ext cx="5048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B96492-E493-4270-AEA2-AD63FAC8488F}"/>
              </a:ext>
            </a:extLst>
          </p:cNvPr>
          <p:cNvSpPr>
            <a:spLocks noGrp="1"/>
          </p:cNvSpPr>
          <p:nvPr/>
        </p:nvSpPr>
        <p:spPr>
          <a:xfrm>
            <a:off x="9525000" y="2476500"/>
            <a:ext cx="2333625" cy="1238250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F68B59-A34A-4740-96E7-FDFF851C20D9}"/>
              </a:ext>
            </a:extLst>
          </p:cNvPr>
          <p:cNvSpPr>
            <a:spLocks noGrp="1"/>
          </p:cNvSpPr>
          <p:nvPr/>
        </p:nvSpPr>
        <p:spPr>
          <a:xfrm>
            <a:off x="9658350" y="2552700"/>
            <a:ext cx="2066925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读选中 KV</a:t>
            </a:r>
          </a:p>
          <a:p>
            <a: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+ 本层 SWA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359EE1-CA62-431D-A1AC-EDE1DCACDD34}"/>
              </a:ext>
            </a:extLst>
          </p:cNvPr>
          <p:cNvSpPr>
            <a:spLocks noGrp="1"/>
          </p:cNvSpPr>
          <p:nvPr/>
        </p:nvSpPr>
        <p:spPr>
          <a:xfrm>
            <a:off x="11915775" y="2857500"/>
            <a:ext cx="5048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5D95D6-89BA-4612-8B62-874C18BCACCB}"/>
              </a:ext>
            </a:extLst>
          </p:cNvPr>
          <p:cNvSpPr>
            <a:spLocks noGrp="1"/>
          </p:cNvSpPr>
          <p:nvPr/>
        </p:nvSpPr>
        <p:spPr>
          <a:xfrm>
            <a:off x="12477750" y="2476500"/>
            <a:ext cx="2095500" cy="1238250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86E637-A760-4A95-AA2D-14A4C185B8E2}"/>
              </a:ext>
            </a:extLst>
          </p:cNvPr>
          <p:cNvSpPr>
            <a:spLocks noGrp="1"/>
          </p:cNvSpPr>
          <p:nvPr/>
        </p:nvSpPr>
        <p:spPr>
          <a:xfrm>
            <a:off x="12611100" y="2552700"/>
            <a:ext cx="18288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输出变换</a:t>
            </a:r>
          </a:p>
          <a:p>
            <a:pPr algn="ctr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与投影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A0397F18-03B3-4371-8CBB-977C96EAFE1E}"/>
              </a:ext>
            </a:extLst>
          </p:cNvPr>
          <p:cNvGraphicFramePr/>
          <p:nvPr/>
        </p:nvGraphicFramePr>
        <p:xfrm>
          <a:off x="666750" y="4210050"/>
          <a:ext cx="13906500" cy="2543176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794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DeepInfer 的动作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迁移与比较时要看什么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同输入投影合并；Norm</a:t>
                      </a:r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/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RoPE</a:t>
                      </a:r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/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量化</a:t>
                      </a:r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/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写缓存局部融合</a:t>
                      </a:r>
                      <a:endParaRPr sz="2025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CED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后段输入不同，合并条件不能机械套用</a:t>
                      </a:r>
                      <a:endParaRPr sz="2025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复用</a:t>
                      </a:r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global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KV、索引</a:t>
                      </a:r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K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及选中位置</a:t>
                      </a:r>
                      <a:endParaRPr sz="2025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索引 score 与 Top-K 在调用层仍分开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GPU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条件满足时接入</a:t>
                      </a:r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FlashMLA</a:t>
                      </a:r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大融合</a:t>
                      </a:r>
                      <a:endParaRPr sz="2025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A5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有不同分段与局部融合；输出</a:t>
                      </a:r>
                      <a:r>
                        <a:rPr sz="2025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GEMM </a:t>
                      </a:r>
                      <a:r>
                        <a:rPr sz="2025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不自动包含</a:t>
                      </a:r>
                      <a:endParaRPr sz="2025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86725A1B-4971-418B-826B-298262E34165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4A161F-CF12-4C68-A0A4-4C42BC85BDBB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迁移完整</a:t>
            </a:r>
            <a:r>
              <a:rPr sz="2175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 Attention </a:t>
            </a:r>
            <a:r>
              <a:rPr sz="2175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执行链并测净收益</a:t>
            </a:r>
            <a:endParaRPr sz="2175" b="1" dirty="0">
              <a:solidFill>
                <a:srgbClr val="123B52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287691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C73B5A24-4D2D-4DB2-9832-D0F974731CFE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算子｜DeepInfer 优化相邻子层边界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4674D3-642F-443C-B056-6E8C6AECAB40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mHC：四路残差，混合成一次子层输入，再回写四路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F920E2-3601-46A8-81C8-782F55242B42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四路是中间表示的残差流，不是四个 attention heads，也不是 Attention 计算四遍。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BE2027-927D-4CED-8406-C31EB2988EAA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C3E379-88F5-4011-A426-784579FA526A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来源：S24、S25、S26、S29、团队 A5 截图；详见本页备注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7501C5-1DA3-46E7-8636-F81F0F7E38CB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09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618AFD-3722-4FE4-A02F-161902AF234C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2857500" cy="1047750"/>
          </a:xfrm>
          <a:prstGeom prst="rect">
            <a:avLst/>
          </a:prstGeom>
          <a:solidFill>
            <a:srgbClr val="E1F0F3"/>
          </a:solidFill>
          <a:ln w="14288">
            <a:solidFill>
              <a:srgbClr val="CAD9D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0CC691-EE39-4DD1-AA08-4379D769A164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4 路残差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x₁、x₂、x₃、x₄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A57599-61B7-4867-9D2A-1E688BF6615D}"/>
              </a:ext>
            </a:extLst>
          </p:cNvPr>
          <p:cNvSpPr>
            <a:spLocks noGrp="1"/>
          </p:cNvSpPr>
          <p:nvPr/>
        </p:nvSpPr>
        <p:spPr>
          <a:xfrm>
            <a:off x="3581400" y="2886075"/>
            <a:ext cx="66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2BB2F0-05B2-4214-A4D3-09AEEFACB56B}"/>
              </a:ext>
            </a:extLst>
          </p:cNvPr>
          <p:cNvSpPr>
            <a:spLocks noGrp="1"/>
          </p:cNvSpPr>
          <p:nvPr/>
        </p:nvSpPr>
        <p:spPr>
          <a:xfrm>
            <a:off x="4333875" y="2590800"/>
            <a:ext cx="3238500" cy="1047750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B39768-6C67-46A7-AC0A-7416106B011E}"/>
              </a:ext>
            </a:extLst>
          </p:cNvPr>
          <p:cNvSpPr>
            <a:spLocks noGrp="1"/>
          </p:cNvSpPr>
          <p:nvPr/>
        </p:nvSpPr>
        <p:spPr>
          <a:xfrm>
            <a:off x="4467225" y="2667000"/>
            <a:ext cx="2971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Pre 加权聚合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得到一个子层输入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1F99CA-A540-4A9B-B676-FDE7770D6B94}"/>
              </a:ext>
            </a:extLst>
          </p:cNvPr>
          <p:cNvSpPr>
            <a:spLocks noGrp="1"/>
          </p:cNvSpPr>
          <p:nvPr/>
        </p:nvSpPr>
        <p:spPr>
          <a:xfrm>
            <a:off x="7639050" y="2886075"/>
            <a:ext cx="66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A4E9B1-27D1-4B75-A846-3956C7958924}"/>
              </a:ext>
            </a:extLst>
          </p:cNvPr>
          <p:cNvSpPr>
            <a:spLocks noGrp="1"/>
          </p:cNvSpPr>
          <p:nvPr/>
        </p:nvSpPr>
        <p:spPr>
          <a:xfrm>
            <a:off x="8391525" y="2590800"/>
            <a:ext cx="2809875" cy="1047750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C3B524-E948-4431-8399-1787D1189A32}"/>
              </a:ext>
            </a:extLst>
          </p:cNvPr>
          <p:cNvSpPr>
            <a:spLocks noGrp="1"/>
          </p:cNvSpPr>
          <p:nvPr/>
        </p:nvSpPr>
        <p:spPr>
          <a:xfrm>
            <a:off x="8524875" y="2667000"/>
            <a:ext cx="254317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一次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Attention 或 MoE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864DD3-6DB1-41E4-A26A-2DC029749A47}"/>
              </a:ext>
            </a:extLst>
          </p:cNvPr>
          <p:cNvSpPr>
            <a:spLocks noGrp="1"/>
          </p:cNvSpPr>
          <p:nvPr/>
        </p:nvSpPr>
        <p:spPr>
          <a:xfrm>
            <a:off x="11268075" y="2886075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5439DA-D609-4903-A115-7E8BA73BDD9D}"/>
              </a:ext>
            </a:extLst>
          </p:cNvPr>
          <p:cNvSpPr>
            <a:spLocks noGrp="1"/>
          </p:cNvSpPr>
          <p:nvPr/>
        </p:nvSpPr>
        <p:spPr>
          <a:xfrm>
            <a:off x="11953875" y="2590800"/>
            <a:ext cx="2619375" cy="1047750"/>
          </a:xfrm>
          <a:prstGeom prst="rect">
            <a:avLst/>
          </a:prstGeom>
          <a:solidFill>
            <a:srgbClr val="E1F0F3"/>
          </a:solidFill>
          <a:ln w="14288">
            <a:solidFill>
              <a:srgbClr val="CAD9DF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E07167-D5F1-4A18-83E5-E0EE8C9E014F}"/>
              </a:ext>
            </a:extLst>
          </p:cNvPr>
          <p:cNvSpPr>
            <a:spLocks noGrp="1"/>
          </p:cNvSpPr>
          <p:nvPr/>
        </p:nvSpPr>
        <p:spPr>
          <a:xfrm>
            <a:off x="12087225" y="2667000"/>
            <a:ext cx="235267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Post 混合与回写</a:t>
            </a:r>
          </a:p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形成新的 4 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8C4A19-1D77-4197-85EF-A53A8DB932FB}"/>
              </a:ext>
            </a:extLst>
          </p:cNvPr>
          <p:cNvSpPr>
            <a:spLocks noGrp="1"/>
          </p:cNvSpPr>
          <p:nvPr/>
        </p:nvSpPr>
        <p:spPr>
          <a:xfrm>
            <a:off x="666750" y="3990975"/>
            <a:ext cx="139065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残差旁路也参与混合，子层结果按权重分配回各路；不是简单“同一结果等量加四次”。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13E6B1-F986-4DFB-8B9D-C696DBD16C36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6619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DeepInfer 做了什么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42CCD31-7130-43AA-ACAA-D1B2F0BB5876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661987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延迟 Post，衔接下一子层 Pre；在合适边界减少中间读写和格式转换。GPU 有条件大融合，A5 为局部融合。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27DEA4-BAD2-40D2-A0BA-7E773AE097AD}"/>
              </a:ext>
            </a:extLst>
          </p:cNvPr>
          <p:cNvSpPr>
            <a:spLocks noGrp="1"/>
          </p:cNvSpPr>
          <p:nvPr/>
        </p:nvSpPr>
        <p:spPr>
          <a:xfrm>
            <a:off x="7953375" y="4953000"/>
            <a:ext cx="6619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对 Ascend 的含义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4554AD-0149-44E4-A847-3D8AD4FA8655}"/>
              </a:ext>
            </a:extLst>
          </p:cNvPr>
          <p:cNvSpPr>
            <a:spLocks noGrp="1"/>
          </p:cNvSpPr>
          <p:nvPr/>
        </p:nvSpPr>
        <p:spPr>
          <a:xfrm>
            <a:off x="7953375" y="5476875"/>
            <a:ext cx="661987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看完整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Post–Pre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边界，而非单个名字。内部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A5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中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vLLM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-Ascend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的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mHC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Pre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已更快</a:t>
            </a:r>
            <a:endParaRPr sz="2175" b="0" dirty="0">
              <a:solidFill>
                <a:srgbClr val="192F3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657EB4-4E7F-4E24-B0D5-68BA7D713197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65F920-5263-42B3-A0CC-5F4A82B13C20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四路残差属于模型收益；引擎比较的是相同语义下的执行与搬运成本</a:t>
            </a:r>
            <a:r>
              <a:rPr sz="2175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22630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8B9E0B-258A-4D99-89E4-AF33C315C8DF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算子｜DeepInfer 接入外部融合库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A52FEB-DBE9-454A-9684-0AADB3879CC1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MegaMoE：把专家通信和计算连接起来，减少空转与搬运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32C174-C59C-4F77-B68B-D34A030265BC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路由先选择逻辑专家；随后按映射送到物理专家。MegaMoE 不等于改变模型的专家选择。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88CC0A-89CE-49D5-AF2B-95EBD9814BFC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AC02E9-B27F-4F03-B8E2-CCC85672935C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来源：S08、S30、S54；详见本页备注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8B9992-82EE-483D-AB6E-1AA6F2B887A3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CB6024-74BA-4886-93E6-742B9E0FF793}"/>
              </a:ext>
            </a:extLst>
          </p:cNvPr>
          <p:cNvSpPr>
            <a:spLocks noGrp="1"/>
          </p:cNvSpPr>
          <p:nvPr/>
        </p:nvSpPr>
        <p:spPr>
          <a:xfrm>
            <a:off x="666750" y="2771775"/>
            <a:ext cx="2333625" cy="1000125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B95B1C-8322-4E0F-AF49-9EE26FAA8F39}"/>
              </a:ext>
            </a:extLst>
          </p:cNvPr>
          <p:cNvSpPr>
            <a:spLocks noGrp="1"/>
          </p:cNvSpPr>
          <p:nvPr/>
        </p:nvSpPr>
        <p:spPr>
          <a:xfrm>
            <a:off x="800100" y="2847975"/>
            <a:ext cx="206692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Router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选择专家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001A54-11D3-42E6-B51E-B1E86AD8D269}"/>
              </a:ext>
            </a:extLst>
          </p:cNvPr>
          <p:cNvSpPr>
            <a:spLocks noGrp="1"/>
          </p:cNvSpPr>
          <p:nvPr/>
        </p:nvSpPr>
        <p:spPr>
          <a:xfrm>
            <a:off x="3048000" y="3076575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400E6E-B662-4492-9216-22DD29335426}"/>
              </a:ext>
            </a:extLst>
          </p:cNvPr>
          <p:cNvSpPr>
            <a:spLocks noGrp="1"/>
          </p:cNvSpPr>
          <p:nvPr/>
        </p:nvSpPr>
        <p:spPr>
          <a:xfrm>
            <a:off x="3714750" y="2295525"/>
            <a:ext cx="10858500" cy="2295525"/>
          </a:xfrm>
          <a:prstGeom prst="rect">
            <a:avLst/>
          </a:prstGeom>
          <a:solidFill>
            <a:srgbClr val="EDF6F5"/>
          </a:solidFill>
          <a:ln w="19050">
            <a:solidFill>
              <a:srgbClr val="008C95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3E3E4A-9CB7-4F9F-907D-218EF89E4890}"/>
              </a:ext>
            </a:extLst>
          </p:cNvPr>
          <p:cNvSpPr>
            <a:spLocks noGrp="1"/>
          </p:cNvSpPr>
          <p:nvPr/>
        </p:nvSpPr>
        <p:spPr>
          <a:xfrm>
            <a:off x="3962400" y="240030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MegaMoE 对应的执行范围（库级路径）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517AFF-0FCE-4368-A143-8732B77A07F7}"/>
              </a:ext>
            </a:extLst>
          </p:cNvPr>
          <p:cNvSpPr>
            <a:spLocks noGrp="1"/>
          </p:cNvSpPr>
          <p:nvPr/>
        </p:nvSpPr>
        <p:spPr>
          <a:xfrm>
            <a:off x="3952875" y="3133725"/>
            <a:ext cx="2095500" cy="1000125"/>
          </a:xfrm>
          <a:prstGeom prst="rect">
            <a:avLst/>
          </a:prstGeom>
          <a:solidFill>
            <a:srgbClr val="FFFFFF"/>
          </a:solidFill>
          <a:ln w="14288">
            <a:solidFill>
              <a:srgbClr val="CAD9D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64A4A7-FAEE-448F-8607-9CD68E22824C}"/>
              </a:ext>
            </a:extLst>
          </p:cNvPr>
          <p:cNvSpPr>
            <a:spLocks noGrp="1"/>
          </p:cNvSpPr>
          <p:nvPr/>
        </p:nvSpPr>
        <p:spPr>
          <a:xfrm>
            <a:off x="4086225" y="3209925"/>
            <a:ext cx="18288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Dispatch</a:t>
            </a:r>
          </a:p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分发 token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FDB34E-7091-4F16-9DDE-7C4A7CC55554}"/>
              </a:ext>
            </a:extLst>
          </p:cNvPr>
          <p:cNvSpPr>
            <a:spLocks noGrp="1"/>
          </p:cNvSpPr>
          <p:nvPr/>
        </p:nvSpPr>
        <p:spPr>
          <a:xfrm>
            <a:off x="6076950" y="3409950"/>
            <a:ext cx="4953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E0211A-86B2-4096-A899-EB60A14AE669}"/>
              </a:ext>
            </a:extLst>
          </p:cNvPr>
          <p:cNvSpPr>
            <a:spLocks noGrp="1"/>
          </p:cNvSpPr>
          <p:nvPr/>
        </p:nvSpPr>
        <p:spPr>
          <a:xfrm>
            <a:off x="6619875" y="3133725"/>
            <a:ext cx="2381250" cy="1000125"/>
          </a:xfrm>
          <a:prstGeom prst="rect">
            <a:avLst/>
          </a:prstGeom>
          <a:solidFill>
            <a:srgbClr val="FFFFFF"/>
          </a:solidFill>
          <a:ln w="14288">
            <a:solidFill>
              <a:srgbClr val="CAD9DF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769C88-3E12-43B9-865A-04427F870CD0}"/>
              </a:ext>
            </a:extLst>
          </p:cNvPr>
          <p:cNvSpPr>
            <a:spLocks noGrp="1"/>
          </p:cNvSpPr>
          <p:nvPr/>
        </p:nvSpPr>
        <p:spPr>
          <a:xfrm>
            <a:off x="6753225" y="3209925"/>
            <a:ext cx="211455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专家 GEMM</a:t>
            </a:r>
          </a:p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激活 → 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A700C1-082F-4749-BE52-D6030B2F3122}"/>
              </a:ext>
            </a:extLst>
          </p:cNvPr>
          <p:cNvSpPr>
            <a:spLocks noGrp="1"/>
          </p:cNvSpPr>
          <p:nvPr/>
        </p:nvSpPr>
        <p:spPr>
          <a:xfrm>
            <a:off x="9029700" y="3409950"/>
            <a:ext cx="4953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BBE517-BEF7-493C-9814-56452E36CB5D}"/>
              </a:ext>
            </a:extLst>
          </p:cNvPr>
          <p:cNvSpPr>
            <a:spLocks noGrp="1"/>
          </p:cNvSpPr>
          <p:nvPr/>
        </p:nvSpPr>
        <p:spPr>
          <a:xfrm>
            <a:off x="9572625" y="3133725"/>
            <a:ext cx="1952625" cy="1000125"/>
          </a:xfrm>
          <a:prstGeom prst="rect">
            <a:avLst/>
          </a:prstGeom>
          <a:solidFill>
            <a:srgbClr val="FFFFFF"/>
          </a:solidFill>
          <a:ln w="14288">
            <a:solidFill>
              <a:srgbClr val="CAD9DF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620166-1D72-4F4F-B92C-D2353D58E0A9}"/>
              </a:ext>
            </a:extLst>
          </p:cNvPr>
          <p:cNvSpPr>
            <a:spLocks noGrp="1"/>
          </p:cNvSpPr>
          <p:nvPr/>
        </p:nvSpPr>
        <p:spPr>
          <a:xfrm>
            <a:off x="9705975" y="3209925"/>
            <a:ext cx="168592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Combine</a:t>
            </a:r>
          </a:p>
          <a:p>
            <a:pPr algn="ctr">
              <a:defRPr sz="202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合并结果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050ED3-8336-4028-A71D-48F9EF40BA07}"/>
              </a:ext>
            </a:extLst>
          </p:cNvPr>
          <p:cNvSpPr>
            <a:spLocks noGrp="1"/>
          </p:cNvSpPr>
          <p:nvPr/>
        </p:nvSpPr>
        <p:spPr>
          <a:xfrm>
            <a:off x="11811000" y="3133725"/>
            <a:ext cx="2524125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共享专家可纳入</a:t>
            </a:r>
          </a:p>
          <a:p>
            <a: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相应执行路径</a:t>
            </a:r>
          </a:p>
          <a:p>
            <a:pPr algn="ctr">
              <a:defRPr sz="1875" b="0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（并行支路）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495C0B7-5B90-47FA-8BE1-6BA6F5B1369D}"/>
              </a:ext>
            </a:extLst>
          </p:cNvPr>
          <p:cNvSpPr>
            <a:spLocks noGrp="1"/>
          </p:cNvSpPr>
          <p:nvPr/>
        </p:nvSpPr>
        <p:spPr>
          <a:xfrm>
            <a:off x="666750" y="5076825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lang="en-US" altLang="zh-CN" dirty="0" err="1"/>
              <a:t>Vllm</a:t>
            </a:r>
            <a:r>
              <a:rPr lang="en-US" altLang="zh-CN" dirty="0"/>
              <a:t>-ascend</a:t>
            </a:r>
            <a:r>
              <a:rPr lang="zh-CN" altLang="en-US" dirty="0"/>
              <a:t>也有类似实现</a:t>
            </a:r>
            <a:endParaRPr sz="2400" b="1" dirty="0">
              <a:solidFill>
                <a:srgbClr val="123B52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5B65120-1597-4B40-8874-0D083328C463}"/>
              </a:ext>
            </a:extLst>
          </p:cNvPr>
          <p:cNvSpPr>
            <a:spLocks noGrp="1"/>
          </p:cNvSpPr>
          <p:nvPr/>
        </p:nvSpPr>
        <p:spPr>
          <a:xfrm>
            <a:off x="666750" y="5764240"/>
            <a:ext cx="11731894" cy="5905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lang="zh-CN" altLang="en-US"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主模型</a:t>
            </a:r>
            <a:r>
              <a:rPr lang="en-US" altLang="zh-CN"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deepinfer</a:t>
            </a:r>
            <a:r>
              <a:rPr lang="zh-CN" altLang="en-US"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实现更优，草稿模型</a:t>
            </a:r>
            <a:r>
              <a:rPr lang="en-US" altLang="zh-CN"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ascend</a:t>
            </a:r>
            <a:r>
              <a:rPr lang="zh-CN" altLang="en-US"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实现更优</a:t>
            </a:r>
            <a:endParaRPr sz="2175" b="0" dirty="0">
              <a:solidFill>
                <a:srgbClr val="192F3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6550E0-6792-4A52-A70E-BE406B540A6E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841AC1B-6866-408F-81A2-1CFA34211FE4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主仓库可证明调用与集成边界；内部是否单</a:t>
            </a:r>
            <a:r>
              <a:rPr sz="2175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2175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kernel、通信重叠多少，要靠</a:t>
            </a:r>
            <a:r>
              <a:rPr sz="2175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 trace </a:t>
            </a:r>
            <a:r>
              <a:rPr sz="2175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验证</a:t>
            </a:r>
            <a:r>
              <a:rPr sz="2175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6780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E12EAA67-3CD7-44B4-9F0C-2B273E2143C7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模型 + 框架｜DeepInfer 的验证预算与状态管理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466DD0-2DB7-4CD1-9FC4-92D668CE614B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DSpark：优化的是每轮实际接受量，而非草稿越长越好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732FA6-1ECE-4634-BCC1-61204B7E9A23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模型提供草稿和置信度，引擎决定验证多少、如何接受与回退。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CEFDD8-5E0F-4827-8E99-7FDE1B7BD5FC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13DFAA-B972-4422-9C62-0034ABF2B9B1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来源：S02、S12、S31、S53；详见本页备注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AEEEBE-E1A2-489E-A732-6D8876D86EF1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6667F5-DFBC-4C4E-8E88-1DAA8B5E52E8}"/>
              </a:ext>
            </a:extLst>
          </p:cNvPr>
          <p:cNvSpPr>
            <a:spLocks noGrp="1"/>
          </p:cNvSpPr>
          <p:nvPr/>
        </p:nvSpPr>
        <p:spPr>
          <a:xfrm>
            <a:off x="666750" y="2543175"/>
            <a:ext cx="3000375" cy="1285875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16370A-0ECA-4C2E-8EA6-83920117D98C}"/>
              </a:ext>
            </a:extLst>
          </p:cNvPr>
          <p:cNvSpPr>
            <a:spLocks noGrp="1"/>
          </p:cNvSpPr>
          <p:nvPr/>
        </p:nvSpPr>
        <p:spPr>
          <a:xfrm>
            <a:off x="800100" y="2619375"/>
            <a:ext cx="2733675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主模型特征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→ 草稿与置信度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F2244A-B3AC-435B-AC46-D35B3D1F96EA}"/>
              </a:ext>
            </a:extLst>
          </p:cNvPr>
          <p:cNvSpPr>
            <a:spLocks noGrp="1"/>
          </p:cNvSpPr>
          <p:nvPr/>
        </p:nvSpPr>
        <p:spPr>
          <a:xfrm>
            <a:off x="3705225" y="2943225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014237-D192-407D-8C05-4FBFA8702F9B}"/>
              </a:ext>
            </a:extLst>
          </p:cNvPr>
          <p:cNvSpPr>
            <a:spLocks noGrp="1"/>
          </p:cNvSpPr>
          <p:nvPr/>
        </p:nvSpPr>
        <p:spPr>
          <a:xfrm>
            <a:off x="4381500" y="2543175"/>
            <a:ext cx="3000375" cy="1285875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96F75-B33C-43D7-BEA1-9E49A45AA932}"/>
              </a:ext>
            </a:extLst>
          </p:cNvPr>
          <p:cNvSpPr>
            <a:spLocks noGrp="1"/>
          </p:cNvSpPr>
          <p:nvPr/>
        </p:nvSpPr>
        <p:spPr>
          <a:xfrm>
            <a:off x="4514850" y="2619375"/>
            <a:ext cx="2733675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总验证预算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→ 每请求验证长度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437F0C-1020-4161-A80A-0CE443C454AB}"/>
              </a:ext>
            </a:extLst>
          </p:cNvPr>
          <p:cNvSpPr>
            <a:spLocks noGrp="1"/>
          </p:cNvSpPr>
          <p:nvPr/>
        </p:nvSpPr>
        <p:spPr>
          <a:xfrm>
            <a:off x="7419975" y="2943225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766171-92CF-4064-A4A8-2B2E12210534}"/>
              </a:ext>
            </a:extLst>
          </p:cNvPr>
          <p:cNvSpPr>
            <a:spLocks noGrp="1"/>
          </p:cNvSpPr>
          <p:nvPr/>
        </p:nvSpPr>
        <p:spPr>
          <a:xfrm>
            <a:off x="8096250" y="2543175"/>
            <a:ext cx="3000375" cy="1285875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C4E95C-8FCA-43F6-9987-0763A013E52B}"/>
              </a:ext>
            </a:extLst>
          </p:cNvPr>
          <p:cNvSpPr>
            <a:spLocks noGrp="1"/>
          </p:cNvSpPr>
          <p:nvPr/>
        </p:nvSpPr>
        <p:spPr>
          <a:xfrm>
            <a:off x="8229600" y="2619375"/>
            <a:ext cx="2733675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主模型验证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→ 接受 / 拒绝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4575B8-5142-4E62-AEA3-817FFB0D093C}"/>
              </a:ext>
            </a:extLst>
          </p:cNvPr>
          <p:cNvSpPr>
            <a:spLocks noGrp="1"/>
          </p:cNvSpPr>
          <p:nvPr/>
        </p:nvSpPr>
        <p:spPr>
          <a:xfrm>
            <a:off x="11134725" y="2943225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7FD4A8-2917-4091-812F-B70A07E7C830}"/>
              </a:ext>
            </a:extLst>
          </p:cNvPr>
          <p:cNvSpPr>
            <a:spLocks noGrp="1"/>
          </p:cNvSpPr>
          <p:nvPr/>
        </p:nvSpPr>
        <p:spPr>
          <a:xfrm>
            <a:off x="11811000" y="2543175"/>
            <a:ext cx="2762250" cy="1285875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ACC66A-EEA7-409F-A076-30717F95753A}"/>
              </a:ext>
            </a:extLst>
          </p:cNvPr>
          <p:cNvSpPr>
            <a:spLocks noGrp="1"/>
          </p:cNvSpPr>
          <p:nvPr/>
        </p:nvSpPr>
        <p:spPr>
          <a:xfrm>
            <a:off x="11944350" y="2619375"/>
            <a:ext cx="2495550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提交与回退</a:t>
            </a:r>
          </a:p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→ 下一轮状态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6933E4-559F-43C8-A9D7-F532FA79B766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30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30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有效生成速度 ≈ 每轮实际接受 token 数 ÷ 整轮耗时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B935A32D-2F6F-4603-B2A5-C854F4BE783D}"/>
              </a:ext>
            </a:extLst>
          </p:cNvPr>
          <p:cNvGraphicFramePr/>
          <p:nvPr/>
        </p:nvGraphicFramePr>
        <p:xfrm>
          <a:off x="666750" y="5400675"/>
          <a:ext cx="13906500" cy="1504950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DeepInfer 执行特点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vLLM-Ascend 借鉴与验收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C++ 成本模型给总预算；设备侧分配变长验证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比较实际接受量、验证耗时与质量，区分静态 / 动态策略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预算与图档位、异步元数据、回退状态耦合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已有 DSpark 路径仍需组合验收；不能将单项收益相加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ABD80064-D027-4FDF-825A-9531AA92E584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903FB8-ABEB-479A-8B35-B52DC5E6A666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公开基准固定接受量的折算图，不能证明真实业务的接受率或动态策略收益相同。</a:t>
            </a:r>
          </a:p>
        </p:txBody>
      </p:sp>
    </p:spTree>
    <p:extLst>
      <p:ext uri="{BB962C8B-B14F-4D97-AF65-F5344CB8AC3E}">
        <p14:creationId xmlns:p14="http://schemas.microsoft.com/office/powerpoint/2010/main" val="249036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7F3ED96B-0D03-43D5-A150-8A93C9BAFFE7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框架｜DeepInfer 已开源策略与执行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6F7DA9-75E0-44DB-AF1E-F9684449D9E2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EPLB：热门专家增副本，减少最忙卡拖住整轮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F5DF4A-FDD1-45DA-8D6C-F8E781DF768F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它平衡单个实例内的专家负载；跨服务实例的请求路由属于另一层系统。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C69B92-C467-4B1B-AD13-C3C3767382D3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E615AC-6A98-4694-80BE-003F5F2CE494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来源：S09、S44、S45、S52；详见本页备注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D64E0B-C757-4CFF-8470-2865AEE80115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2507FD-0B2B-4FD7-ABC2-95282AE40A22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1390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四卡、六个逻辑专家、八个物理槽位；数字为 token 任务量示意，请求分布不变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60891D-9B16-4D81-913B-90C6778C5D6A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调整前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75E9E2-42BB-4776-9BD6-B970771BB37B}"/>
              </a:ext>
            </a:extLst>
          </p:cNvPr>
          <p:cNvSpPr>
            <a:spLocks noGrp="1"/>
          </p:cNvSpPr>
          <p:nvPr/>
        </p:nvSpPr>
        <p:spPr>
          <a:xfrm>
            <a:off x="666750" y="441960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2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调整后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A3DF4C-151C-4EFB-8654-2CF56F4A153D}"/>
              </a:ext>
            </a:extLst>
          </p:cNvPr>
          <p:cNvSpPr>
            <a:spLocks noGrp="1"/>
          </p:cNvSpPr>
          <p:nvPr/>
        </p:nvSpPr>
        <p:spPr>
          <a:xfrm>
            <a:off x="2476500" y="2781300"/>
            <a:ext cx="2857500" cy="981075"/>
          </a:xfrm>
          <a:prstGeom prst="rect">
            <a:avLst/>
          </a:prstGeom>
          <a:solidFill>
            <a:srgbClr val="FBE8DC"/>
          </a:solidFill>
          <a:ln w="14288">
            <a:solidFill>
              <a:srgbClr val="CAD9D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74831D-6AAF-4161-8AFF-3273D6FC6379}"/>
              </a:ext>
            </a:extLst>
          </p:cNvPr>
          <p:cNvSpPr>
            <a:spLocks noGrp="1"/>
          </p:cNvSpPr>
          <p:nvPr/>
        </p:nvSpPr>
        <p:spPr>
          <a:xfrm>
            <a:off x="2609850" y="2857500"/>
            <a:ext cx="25908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卡 1：A 80 + B 80</a:t>
            </a:r>
          </a:p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负载 160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B3D184-F508-4F5B-930A-F1DAF7649B07}"/>
              </a:ext>
            </a:extLst>
          </p:cNvPr>
          <p:cNvSpPr>
            <a:spLocks noGrp="1"/>
          </p:cNvSpPr>
          <p:nvPr/>
        </p:nvSpPr>
        <p:spPr>
          <a:xfrm>
            <a:off x="2476500" y="4286250"/>
            <a:ext cx="2857500" cy="981075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26D46D-243F-45D6-9ABB-EFA23F48122D}"/>
              </a:ext>
            </a:extLst>
          </p:cNvPr>
          <p:cNvSpPr>
            <a:spLocks noGrp="1"/>
          </p:cNvSpPr>
          <p:nvPr/>
        </p:nvSpPr>
        <p:spPr>
          <a:xfrm>
            <a:off x="2609850" y="4362450"/>
            <a:ext cx="25908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卡 1：A 40 + B 40</a:t>
            </a:r>
          </a:p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负载 80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15992C-5033-41A8-9476-FD58D62E7A16}"/>
              </a:ext>
            </a:extLst>
          </p:cNvPr>
          <p:cNvSpPr>
            <a:spLocks noGrp="1"/>
          </p:cNvSpPr>
          <p:nvPr/>
        </p:nvSpPr>
        <p:spPr>
          <a:xfrm>
            <a:off x="5524500" y="2781300"/>
            <a:ext cx="2857500" cy="981075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BC9BC72-EC80-427D-899B-ADB7DA059AAB}"/>
              </a:ext>
            </a:extLst>
          </p:cNvPr>
          <p:cNvSpPr>
            <a:spLocks noGrp="1"/>
          </p:cNvSpPr>
          <p:nvPr/>
        </p:nvSpPr>
        <p:spPr>
          <a:xfrm>
            <a:off x="5657850" y="2857500"/>
            <a:ext cx="25908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卡 2：两个空槽</a:t>
            </a:r>
          </a:p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负载 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08E712-6418-49CF-8823-52F248BDA412}"/>
              </a:ext>
            </a:extLst>
          </p:cNvPr>
          <p:cNvSpPr>
            <a:spLocks noGrp="1"/>
          </p:cNvSpPr>
          <p:nvPr/>
        </p:nvSpPr>
        <p:spPr>
          <a:xfrm>
            <a:off x="5524500" y="4286250"/>
            <a:ext cx="2857500" cy="981075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16F080-4C00-4B87-86F9-5F1686147796}"/>
              </a:ext>
            </a:extLst>
          </p:cNvPr>
          <p:cNvSpPr>
            <a:spLocks noGrp="1"/>
          </p:cNvSpPr>
          <p:nvPr/>
        </p:nvSpPr>
        <p:spPr>
          <a:xfrm>
            <a:off x="5657850" y="4362450"/>
            <a:ext cx="25908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卡 2：A 40 + B 40</a:t>
            </a:r>
          </a:p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负载 80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71228A-C2FA-4FC2-AE6F-C7E91F1D4F48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2857500" cy="981075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25F1AB-9639-497C-9A86-C237CAF6F9AD}"/>
              </a:ext>
            </a:extLst>
          </p:cNvPr>
          <p:cNvSpPr>
            <a:spLocks noGrp="1"/>
          </p:cNvSpPr>
          <p:nvPr/>
        </p:nvSpPr>
        <p:spPr>
          <a:xfrm>
            <a:off x="8705850" y="2857500"/>
            <a:ext cx="25908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卡 3：C 40 + D 40</a:t>
            </a:r>
          </a:p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负载 80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460EA7-4B0A-486E-A1D3-60322404BA28}"/>
              </a:ext>
            </a:extLst>
          </p:cNvPr>
          <p:cNvSpPr>
            <a:spLocks noGrp="1"/>
          </p:cNvSpPr>
          <p:nvPr/>
        </p:nvSpPr>
        <p:spPr>
          <a:xfrm>
            <a:off x="8572500" y="4286250"/>
            <a:ext cx="2857500" cy="981075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E2C3CF-FA94-4B72-B285-70F00F535A64}"/>
              </a:ext>
            </a:extLst>
          </p:cNvPr>
          <p:cNvSpPr>
            <a:spLocks noGrp="1"/>
          </p:cNvSpPr>
          <p:nvPr/>
        </p:nvSpPr>
        <p:spPr>
          <a:xfrm>
            <a:off x="8705850" y="4362450"/>
            <a:ext cx="25908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卡 3：C 40 + D 40</a:t>
            </a:r>
          </a:p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负载 80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D5F0E0-8158-46F9-A273-6269955831CE}"/>
              </a:ext>
            </a:extLst>
          </p:cNvPr>
          <p:cNvSpPr>
            <a:spLocks noGrp="1"/>
          </p:cNvSpPr>
          <p:nvPr/>
        </p:nvSpPr>
        <p:spPr>
          <a:xfrm>
            <a:off x="11620500" y="2781300"/>
            <a:ext cx="2857500" cy="981075"/>
          </a:xfrm>
          <a:prstGeom prst="rect">
            <a:avLst/>
          </a:prstGeom>
          <a:solidFill>
            <a:srgbClr val="EFF5F6"/>
          </a:solidFill>
          <a:ln w="14288">
            <a:solidFill>
              <a:srgbClr val="CAD9DF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4FD5F2-687B-4747-8A61-7A381780E1E1}"/>
              </a:ext>
            </a:extLst>
          </p:cNvPr>
          <p:cNvSpPr>
            <a:spLocks noGrp="1"/>
          </p:cNvSpPr>
          <p:nvPr/>
        </p:nvSpPr>
        <p:spPr>
          <a:xfrm>
            <a:off x="11753850" y="2857500"/>
            <a:ext cx="25908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卡 4：E 40 + F 40</a:t>
            </a:r>
          </a:p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负载 80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6A7692-8DCA-42D2-8BCE-39C351A8C17B}"/>
              </a:ext>
            </a:extLst>
          </p:cNvPr>
          <p:cNvSpPr>
            <a:spLocks noGrp="1"/>
          </p:cNvSpPr>
          <p:nvPr/>
        </p:nvSpPr>
        <p:spPr>
          <a:xfrm>
            <a:off x="11620500" y="4286250"/>
            <a:ext cx="2857500" cy="981075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997253-E54A-4A86-93F8-DC3C638C185C}"/>
              </a:ext>
            </a:extLst>
          </p:cNvPr>
          <p:cNvSpPr>
            <a:spLocks noGrp="1"/>
          </p:cNvSpPr>
          <p:nvPr/>
        </p:nvSpPr>
        <p:spPr>
          <a:xfrm>
            <a:off x="11753850" y="4362450"/>
            <a:ext cx="25908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卡 4：E 40 + F 40</a:t>
            </a:r>
          </a:p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负载 80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1000045-7B01-47F1-AC82-4C3DF7022554}"/>
              </a:ext>
            </a:extLst>
          </p:cNvPr>
          <p:cNvSpPr>
            <a:spLocks noGrp="1"/>
          </p:cNvSpPr>
          <p:nvPr/>
        </p:nvSpPr>
        <p:spPr>
          <a:xfrm>
            <a:off x="2476500" y="5562600"/>
            <a:ext cx="1209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复制热点 A / B，并分流到两卡；这是机制示意，不是 DeepInfer 实测加速比。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42E844-B41D-4BAA-8DFA-7A52FB94CAF7}"/>
              </a:ext>
            </a:extLst>
          </p:cNvPr>
          <p:cNvSpPr>
            <a:spLocks noGrp="1"/>
          </p:cNvSpPr>
          <p:nvPr/>
        </p:nvSpPr>
        <p:spPr>
          <a:xfrm>
            <a:off x="666750" y="6143625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DeepInfer 已开源跨步统计、布局决策与权重搬运；净收益需扣除迁移、通信与额外内存。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A7361F-43C9-4A7C-8C74-4FBE82E6B4A5}"/>
              </a:ext>
            </a:extLst>
          </p:cNvPr>
          <p:cNvSpPr>
            <a:spLocks noGrp="1"/>
          </p:cNvSpPr>
          <p:nvPr/>
        </p:nvSpPr>
        <p:spPr>
          <a:xfrm>
            <a:off x="666750" y="6667500"/>
            <a:ext cx="1390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Ascend 已有 EPLB：比较真实负载算法、低精度与 runner 组合，不重复建设功能名。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EA347D5-5E7F-48D4-9CFB-0B5FE85F53EA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84746D-B9E8-4A77-8C19-1D0F0BA6330F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强制均衡测试绕开真实热点，不能用来判断哪家的 EPLB 算法更有效。</a:t>
            </a:r>
          </a:p>
        </p:txBody>
      </p:sp>
    </p:spTree>
    <p:extLst>
      <p:ext uri="{BB962C8B-B14F-4D97-AF65-F5344CB8AC3E}">
        <p14:creationId xmlns:p14="http://schemas.microsoft.com/office/powerpoint/2010/main" val="940320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D1D173B6-F7D7-4563-9F52-72A367FA46DB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框架｜DeepInfer 优化主机关键路径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144B79-B8FD-4DD0-B430-4EE9DA1815A2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C++、异步和图执行，分别减少三类主机开销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D2320C-A69B-426E-83C8-089516FF54AA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C++ 让热路径更快；异步让工作重叠；图执行减少下发。以下为时序示意，非实测比例。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7C3A99-BC53-40CE-9BD8-264648B32B6C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F15C04-0C71-44BE-97BA-5D67E7E0D677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来源：S11、S12、S31、S51；详见本页备注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53D432-21DE-4F08-86F6-CA309C3FFB8E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356BB7-FBB9-4CCE-B6B4-1708CA45F223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串行示意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22DC64-735A-42C6-9850-57970298D813}"/>
              </a:ext>
            </a:extLst>
          </p:cNvPr>
          <p:cNvSpPr>
            <a:spLocks noGrp="1"/>
          </p:cNvSpPr>
          <p:nvPr/>
        </p:nvSpPr>
        <p:spPr>
          <a:xfrm>
            <a:off x="2857500" y="2238375"/>
            <a:ext cx="2667000" cy="742950"/>
          </a:xfrm>
          <a:prstGeom prst="rect">
            <a:avLst/>
          </a:prstGeom>
          <a:solidFill>
            <a:srgbClr val="E6EEF5"/>
          </a:solidFill>
          <a:ln w="14288">
            <a:solidFill>
              <a:srgbClr val="CAD9DF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C3C87B-1CEC-4902-A7A1-0841A2C9CA64}"/>
              </a:ext>
            </a:extLst>
          </p:cNvPr>
          <p:cNvSpPr>
            <a:spLocks noGrp="1"/>
          </p:cNvSpPr>
          <p:nvPr/>
        </p:nvSpPr>
        <p:spPr>
          <a:xfrm>
            <a:off x="2990850" y="2314575"/>
            <a:ext cx="24003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主机准备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C963D6-5C2B-44A7-BDFF-E064F2873822}"/>
              </a:ext>
            </a:extLst>
          </p:cNvPr>
          <p:cNvSpPr>
            <a:spLocks noGrp="1"/>
          </p:cNvSpPr>
          <p:nvPr/>
        </p:nvSpPr>
        <p:spPr>
          <a:xfrm>
            <a:off x="5524500" y="2238375"/>
            <a:ext cx="6477000" cy="742950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2D1D75-30BE-4B85-B7D9-6E6BF6E9F615}"/>
              </a:ext>
            </a:extLst>
          </p:cNvPr>
          <p:cNvSpPr>
            <a:spLocks noGrp="1"/>
          </p:cNvSpPr>
          <p:nvPr/>
        </p:nvSpPr>
        <p:spPr>
          <a:xfrm>
            <a:off x="5657850" y="2314575"/>
            <a:ext cx="62103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设备计算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E23B7F-79F2-44F0-B6DA-6CD0FF6E867B}"/>
              </a:ext>
            </a:extLst>
          </p:cNvPr>
          <p:cNvSpPr>
            <a:spLocks noGrp="1"/>
          </p:cNvSpPr>
          <p:nvPr/>
        </p:nvSpPr>
        <p:spPr>
          <a:xfrm>
            <a:off x="12001500" y="2238375"/>
            <a:ext cx="2571750" cy="742950"/>
          </a:xfrm>
          <a:prstGeom prst="rect">
            <a:avLst/>
          </a:prstGeom>
          <a:solidFill>
            <a:srgbClr val="E6EEF5"/>
          </a:solidFill>
          <a:ln w="14288">
            <a:solidFill>
              <a:srgbClr val="CAD9D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588C4D-A545-4107-9024-6B8C75918BD1}"/>
              </a:ext>
            </a:extLst>
          </p:cNvPr>
          <p:cNvSpPr>
            <a:spLocks noGrp="1"/>
          </p:cNvSpPr>
          <p:nvPr/>
        </p:nvSpPr>
        <p:spPr>
          <a:xfrm>
            <a:off x="12134850" y="2314575"/>
            <a:ext cx="23050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21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结果处理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2DA4E3-5303-4E98-B536-C315F7A482A5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异步示意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1BC6EC-C925-4476-AA55-760C40C22E5A}"/>
              </a:ext>
            </a:extLst>
          </p:cNvPr>
          <p:cNvSpPr>
            <a:spLocks noGrp="1"/>
          </p:cNvSpPr>
          <p:nvPr/>
        </p:nvSpPr>
        <p:spPr>
          <a:xfrm>
            <a:off x="1933575" y="4419600"/>
            <a:ext cx="809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设备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D3A6A6-1F83-4461-9391-915411F1E17F}"/>
              </a:ext>
            </a:extLst>
          </p:cNvPr>
          <p:cNvSpPr>
            <a:spLocks noGrp="1"/>
          </p:cNvSpPr>
          <p:nvPr/>
        </p:nvSpPr>
        <p:spPr>
          <a:xfrm>
            <a:off x="1933575" y="5305425"/>
            <a:ext cx="809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87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主机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3FC0C3-511E-4B91-821C-D58C03A7C049}"/>
              </a:ext>
            </a:extLst>
          </p:cNvPr>
          <p:cNvSpPr>
            <a:spLocks noGrp="1"/>
          </p:cNvSpPr>
          <p:nvPr/>
        </p:nvSpPr>
        <p:spPr>
          <a:xfrm>
            <a:off x="2857500" y="4238625"/>
            <a:ext cx="3714750" cy="714375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4536BE-0F30-42AD-AF6F-B0177EF67F50}"/>
              </a:ext>
            </a:extLst>
          </p:cNvPr>
          <p:cNvSpPr>
            <a:spLocks noGrp="1"/>
          </p:cNvSpPr>
          <p:nvPr/>
        </p:nvSpPr>
        <p:spPr>
          <a:xfrm>
            <a:off x="2990850" y="4314825"/>
            <a:ext cx="3448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第 1 轮设备计算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17208C-FAAA-414E-97EE-AC7113BB153B}"/>
              </a:ext>
            </a:extLst>
          </p:cNvPr>
          <p:cNvSpPr>
            <a:spLocks noGrp="1"/>
          </p:cNvSpPr>
          <p:nvPr/>
        </p:nvSpPr>
        <p:spPr>
          <a:xfrm>
            <a:off x="6715125" y="4238625"/>
            <a:ext cx="3714750" cy="714375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4E0F65-C04D-4310-8872-D7E8AFADBF00}"/>
              </a:ext>
            </a:extLst>
          </p:cNvPr>
          <p:cNvSpPr>
            <a:spLocks noGrp="1"/>
          </p:cNvSpPr>
          <p:nvPr/>
        </p:nvSpPr>
        <p:spPr>
          <a:xfrm>
            <a:off x="6848475" y="4314825"/>
            <a:ext cx="3448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第 2 轮设备计算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466E00E-EACE-4325-9E41-871F3AB9FB6F}"/>
              </a:ext>
            </a:extLst>
          </p:cNvPr>
          <p:cNvSpPr>
            <a:spLocks noGrp="1"/>
          </p:cNvSpPr>
          <p:nvPr/>
        </p:nvSpPr>
        <p:spPr>
          <a:xfrm>
            <a:off x="10572750" y="4238625"/>
            <a:ext cx="3714750" cy="714375"/>
          </a:xfrm>
          <a:prstGeom prst="rect">
            <a:avLst/>
          </a:prstGeom>
          <a:solidFill>
            <a:srgbClr val="DFF0F1"/>
          </a:solidFill>
          <a:ln w="14288">
            <a:solidFill>
              <a:srgbClr val="CAD9DF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4C0B46-5F7A-45C9-81BF-9429F24856FF}"/>
              </a:ext>
            </a:extLst>
          </p:cNvPr>
          <p:cNvSpPr>
            <a:spLocks noGrp="1"/>
          </p:cNvSpPr>
          <p:nvPr/>
        </p:nvSpPr>
        <p:spPr>
          <a:xfrm>
            <a:off x="10706100" y="4314825"/>
            <a:ext cx="3448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第 3 轮设备计算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172ED23-6D4D-4CBA-8DE9-9C0157B9A9EE}"/>
              </a:ext>
            </a:extLst>
          </p:cNvPr>
          <p:cNvSpPr>
            <a:spLocks noGrp="1"/>
          </p:cNvSpPr>
          <p:nvPr/>
        </p:nvSpPr>
        <p:spPr>
          <a:xfrm>
            <a:off x="2857500" y="5124450"/>
            <a:ext cx="2857500" cy="714375"/>
          </a:xfrm>
          <a:prstGeom prst="rect">
            <a:avLst/>
          </a:prstGeom>
          <a:solidFill>
            <a:srgbClr val="E6EEF5"/>
          </a:solidFill>
          <a:ln w="14288">
            <a:solidFill>
              <a:srgbClr val="CAD9DF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57BC08E-C4B6-4C1B-AFD3-82CB21D1C5D1}"/>
              </a:ext>
            </a:extLst>
          </p:cNvPr>
          <p:cNvSpPr>
            <a:spLocks noGrp="1"/>
          </p:cNvSpPr>
          <p:nvPr/>
        </p:nvSpPr>
        <p:spPr>
          <a:xfrm>
            <a:off x="2990850" y="5200650"/>
            <a:ext cx="25908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前轮处理 / 后轮准备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6F2B24-8C02-4E24-9002-A2AE371C118D}"/>
              </a:ext>
            </a:extLst>
          </p:cNvPr>
          <p:cNvSpPr>
            <a:spLocks noGrp="1"/>
          </p:cNvSpPr>
          <p:nvPr/>
        </p:nvSpPr>
        <p:spPr>
          <a:xfrm>
            <a:off x="6715125" y="5124450"/>
            <a:ext cx="2857500" cy="714375"/>
          </a:xfrm>
          <a:prstGeom prst="rect">
            <a:avLst/>
          </a:prstGeom>
          <a:solidFill>
            <a:srgbClr val="E6EEF5"/>
          </a:solidFill>
          <a:ln w="14288">
            <a:solidFill>
              <a:srgbClr val="CAD9D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1099C9-FB6E-498D-8FF1-0D0CF96B7655}"/>
              </a:ext>
            </a:extLst>
          </p:cNvPr>
          <p:cNvSpPr>
            <a:spLocks noGrp="1"/>
          </p:cNvSpPr>
          <p:nvPr/>
        </p:nvSpPr>
        <p:spPr>
          <a:xfrm>
            <a:off x="6848475" y="5200650"/>
            <a:ext cx="25908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前轮处理 / 后轮准备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FEE66E2-F3C9-49EB-8A1C-BDA806CC8C61}"/>
              </a:ext>
            </a:extLst>
          </p:cNvPr>
          <p:cNvSpPr>
            <a:spLocks noGrp="1"/>
          </p:cNvSpPr>
          <p:nvPr/>
        </p:nvSpPr>
        <p:spPr>
          <a:xfrm>
            <a:off x="10572750" y="5124450"/>
            <a:ext cx="2857500" cy="714375"/>
          </a:xfrm>
          <a:prstGeom prst="rect">
            <a:avLst/>
          </a:prstGeom>
          <a:solidFill>
            <a:srgbClr val="E6EEF5"/>
          </a:solidFill>
          <a:ln w="14288">
            <a:solidFill>
              <a:srgbClr val="CAD9DF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D5C1EFA-D67D-4885-95AA-C728C3129AAF}"/>
              </a:ext>
            </a:extLst>
          </p:cNvPr>
          <p:cNvSpPr>
            <a:spLocks noGrp="1"/>
          </p:cNvSpPr>
          <p:nvPr/>
        </p:nvSpPr>
        <p:spPr>
          <a:xfrm>
            <a:off x="10706100" y="5200650"/>
            <a:ext cx="25908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ctr">
              <a:defRPr sz="1875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前轮处理 / 后轮准备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5BA4D6D-3101-415D-B401-932A177DE3DA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139065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实际仍有依赖与同步：接受长度、输入修正、元数据和缓冲区生命周期必须正确衔接。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7A0BFD4-ADA7-430D-9B0A-ECDE817616BD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28EB84-B54D-4B97-AF13-3635488235DD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先在 A5 时间线上找设备暴露等待；“使用 Python”本身不是调度已成瓶颈的证据。</a:t>
            </a:r>
          </a:p>
        </p:txBody>
      </p:sp>
    </p:spTree>
    <p:extLst>
      <p:ext uri="{BB962C8B-B14F-4D97-AF65-F5344CB8AC3E}">
        <p14:creationId xmlns:p14="http://schemas.microsoft.com/office/powerpoint/2010/main" val="1213270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215CD19-469F-4F65-BE5F-08AF21C44A7B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框架｜按瓶颈做局部优化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7B5852-ECD6-4BD9-B39E-0DED0B10C3C2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Python 何时会拖慢推理？看设备是否在等主机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D97AD-2AAD-4A74-9443-73D01D74A2D8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单步设备时间变短、并发和元数据变多时，主机开销更容易暴露。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285C37-0B4D-4EF5-B5D5-E87843922F55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E041D2-C8C6-4A07-B191-6F9C5610422D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来源：S12、S13、S16、S17、S20、S43；详见本页备注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EB0CA9-4D81-4DA0-A91F-EBA290E330AF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14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F3FBAD5-7286-47A8-9575-B247CDAC2759}"/>
              </a:ext>
            </a:extLst>
          </p:cNvPr>
          <p:cNvGraphicFramePr/>
          <p:nvPr/>
        </p:nvGraphicFramePr>
        <p:xfrm>
          <a:off x="666750" y="2190750"/>
          <a:ext cx="13906500" cy="372999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容易出现的场景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应观察的证据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优先动作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大并发、短 Decode 步长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输入 / 采样元数据准备占整步显著比例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减少逐请求循环，批处理并局部原生化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Wide EP / 多 DP 同步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个别 rank 准备慢，其他卡等待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缩减同步数据，调整依赖和分发算法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长输入或大量新请求集中接入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预处理、KV 搬运与准入阻塞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异步准备、搬运重叠与背压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设备计算持续满载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CPU 工作已被隐藏，无明显气泡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先优化设备热点，改语言未必增吞吐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F07153F9-86CF-4D23-88E2-D5AFE63408F9}"/>
              </a:ext>
            </a:extLst>
          </p:cNvPr>
          <p:cNvSpPr>
            <a:spLocks noGrp="1"/>
          </p:cNvSpPr>
          <p:nvPr/>
        </p:nvSpPr>
        <p:spPr>
          <a:xfrm>
            <a:off x="666750" y="60483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32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vLLM 的 Rust 工作主要覆盖可选前端；所核查版本的核心调度器仍是 Python。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F8C564-6C05-4AF7-A8F7-67EA977C1CE9}"/>
              </a:ext>
            </a:extLst>
          </p:cNvPr>
          <p:cNvSpPr>
            <a:spLocks noGrp="1"/>
          </p:cNvSpPr>
          <p:nvPr/>
        </p:nvSpPr>
        <p:spPr>
          <a:xfrm>
            <a:off x="666750" y="6610350"/>
            <a:ext cx="1390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现有公开材料没有仅将同一调度算法从 Python 改成 C++ 的独立端到端收益。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A67A02-4F3B-428D-8117-817D91FE7FBB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2F711A-3B3C-44B2-893C-39CB4AF92D82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团队聚焦 Ascend 热点与运行时；公共调度架构变化，以证据和补丁建议推动上游。</a:t>
            </a:r>
          </a:p>
        </p:txBody>
      </p:sp>
    </p:spTree>
    <p:extLst>
      <p:ext uri="{BB962C8B-B14F-4D97-AF65-F5344CB8AC3E}">
        <p14:creationId xmlns:p14="http://schemas.microsoft.com/office/powerpoint/2010/main" val="1634054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6B805D2C-698E-4704-BCBE-5E22BFBE63DB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系统｜官方披露有效，但不能归为开源引擎默认能力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D55C14-9CF1-4AB4-8F49-DB55FC5E375D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96% 命中与跨天保留，来自 DeepSeek 的完整生产系统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1ACF08-6F3E-42C4-8230-A3A0350B513D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长期缓存减少重复 Prefill，价值取决于真实复用分布与读取成本。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BD08EC-3177-4E97-96BC-7EF3C92D49C4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3711A8-B452-47C2-9B29-8059FC913C53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来源：S02、S32、S33、S38；详见本页备注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265A60-4D76-4A59-A775-D05AA0433053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367A3E-46DC-42F5-839C-668690BCFB4D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4095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63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63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96%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8C757E-842D-44E3-A5AB-7B3B80915B14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生产前缀缓存命中率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965F6A-6013-4E34-AB20-C5669ECB4535}"/>
              </a:ext>
            </a:extLst>
          </p:cNvPr>
          <p:cNvSpPr>
            <a:spLocks noGrp="1"/>
          </p:cNvSpPr>
          <p:nvPr/>
        </p:nvSpPr>
        <p:spPr>
          <a:xfrm>
            <a:off x="5524500" y="2238375"/>
            <a:ext cx="4572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525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&gt;72 小时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0DFA70-4F39-405D-95D9-E9BE9E8E2751}"/>
              </a:ext>
            </a:extLst>
          </p:cNvPr>
          <p:cNvSpPr>
            <a:spLocks noGrp="1"/>
          </p:cNvSpPr>
          <p:nvPr/>
        </p:nvSpPr>
        <p:spPr>
          <a:xfrm>
            <a:off x="5524500" y="33718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官方实践中的长期驻留目标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F8697D-CC2C-4B64-AE62-EFA5CA77911C}"/>
              </a:ext>
            </a:extLst>
          </p:cNvPr>
          <p:cNvSpPr>
            <a:spLocks noGrp="1"/>
          </p:cNvSpPr>
          <p:nvPr/>
        </p:nvSpPr>
        <p:spPr>
          <a:xfrm>
            <a:off x="10763250" y="2238375"/>
            <a:ext cx="3810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525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525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3–7 天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809961-3ABA-4AE1-8561-BBCDF63796C5}"/>
              </a:ext>
            </a:extLst>
          </p:cNvPr>
          <p:cNvSpPr>
            <a:spLocks noGrp="1"/>
          </p:cNvSpPr>
          <p:nvPr/>
        </p:nvSpPr>
        <p:spPr>
          <a:xfrm>
            <a:off x="10287000" y="3371850"/>
            <a:ext cx="4286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950" b="0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问答披露：Agent 3 天 / 聊天 7 天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3FCA5B6-61CD-4655-8C97-641B2BC5D4AB}"/>
              </a:ext>
            </a:extLst>
          </p:cNvPr>
          <p:cNvGraphicFramePr/>
          <p:nvPr/>
        </p:nvGraphicFramePr>
        <p:xfrm>
          <a:off x="666750" y="4429125"/>
          <a:ext cx="13906500" cy="1809750"/>
        </p:xfrm>
        <a:graphic>
          <a:graphicData uri="http://schemas.openxmlformats.org/drawingml/2006/table">
            <a:tbl>
              <a:tblPr/>
              <a:tblGrid>
                <a:gridCol w="6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已能从开源看到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未作为完整配套交付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KV 页表、物理共享、局部状态与回退管理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3FS 长期存储服务、完整缓存感知请求路由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模型执行、专家 EPLB、相关传输与状态接口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完整 P/D 编排、弹性、故障恢复与运营策略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C6D1CB05-A1F6-44E5-BEC5-F4D5D3F7A014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3906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vLLM 的本地前缀缓存没有统一“可驻留几小时”：容量、淘汰和重启决定寿命；外部池可延长。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02DCD4-1BEB-48DD-8AC3-D0BEFBEC7691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2D1177-15B2-4DD9-8E0A-041F8252BA5E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KV Pool 是相近方向的基础能力；复现保留天数与命中率，仍需业务、存储和框架联合设计。</a:t>
            </a:r>
          </a:p>
        </p:txBody>
      </p:sp>
    </p:spTree>
    <p:extLst>
      <p:ext uri="{BB962C8B-B14F-4D97-AF65-F5344CB8AC3E}">
        <p14:creationId xmlns:p14="http://schemas.microsoft.com/office/powerpoint/2010/main" val="1178173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896B157-DC70-4F5B-A590-466B65FF9E0D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实验 1A｜官方公开结果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D5ED79-4AEA-483E-A5CF-731C23ADCC22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vLLM Decode：公开曲线接近，证明通用架构有竞争力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C1EFE8-6892-47A4-8F1E-4AB4280B3C6A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约 131K 上下文；草稿 3 token；固定每步接受 3.25 token 的折算口径。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9FFDF3-7C7F-4A00-9465-AAF9EAC00240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10294-519A-4DE1-955D-A232BEF35155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来源：S39、S48、S50；详见本页备注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A21A50-B786-4927-A3D9-8B79FB716BDC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17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F004DF90-B927-4AF8-93F5-5D19E846EB8A}"/>
              </a:ext>
            </a:extLst>
          </p:cNvPr>
          <p:cNvGraphicFramePr/>
          <p:nvPr/>
        </p:nvGraphicFramePr>
        <p:xfrm>
          <a:off x="571500" y="2133600"/>
          <a:ext cx="69532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35EF9CF4-F49D-4ADC-9523-EA65A288A078}"/>
              </a:ext>
            </a:extLst>
          </p:cNvPr>
          <p:cNvGraphicFramePr/>
          <p:nvPr/>
        </p:nvGraphicFramePr>
        <p:xfrm>
          <a:off x="7810500" y="2133600"/>
          <a:ext cx="69532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4D265F1-0B8F-4144-9AA2-519B7CE4AB10}"/>
              </a:ext>
            </a:extLst>
          </p:cNvPr>
          <p:cNvSpPr>
            <a:spLocks noGrp="1"/>
          </p:cNvSpPr>
          <p:nvPr/>
        </p:nvSpPr>
        <p:spPr>
          <a:xfrm>
            <a:off x="666750" y="6591300"/>
            <a:ext cx="13906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逐点吞吐差异（vLLM / DI − 1）：−5.97% 至 +4.46%。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5D3644-81C4-4D6E-BC35-2BCDC353781E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F6AA2F-EAC3-413D-971C-6BEFE409EDEF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硬件 SKU、32 / 64 卡规模与专家配置未充分对齐：这是可行路线对照，不能判同条件胜负。</a:t>
            </a:r>
          </a:p>
        </p:txBody>
      </p:sp>
    </p:spTree>
    <p:extLst>
      <p:ext uri="{BB962C8B-B14F-4D97-AF65-F5344CB8AC3E}">
        <p14:creationId xmlns:p14="http://schemas.microsoft.com/office/powerpoint/2010/main" val="937465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316EF92-0C69-4023-A8F2-70C06C71AFC6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实验 1B｜官方明确存在口径差异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FEC355-3BF9-403A-84FB-EFD9F2475E16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vLLM Prefill：展示优化路线，不能据此计算框架加速比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759289-D44A-4B58-9BEE-5EB6F0005340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vLLM 为 GB300 DEP2；DI 参考为 EP4DP4、具体 SM100 SKU 未披露；吞吐由步时折算。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D04522-E64F-4D39-910F-F9869ACBC97E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B036AB-32ED-4CA3-8BB0-14AC196E1C10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来源：S39、S49；详见本页备注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85FD85-CD06-448F-9305-5D2D6D26A844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18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E7F2692F-2478-4B79-8173-016A55396318}"/>
              </a:ext>
            </a:extLst>
          </p:cNvPr>
          <p:cNvGraphicFramePr/>
          <p:nvPr/>
        </p:nvGraphicFramePr>
        <p:xfrm>
          <a:off x="571500" y="2133600"/>
          <a:ext cx="69532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B70CD2DF-5095-4EE1-943D-570856CCBF53}"/>
              </a:ext>
            </a:extLst>
          </p:cNvPr>
          <p:cNvGraphicFramePr/>
          <p:nvPr/>
        </p:nvGraphicFramePr>
        <p:xfrm>
          <a:off x="7810500" y="2133600"/>
          <a:ext cx="69532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F54EE51-8A65-4827-8A97-2A0605F99E0B}"/>
              </a:ext>
            </a:extLst>
          </p:cNvPr>
          <p:cNvSpPr>
            <a:spLocks noGrp="1"/>
          </p:cNvSpPr>
          <p:nvPr/>
        </p:nvSpPr>
        <p:spPr>
          <a:xfrm>
            <a:off x="666750" y="6591300"/>
            <a:ext cx="13906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vLLM：128K 已缓存前缀 + 新增输入、R＝128；DI：128K 总上下文、R＝140。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8C01E4-200D-447E-A28D-04C3B5AB8573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DC4772-F84C-4828-98C1-B4979FBA61D2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支持“通用框架能兑现模型优化”；尚不能证明等工作量性能比，更不能证明总成本相同。</a:t>
            </a:r>
          </a:p>
        </p:txBody>
      </p:sp>
    </p:spTree>
    <p:extLst>
      <p:ext uri="{BB962C8B-B14F-4D97-AF65-F5344CB8AC3E}">
        <p14:creationId xmlns:p14="http://schemas.microsoft.com/office/powerpoint/2010/main" val="922942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334F060-AC44-4ED6-93C7-3F7A8F04F72C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实验 2A｜更接近受控比较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F615A6-E4BF-42CE-9800-FF97BAE54535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SGLang Prefill：同硬件重跑，两平台结果均接近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605C6E-388E-439B-9DCC-93E2F67AF26A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分别 4×GB300、4×B300，DP4EP4；128K 上下文；每请求新增 4K；强制均衡、关闭 EPLB。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59EE7A-D4C4-441D-B3AB-3D2646F24B92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D36FD1-AC1E-4FB0-AC67-45C025DC6E6D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来源：S40、S41；详见本页备注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ECFFFF-7E75-435E-8F60-684C99B51ADE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19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7634258F-E93C-47D4-A17D-1771FE177608}"/>
              </a:ext>
            </a:extLst>
          </p:cNvPr>
          <p:cNvGraphicFramePr/>
          <p:nvPr/>
        </p:nvGraphicFramePr>
        <p:xfrm>
          <a:off x="571500" y="2133600"/>
          <a:ext cx="69532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A6D5BA19-A6B1-44C1-A76F-C81E78CE25BE}"/>
              </a:ext>
            </a:extLst>
          </p:cNvPr>
          <p:cNvGraphicFramePr/>
          <p:nvPr/>
        </p:nvGraphicFramePr>
        <p:xfrm>
          <a:off x="7810500" y="2133600"/>
          <a:ext cx="69532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1FFED52-FC9E-4642-A83F-6CA3E9204571}"/>
              </a:ext>
            </a:extLst>
          </p:cNvPr>
          <p:cNvSpPr>
            <a:spLocks noGrp="1"/>
          </p:cNvSpPr>
          <p:nvPr/>
        </p:nvSpPr>
        <p:spPr>
          <a:xfrm>
            <a:off x="666750" y="6591300"/>
            <a:ext cx="13906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SGLang 吞吐比最高约 1.039×；部分工作点略低于 DI，没有持续显著领先。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2599A9-B98D-4FC4-A6D2-B77FFD42AF7E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DA554F-2F69-4E30-A87E-18EE2DCC8AA3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同硬件提高可比性；计时方式、Engram 放置与 DI 各点调参仍有差异，只代表已测内核路径。</a:t>
            </a:r>
          </a:p>
        </p:txBody>
      </p:sp>
    </p:spTree>
    <p:extLst>
      <p:ext uri="{BB962C8B-B14F-4D97-AF65-F5344CB8AC3E}">
        <p14:creationId xmlns:p14="http://schemas.microsoft.com/office/powerpoint/2010/main" val="1440728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D7F2F8B-96DF-430B-9238-91B2E13C3395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实验 2B｜同 64×GB300、DP64EP64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7151E2-4F67-4C6A-A623-59073E548631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SGLang Decode：最大工作点约快 8%，小并发基本持平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555D2C-1B97-4907-A083-0929B309D028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128K 上下文，固定批次，草稿 3 token；吞吐统一按每步接受 3.25 token 折算。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4B3ABA-70E1-4E7C-9465-E582A6EC27E3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A72966-BEB5-458B-BB05-3B0F558EE1C8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来源：S40、S41；详见本页备注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A2F114-A7C2-4C80-9431-CE2709F58751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20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70A755F6-983B-4D83-A007-8DD53C8BC2E4}"/>
              </a:ext>
            </a:extLst>
          </p:cNvPr>
          <p:cNvGraphicFramePr/>
          <p:nvPr/>
        </p:nvGraphicFramePr>
        <p:xfrm>
          <a:off x="571500" y="2133600"/>
          <a:ext cx="69532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8F2B8C26-4600-41C1-B8E3-7116FE80533A}"/>
              </a:ext>
            </a:extLst>
          </p:cNvPr>
          <p:cNvGraphicFramePr/>
          <p:nvPr/>
        </p:nvGraphicFramePr>
        <p:xfrm>
          <a:off x="7810500" y="2133600"/>
          <a:ext cx="69532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76D2185-3F1C-4A30-99D0-552C1D48DDFC}"/>
              </a:ext>
            </a:extLst>
          </p:cNvPr>
          <p:cNvSpPr>
            <a:spLocks noGrp="1"/>
          </p:cNvSpPr>
          <p:nvPr/>
        </p:nvSpPr>
        <p:spPr>
          <a:xfrm>
            <a:off x="666750" y="6591300"/>
            <a:ext cx="13906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256 请求/GPU：步时 28.88 vs 31.19 ms，下降约 7.4%；折算吞吐约 +8.0%。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C95255-9E6A-42FB-9077-48317A42030A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8E73A-D597-4D77-A5D6-16341FAB86B4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Engram 放置、草稿冗余与接受量测量方式不同；固定折算不等于真实业务接受率相同。</a:t>
            </a:r>
          </a:p>
        </p:txBody>
      </p:sp>
    </p:spTree>
    <p:extLst>
      <p:ext uri="{BB962C8B-B14F-4D97-AF65-F5344CB8AC3E}">
        <p14:creationId xmlns:p14="http://schemas.microsoft.com/office/powerpoint/2010/main" val="1248648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F84DD1A-EA99-48F6-81CD-089B54EB8322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实验 3A｜对本团队决策最直接的证据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4D1F84-7B61-4691-AECE-62C7C6022DA7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团队 A5：已测 D 端场景接近，各有胜负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0E251C-233B-443E-874F-820DA40EB95A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32 卡 DP32/EP32，128K 输入、1K 输出，强制均衡、草稿 5 步；DI 列标 τ5.1，Ascend 列标实测。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2EE6C5-0206-46BE-9DCD-1CDA2458EC29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CE97FB-F95C-4DAA-B4F0-FD16EF796502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来源：团队 A5 截图；详见本页备注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C059EB-6DA2-4054-B69F-95660E4FB431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21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9DD96542-3E8F-4E31-808D-B4C46227344A}"/>
              </a:ext>
            </a:extLst>
          </p:cNvPr>
          <p:cNvGraphicFramePr/>
          <p:nvPr/>
        </p:nvGraphicFramePr>
        <p:xfrm>
          <a:off x="571500" y="2133600"/>
          <a:ext cx="69532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E47BFC40-7214-48B1-ABE5-38B16962F20F}"/>
              </a:ext>
            </a:extLst>
          </p:cNvPr>
          <p:cNvGraphicFramePr/>
          <p:nvPr/>
        </p:nvGraphicFramePr>
        <p:xfrm>
          <a:off x="7810500" y="2133600"/>
          <a:ext cx="69532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42DFE1B-45E8-4766-8E24-CD024067A673}"/>
              </a:ext>
            </a:extLst>
          </p:cNvPr>
          <p:cNvSpPr>
            <a:spLocks noGrp="1"/>
          </p:cNvSpPr>
          <p:nvPr/>
        </p:nvSpPr>
        <p:spPr>
          <a:xfrm>
            <a:off x="666750" y="6591300"/>
            <a:ext cx="13906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以 vLLM-Ascend 为分母，DI 吞吐变化为 −9.62% 至 +7.58%；384 并发时 Ascend 更快。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4E8027-2732-4B37-905F-FDC344224A85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2B54D5-51E8-4CA3-994F-EEC03D2541D6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仅统计 D 端满载：vLLM-Ascend 为 P/D 服务，DI 为纯模型，不能代表完整端到端成本。</a:t>
            </a:r>
          </a:p>
        </p:txBody>
      </p:sp>
    </p:spTree>
    <p:extLst>
      <p:ext uri="{BB962C8B-B14F-4D97-AF65-F5344CB8AC3E}">
        <p14:creationId xmlns:p14="http://schemas.microsoft.com/office/powerpoint/2010/main" val="1649546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9638EB7-6590-4BFE-894C-DF910B9C6D20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实验 3B｜局部优势需要看完整主 / 草稿执行链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2B347E-B6A3-497B-A72F-F1DD133D7F37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团队 A5 profiling：主模型 MoE 值得优先借鉴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B4E00D-DD7F-418E-B4E8-29618EB2EC7B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下图为独立区间耗时比 DI / vLLM-Ascend；小于 1 表示该区间 DI 更快。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AB4D6B-94C2-4768-9C6C-AD3DB4C4C056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570C65-F950-4DFC-86F7-FDF5009B4BA4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来源：团队 A5 截图；详见本页备注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BAC002-FFB3-43C1-A916-7EEFDA314C3D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22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B9D8EF3-4FC1-4BD6-B4DD-C0D3F2EAAFDE}"/>
              </a:ext>
            </a:extLst>
          </p:cNvPr>
          <p:cNvGraphicFramePr/>
          <p:nvPr/>
        </p:nvGraphicFramePr>
        <p:xfrm>
          <a:off x="666750" y="2133600"/>
          <a:ext cx="93345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692536A-6782-4F8B-9D55-7BDF4680DBD6}"/>
              </a:ext>
            </a:extLst>
          </p:cNvPr>
          <p:cNvSpPr>
            <a:spLocks noGrp="1"/>
          </p:cNvSpPr>
          <p:nvPr/>
        </p:nvSpPr>
        <p:spPr>
          <a:xfrm>
            <a:off x="10572750" y="2571750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主模型 MoE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7A0065-0A49-4346-A506-6AD550CECC9B}"/>
              </a:ext>
            </a:extLst>
          </p:cNvPr>
          <p:cNvSpPr>
            <a:spLocks noGrp="1"/>
          </p:cNvSpPr>
          <p:nvPr/>
        </p:nvSpPr>
        <p:spPr>
          <a:xfrm>
            <a:off x="10572750" y="3095625"/>
            <a:ext cx="4000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490.82 / 802.72</a:t>
            </a:r>
          </a:p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DI 局部耗时低约 38.9%。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2EE762-D882-44F1-AC86-5B2C65F10582}"/>
              </a:ext>
            </a:extLst>
          </p:cNvPr>
          <p:cNvSpPr>
            <a:spLocks noGrp="1"/>
          </p:cNvSpPr>
          <p:nvPr/>
        </p:nvSpPr>
        <p:spPr>
          <a:xfrm>
            <a:off x="10572750" y="4476750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草稿 MoE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A58EFF-BE3C-4955-B3F7-51B0459A9A2D}"/>
              </a:ext>
            </a:extLst>
          </p:cNvPr>
          <p:cNvSpPr>
            <a:spLocks noGrp="1"/>
          </p:cNvSpPr>
          <p:nvPr/>
        </p:nvSpPr>
        <p:spPr>
          <a:xfrm>
            <a:off x="10572750" y="5000625"/>
            <a:ext cx="4000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1250.75 / 444.86</a:t>
            </a:r>
          </a:p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DI 局部耗时约 2.81 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825480-1BAE-4B1C-A1DD-FF492DE98E76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89DF08-ED54-4DAD-A485-038B98FFEF73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原表 12.476 是 ms/step 差值，不能写成“快 12%”；路由与完整 MoE 计时也不可重复相加。</a:t>
            </a:r>
          </a:p>
        </p:txBody>
      </p:sp>
    </p:spTree>
    <p:extLst>
      <p:ext uri="{BB962C8B-B14F-4D97-AF65-F5344CB8AC3E}">
        <p14:creationId xmlns:p14="http://schemas.microsoft.com/office/powerpoint/2010/main" val="1198924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DB34D575-A952-4457-B154-17324FE67371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汇报结论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D6324D-9F4F-4406-AFEA-48C8F915A3F2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保持</a:t>
            </a:r>
            <a:r>
              <a:rPr lang="zh-CN" altLang="en-US" sz="3450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通用推理框架</a:t>
            </a:r>
            <a:r>
              <a:rPr sz="3450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主线，吸收已被证明有效的优化</a:t>
            </a:r>
            <a:endParaRPr sz="3450" b="1" dirty="0">
              <a:solidFill>
                <a:srgbClr val="123B52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9995DD-DB03-4531-A957-2E095C739766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“</a:t>
            </a:r>
            <a:r>
              <a:rPr lang="en-US" altLang="zh-CN"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deepinfer</a:t>
            </a:r>
            <a:r>
              <a:rPr lang="zh-CN" altLang="en-US"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有竞争力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、</a:t>
            </a:r>
            <a:r>
              <a:rPr lang="zh-CN" altLang="en-US"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通用框架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需继续优化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”，</a:t>
            </a:r>
            <a:r>
              <a:rPr lang="zh-CN" altLang="en-US" dirty="0"/>
              <a:t>不会</a:t>
            </a:r>
            <a:r>
              <a:rPr sz="2025" b="0" dirty="0" err="1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因一次开源而整体替换</a:t>
            </a:r>
            <a:r>
              <a:rPr sz="2025" b="0" dirty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5BA10D-DCDA-43BD-9218-ABEFBC06FED1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8A8F40-57D1-49E2-BDC0-CC9270756B33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来源：S01、团队 A5 截图、S39、S40；详见本页备注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A483ED-B843-4110-BA7F-B57BFB49C3FA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52FD18-34B6-4C36-93EF-E033F1FF0B84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657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400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替代压力有限</a:t>
            </a:r>
            <a:endParaRPr sz="2400" b="1" dirty="0">
              <a:solidFill>
                <a:srgbClr val="123B52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E16863-12D5-4410-8205-0586885E2CE0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6572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DeepInfer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当前聚焦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V4.1 Flash、SM100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与昇腾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950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的离线引擎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；</a:t>
            </a:r>
            <a:r>
              <a:rPr lang="zh-CN" altLang="en-US"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不包含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Kimi / GLM </a:t>
            </a:r>
            <a:r>
              <a:rPr lang="zh-CN" altLang="en-US" dirty="0"/>
              <a:t>等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多模型覆盖与生产能力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A1C98F-CD74-41C5-87B9-F80D1C51C16B}"/>
              </a:ext>
            </a:extLst>
          </p:cNvPr>
          <p:cNvSpPr>
            <a:spLocks noGrp="1"/>
          </p:cNvSpPr>
          <p:nvPr/>
        </p:nvSpPr>
        <p:spPr>
          <a:xfrm>
            <a:off x="666750" y="4772025"/>
            <a:ext cx="657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400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技术影响实质存在</a:t>
            </a:r>
            <a:endParaRPr sz="2400" b="1" dirty="0">
              <a:solidFill>
                <a:srgbClr val="123B52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9EA085-9E72-4C7A-A14E-6FDE7D6D6924}"/>
              </a:ext>
            </a:extLst>
          </p:cNvPr>
          <p:cNvSpPr>
            <a:spLocks noGrp="1"/>
          </p:cNvSpPr>
          <p:nvPr/>
        </p:nvSpPr>
        <p:spPr>
          <a:xfrm>
            <a:off x="666750" y="5229871"/>
            <a:ext cx="12150348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lang="zh-CN" altLang="en-US" dirty="0"/>
              <a:t>部分 </a:t>
            </a:r>
            <a:r>
              <a:rPr lang="en" altLang="zh-CN" dirty="0"/>
              <a:t>V4.1 </a:t>
            </a:r>
            <a:r>
              <a:rPr lang="zh-CN" altLang="en-US" dirty="0"/>
              <a:t>专项实现和底层库也已进入通用框架，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它把模型依赖、算子融合和运行时组织做得更紧；为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</a:t>
            </a:r>
            <a:r>
              <a:rPr lang="zh-CN" altLang="en-US" dirty="0"/>
              <a:t>通用推理框架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提供了明确的性能参照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8EB3CA-22EF-442B-9002-6AD03AA662CD}"/>
              </a:ext>
            </a:extLst>
          </p:cNvPr>
          <p:cNvSpPr>
            <a:spLocks noGrp="1"/>
          </p:cNvSpPr>
          <p:nvPr/>
        </p:nvSpPr>
        <p:spPr>
          <a:xfrm>
            <a:off x="7810500" y="2294879"/>
            <a:ext cx="657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三组结果均未出现数量级差距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DCE349-A25D-42A7-BBB2-5B515800A517}"/>
              </a:ext>
            </a:extLst>
          </p:cNvPr>
          <p:cNvSpPr>
            <a:spLocks noGrp="1"/>
          </p:cNvSpPr>
          <p:nvPr/>
        </p:nvSpPr>
        <p:spPr>
          <a:xfrm>
            <a:off x="7810500" y="2811328"/>
            <a:ext cx="65722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vLLM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公布曲线接近；SGLang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同硬件复测接近；团队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A5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在已测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 D </a:t>
            </a:r>
            <a:r>
              <a:rPr sz="2175" b="0" dirty="0" err="1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端场景各有胜负</a:t>
            </a:r>
            <a:r>
              <a:rPr sz="2175" b="0" dirty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。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" altLang="zh-CN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DeepInfer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开源引擎没有显示通用框架无法接近的执行优势</a:t>
            </a:r>
            <a:endParaRPr sz="2175" b="0" dirty="0">
              <a:solidFill>
                <a:srgbClr val="192F3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560127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EDBCC13-8ADF-4253-A465-82F5A250E350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结论与启示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A33AC7-F741-4C86-864C-A25532C3ED1B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保持主线，用证据决定哪些优化值得吸收</a:t>
            </a:r>
            <a:endParaRPr sz="3450" b="1" dirty="0">
              <a:solidFill>
                <a:srgbClr val="123B52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B2AEB-B8D7-454E-A839-6D1AF999273A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DeepInfer 提高了工程基准，也证明模型与系统协同优化的重要性。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50EE18-01B3-47CA-B7AC-6EB8305DC218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CBFA91-59E5-4CAC-BEA9-912C743411B0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来源：S01、S02、团队 A5 截图、S39、S40；详见本页备注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3DBECC-C978-4C5B-9EF9-C0DFB2CFB93D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26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D74BBA8-1E48-40B8-BCC2-3B304E2839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699714"/>
              </p:ext>
            </p:extLst>
          </p:nvPr>
        </p:nvGraphicFramePr>
        <p:xfrm>
          <a:off x="666750" y="2190750"/>
          <a:ext cx="13906500" cy="428625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追问</a:t>
                      </a:r>
                      <a:endParaRPr sz="2100" b="1" dirty="0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回答</a:t>
                      </a:r>
                      <a:endParaRPr sz="2100" b="1" dirty="0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会取代</a:t>
                      </a:r>
                      <a:r>
                        <a:rPr lang="zh-CN" altLang="en-US"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通用推理框架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吗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？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当前不支持整体替换；特定业务若完整收益明确，可评估专用后端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。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已有同类功能，还要做什么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？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核对组合是否可用、物理共享是否生效，并追完整执行链的净收益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。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模型设计带来的收益算谁的？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属于同权重共同能力；引擎价值在充分兑现。对训练厂商的启示更深。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几个百分点，值得投入吗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？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规模化部署下，节省可能值得投入；须扣除改造、维护和回归成本。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长期缓存由谁负责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？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业务与存储设计策略，框架交付状态、接入、恢复和观测机制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。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BE90D2A-52E3-474F-B9BF-C2EEFCB26761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D0AB5B-3FF3-49E1-BDC9-69B3E218F5A6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我们工作的价值，从“支持模型”进一步走向“稳定兑现模型能力，并证明生产效率</a:t>
            </a:r>
            <a:r>
              <a:rPr sz="2175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”。</a:t>
            </a:r>
          </a:p>
        </p:txBody>
      </p:sp>
    </p:spTree>
    <p:extLst>
      <p:ext uri="{BB962C8B-B14F-4D97-AF65-F5344CB8AC3E}">
        <p14:creationId xmlns:p14="http://schemas.microsoft.com/office/powerpoint/2010/main" val="2067028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621E665-D365-4960-A659-AFBF2A9520BE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系统｜框架提供机制，业务决定长期策略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3E69F3-EF3F-4CEB-AFC0-973035FC5463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KV Pool 的重点是可接入、可恢复、可观测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D8D8F5-FC3F-44D8-A05A-A27B58D8AA35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vLLM-Ascend 已有 KV Pool、P/D 与分层缓存基础，仍需核查模型和功能组合。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973EFB-142C-40C3-8377-948C3BB0695C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ED3A60-AF9C-4A8C-8DA8-20EDE7DE6183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来源：S33、S34、S35、S36、S37、S38；详见本页备注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B53920-F82F-4DAB-83EA-62D0E333D0EA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16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168978F-E88C-4DC2-92A9-4AD1CCA4DEBF}"/>
              </a:ext>
            </a:extLst>
          </p:cNvPr>
          <p:cNvGraphicFramePr/>
          <p:nvPr/>
        </p:nvGraphicFramePr>
        <p:xfrm>
          <a:off x="666750" y="2238375"/>
          <a:ext cx="13906500" cy="32385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责任层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应承担的工作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本团队边界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vLLM-Ascend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KV 布局与传输、状态恢复、超时回退、读取背压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直接交付；保证共享 KV、SWA 与投机状态正确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业务与存储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容量、保留时间、淘汰、优先级、租户配额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联合设计；不能照搬 96% 或保留天数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服务平台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缓存感知路由、P/D 配比、弹性与故障恢复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提供可观测接口，合作验收端到端收益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E20313E-EF40-4FB1-A958-FAFEC33A375A}"/>
              </a:ext>
            </a:extLst>
          </p:cNvPr>
          <p:cNvSpPr>
            <a:spLocks noGrp="1"/>
          </p:cNvSpPr>
          <p:nvPr/>
        </p:nvSpPr>
        <p:spPr>
          <a:xfrm>
            <a:off x="666750" y="5915025"/>
            <a:ext cx="657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已有能力 ≠ 任意组合都支持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259088-68F6-441C-BA65-1B70BA60C09B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6572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V4.1、SWA replay、P/D 与 KV Pool 等组合存在版本限制，需逐项验收。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46CF70-1D4D-4FD1-A34C-D3184927B6AD}"/>
              </a:ext>
            </a:extLst>
          </p:cNvPr>
          <p:cNvSpPr>
            <a:spLocks noGrp="1"/>
          </p:cNvSpPr>
          <p:nvPr/>
        </p:nvSpPr>
        <p:spPr>
          <a:xfrm>
            <a:off x="7953375" y="5915025"/>
            <a:ext cx="6619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40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缓存命中 ≠ 读取一定划算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5AC327-FF38-468A-9FC7-64908F775C48}"/>
              </a:ext>
            </a:extLst>
          </p:cNvPr>
          <p:cNvSpPr>
            <a:spLocks noGrp="1"/>
          </p:cNvSpPr>
          <p:nvPr/>
        </p:nvSpPr>
        <p:spPr>
          <a:xfrm>
            <a:off x="7953375" y="6438900"/>
            <a:ext cx="6619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0">
                <a:solidFill>
                  <a:srgbClr val="192F3E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92F3E"/>
                </a:solidFill>
                <a:latin typeface="Heiti SC"/>
                <a:ea typeface="Heiti SC"/>
                <a:cs typeface="Heiti SC"/>
              </a:rPr>
              <a:t>比较命中量、加载和排队时延与重算成本，按净收益决定是否读取。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B1E80B-D890-4FAF-9436-AA69615BC158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F7C4CE-B905-43E6-8EEC-E5A67D0097D1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将“适应业务”做成可配置机制与观测接口，避免为每个业务复制一套框架。</a:t>
            </a:r>
          </a:p>
        </p:txBody>
      </p:sp>
    </p:spTree>
    <p:extLst>
      <p:ext uri="{BB962C8B-B14F-4D97-AF65-F5344CB8AC3E}">
        <p14:creationId xmlns:p14="http://schemas.microsoft.com/office/powerpoint/2010/main" val="1750337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15561F8-CA32-41F2-9960-C51052E8C035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证据点评｜公平性与决策边界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1DA675-EF0D-4246-A44D-953EAB0241AF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三组实验回答不同问题，性能接近不等于成本相同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B170C-8AAB-4D10-ADED-EF92E2155090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把实验条件写在结论旁边，比简单争论“谁赢”更有用。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5E0080-C8DE-40C2-BF92-603F3634AC13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FA4BF4-6FBF-4654-9AC4-973E6BD613C5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来源：团队 A5 截图、S39、S40、S41；详见本页备注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D6C178-E9F0-4BDE-878E-9D195182FF1B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23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FE8867-06F4-4639-82B5-1B42FEE82948}"/>
              </a:ext>
            </a:extLst>
          </p:cNvPr>
          <p:cNvGraphicFramePr/>
          <p:nvPr/>
        </p:nvGraphicFramePr>
        <p:xfrm>
          <a:off x="666750" y="2238375"/>
          <a:ext cx="13906500" cy="3137536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实验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能够支持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不能直接支持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vLLM 官方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通用框架存在接近公开参照的优化路线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同硬件纯框架胜负；半数卡提供相同总容量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SGLang 官方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同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GPU、已测内核场景差距有限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A5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同样收益；真实在线质量、接受率与成本等价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团队 A5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当前路线在已测 D 端有竞争力；定位局部机会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完整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P/D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吞吐成本；真实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EPLB；跨天缓存价值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86330C8-0BFA-4033-BC9E-3AAB6E4CEB80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3906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5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550" b="1" dirty="0" err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最终经济指标：每个满足质量和时延目标的完成请求，消耗多少全部资源</a:t>
            </a:r>
            <a:r>
              <a:rPr sz="2550" b="1" dirty="0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3A8246-4C08-4916-8F25-76A78F03E965}"/>
              </a:ext>
            </a:extLst>
          </p:cNvPr>
          <p:cNvSpPr>
            <a:spLocks noGrp="1"/>
          </p:cNvSpPr>
          <p:nvPr/>
        </p:nvSpPr>
        <p:spPr>
          <a:xfrm>
            <a:off x="666750" y="6429375"/>
            <a:ext cx="13906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计入 P / D 卡、CPU、网络、存储、空闲和失败重试；官方 $/卡·小时产出价值并非实际成本。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3B128A-996B-4FD5-BDD6-03F61777DB19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D227C1-82B9-4921-822E-694445A78711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同条件阶段测试用于定位差距，真实业务回放用于决定是否值得迁移或切换后端。</a:t>
            </a:r>
          </a:p>
        </p:txBody>
      </p:sp>
    </p:spTree>
    <p:extLst>
      <p:ext uri="{BB962C8B-B14F-4D97-AF65-F5344CB8AC3E}">
        <p14:creationId xmlns:p14="http://schemas.microsoft.com/office/powerpoint/2010/main" val="1141331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6E1CDBD-2EDC-4670-86CE-8F8D284B1DB0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行动建议｜vLLM-Ascend 团队可以直接落地的路线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BB7055-FBAF-469F-BD29-E871247C340A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把借鉴工作按可控范围与验证周期分层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301089-C2D7-4E87-A33D-46C91BF2762C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以现有代码和真实瓶颈为起点，避免为了追功能名重复开发。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A9213A-9228-47C3-830A-D32F58CBAB5D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9B0445-B53C-4DE7-952E-3DFAC2DF3BC6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来源：S35、S36、S37、S52、S53、S54；详见本页备注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256035-D66F-4075-8B0A-0BC7B8FDE792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24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60B83D6-0B19-4250-AD7B-6F6AB3EDA4D2}"/>
              </a:ext>
            </a:extLst>
          </p:cNvPr>
          <p:cNvGraphicFramePr/>
          <p:nvPr/>
        </p:nvGraphicFramePr>
        <p:xfrm>
          <a:off x="666750" y="2190750"/>
          <a:ext cx="13906500" cy="47625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类别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优先工作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交付 / 决策条件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近期核对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KV 共享、CED、SWA、低精度、DSpark、KV Pool 组合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差异清单与正确性验收，区分实验补丁和团队版本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短期优化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主模型 MoE、索引、Attention、边界搬运；已暴露的主机等待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同条件可重复的整步净收益；保留较优草稿路径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中期增强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真实主 / 草稿 EPLB、图执行、异步缓存恢复与 P/D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真实路由、业务回放和异常回退通过验收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长期协同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A6 精度与互联、DSL 工具链、公共模型状态接口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提交瓶颈证据与需求；上游架构变更不独立承诺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95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业务联合</a:t>
                      </a:r>
                      <a:endParaRPr sz="195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保留 / 淘汰 / 配额、缓存路由、P/D 资源配比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业务和存储主导策略，框架保证接入与可观测</a:t>
                      </a:r>
                      <a:endParaRPr sz="195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72F0E93-C3CB-4638-9273-A8D4FA59FC52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D37BED-DD03-4A5D-BA90-E589A73E6F03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优先迁移已验证的完整执行链；只有特定业务全链路收益明确时，再评估独立引擎后端。</a:t>
            </a:r>
          </a:p>
        </p:txBody>
      </p:sp>
    </p:spTree>
    <p:extLst>
      <p:ext uri="{BB962C8B-B14F-4D97-AF65-F5344CB8AC3E}">
        <p14:creationId xmlns:p14="http://schemas.microsoft.com/office/powerpoint/2010/main" val="600432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87563C7-D107-4C8A-B051-812946CD6582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执行计划｜A5 为主，兼顾存量与 A6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AB38BC-66B5-4F3F-B25D-710E2A0008A8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下一轮验证：四类证据决定投入顺序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EA581B-2EC4-4782-8649-6641D2D121A0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A5 是新增部署主战场；A2/A3 维持分支能力与回归；A6 提前验证精度、互联和工具链。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5B6BB0-7BCB-4E57-A1E8-BDB93C28E2FF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B5D358-A886-4814-A2AD-DA176CA655DB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来源：团队 A5 截图、S37、S52；详见本页备注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33E8FA-2688-4DBD-8912-8338C89B2975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25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44478C9-35D8-4198-A79C-B6055343B878}"/>
              </a:ext>
            </a:extLst>
          </p:cNvPr>
          <p:cNvGraphicFramePr/>
          <p:nvPr/>
        </p:nvGraphicFramePr>
        <p:xfrm>
          <a:off x="666750" y="2238375"/>
          <a:ext cx="13906500" cy="402336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验证包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固定什么 / 打开什么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需要得到的证据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同条件 A5 复测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版本、模型、精度、输入、并行和计时边界对齐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多次重复；完整 Attention / MoE / 通信 / 主机 / 整步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真实路由 + 投机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关闭强制均衡；主模型、草稿分开观察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专家热度、迁移成本、实际接受量、尾延迟与质量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Wide EP 关键路径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扫描规模与并发，记录逐 rank 时间线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最慢 rank、同步等待、KV 搬运和准入阻塞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业务联合回放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多轮跨天轨迹、真实到达、冷 / 热缓存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达标完成量；全 P/D、存储、网络成本与恢复行为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892045EF-E5B1-4A57-AD03-E69FD0B48EA3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13906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团队直接负责：Ascend 模型 / 算子 / 运行时、缓存接入与状态恢复、版本集成和回归。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DFF057-0464-4BA6-8839-61EDF73193B6}"/>
              </a:ext>
            </a:extLst>
          </p:cNvPr>
          <p:cNvSpPr>
            <a:spLocks noGrp="1"/>
          </p:cNvSpPr>
          <p:nvPr/>
        </p:nvSpPr>
        <p:spPr>
          <a:xfrm>
            <a:off x="666750" y="7258050"/>
            <a:ext cx="13906500" cy="28575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CE15D7-4E83-492E-84B1-72C6B8CDA10B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175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向上游提出可复现问题与最小改动建议；向业务提供可配置机制和可观测数据。</a:t>
            </a:r>
          </a:p>
        </p:txBody>
      </p:sp>
    </p:spTree>
    <p:extLst>
      <p:ext uri="{BB962C8B-B14F-4D97-AF65-F5344CB8AC3E}">
        <p14:creationId xmlns:p14="http://schemas.microsoft.com/office/powerpoint/2010/main" val="2128085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D5C23D1-1CB4-43B8-B26F-ED578785587C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完整数值｜可编辑原生表格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8CEF6C-24D8-41A0-8919-100E9DCF9BCF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数据附录 A｜vLLM Decode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504FD0-5E83-4DF5-847C-69C69B5C8335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vLLM 为 GB200 DEP32、384+32 专家；DeepInfer 参考为 EP64DP64、384+64 专家。上下文约 131K、草稿 3 token，按每步接受 3.25 token 归一化。DeepInfer 公布为 64 张 SM100，未标明具体 SKU。[S39、S48]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C988B9-47DE-4D2A-9F4F-4B8BC4545700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62DE57-C3E7-43D9-8B41-DEB645763744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来源：S39、S48、S50；详见本页备注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D60F4-4FA1-4091-BAE5-8D04DC014576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27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22679A6-07ED-45C6-B3C7-076FFFCF2621}"/>
              </a:ext>
            </a:extLst>
          </p:cNvPr>
          <p:cNvGraphicFramePr/>
          <p:nvPr/>
        </p:nvGraphicFramePr>
        <p:xfrm>
          <a:off x="666750" y="2428875"/>
          <a:ext cx="13906500" cy="4272642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请求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每 GPU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token/s/用户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参考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token/s/用户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token/s/GPU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参考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token/s/GPU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 吞吐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相对 DI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339.49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325.00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2,715.9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2,600.0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+4.46%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16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321.37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314.30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5,142.0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5,028.8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+2.25%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294.33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297.00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9,418.7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9,504.0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-0.90%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64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236.39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245.90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15,128.7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15,737.6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-3.87%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128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167.55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178.20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21,446.8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22,809.6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-5.97%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256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106.49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102.80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27,260.7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26,316.8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+3.59%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B67722D-5826-48C4-AC0F-6690190782DD}"/>
              </a:ext>
            </a:extLst>
          </p:cNvPr>
          <p:cNvSpPr>
            <a:spLocks noGrp="1"/>
          </p:cNvSpPr>
          <p:nvPr/>
        </p:nvSpPr>
        <p:spPr>
          <a:xfrm>
            <a:off x="666750" y="6781800"/>
            <a:ext cx="13906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吞吐差异以 DI 为分母；每卡吞吐＝每卡请求数 × 每用户速度。</a:t>
            </a:r>
          </a:p>
        </p:txBody>
      </p:sp>
    </p:spTree>
    <p:extLst>
      <p:ext uri="{BB962C8B-B14F-4D97-AF65-F5344CB8AC3E}">
        <p14:creationId xmlns:p14="http://schemas.microsoft.com/office/powerpoint/2010/main" val="1908573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AFA1E37-3A21-4F26-AD58-EB7F2F8E958D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完整数值｜可编辑原生表格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DA0D74-F92D-4B4E-81F7-EB6F01A11A1D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数据附录 B｜vLLM Prefill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E370DC-FFB2-44A2-A8F0-71A1503F7294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vLLM 为 GB300 DEP2、无冗余专家、128 token 重放，并在 128K 缓存前缀后处理新增输入。DI 参考为 EP4DP4、32 个冗余专家、140 token 重放；其图标为 128K 总上下文，具体 SKU 未注明。[S39、S49]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3EA36C-4D22-405B-9707-1EF65064B126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F09452-D1D2-4882-B05A-909E63857223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来源：S39、S49；详见本页备注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FBD91B-9A8A-4666-8A4D-495FEE320D49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28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FF60D26-895E-471D-BED8-D571AD429262}"/>
              </a:ext>
            </a:extLst>
          </p:cNvPr>
          <p:cNvGraphicFramePr/>
          <p:nvPr/>
        </p:nvGraphicFramePr>
        <p:xfrm>
          <a:off x="666750" y="2428875"/>
          <a:ext cx="13906500" cy="4175125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新增 token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每 GPU 每步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 步时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ms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参考步时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ms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 新增吞吐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token/s/GPU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参考新增吞吐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token/s/GPU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59.58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61.50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68,748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66,602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95.97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108.00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85,360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75,852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16K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168.81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193.90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97,056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84,497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321.11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377.80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102,046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86,734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64K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639.43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755.60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102,491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86,734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52CBB49-25BB-4C77-B437-19DDE8DCD009}"/>
              </a:ext>
            </a:extLst>
          </p:cNvPr>
          <p:cNvSpPr>
            <a:spLocks noGrp="1"/>
          </p:cNvSpPr>
          <p:nvPr/>
        </p:nvSpPr>
        <p:spPr>
          <a:xfrm>
            <a:off x="666750" y="6781800"/>
            <a:ext cx="13906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K＝1024；新增输入吞吐由 token 数 / 步时折算，不构成另一项独立测量。</a:t>
            </a:r>
          </a:p>
        </p:txBody>
      </p:sp>
    </p:spTree>
    <p:extLst>
      <p:ext uri="{BB962C8B-B14F-4D97-AF65-F5344CB8AC3E}">
        <p14:creationId xmlns:p14="http://schemas.microsoft.com/office/powerpoint/2010/main" val="804425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9CD7BE7-0FCA-438E-B057-0035C0EAF457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完整数值｜可编辑原生表格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FCB21B-D815-41B7-87ED-5610B9DAC829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数据附录 C｜SGLang Prefill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3D864A-2252-41A2-AC85-3382AE134AF8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同一节点分别运行两套引擎，GB300 与 B300 各 4 卡、DP4/EP4；128K 上下文，每个请求含 4K 新 token。强制均衡、EPLB 关闭，32 个冗余专家；DI 每点取已测试配置中最快者。[S40–S41]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E6ECE3-E38A-4F16-9D45-9ED0CCDD9CF4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43191E-D309-4AB2-86BA-0E2521ED3A27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来源：S40、S41；详见本页备注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08BA15-63D5-4367-8847-AA7756F71877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29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E76BC6-F668-4502-82DF-B230027EC1EF}"/>
              </a:ext>
            </a:extLst>
          </p:cNvPr>
          <p:cNvGraphicFramePr/>
          <p:nvPr/>
        </p:nvGraphicFramePr>
        <p:xfrm>
          <a:off x="666750" y="2428875"/>
          <a:ext cx="13906500" cy="41751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新增 token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每 GPU 每步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GB300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SG 步时 ms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GB300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步时 ms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GB300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SG 吞吐比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B300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SG 步时 ms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B300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步时 ms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B300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SG 吞吐比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57.93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60.18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1.039×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60.34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62.69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1.039×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89.22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88.68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0.994×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102.68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105.23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1.025×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16K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160.55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160.79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1.001×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190.17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189.62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0.997×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308.85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319.61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1.035×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368.12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373.61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1.015×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64K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602.33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614.74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1.021×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723.70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724.51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1.001×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F4B9C20-A9FD-4995-BB36-38116C79845F}"/>
              </a:ext>
            </a:extLst>
          </p:cNvPr>
          <p:cNvSpPr>
            <a:spLocks noGrp="1"/>
          </p:cNvSpPr>
          <p:nvPr/>
        </p:nvSpPr>
        <p:spPr>
          <a:xfrm>
            <a:off x="666750" y="6781800"/>
            <a:ext cx="13906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吞吐比＝DI 步时 / SG 步时；两种机器均为 4 卡 DP4EP4，不能跨机器直接比较引擎。</a:t>
            </a:r>
          </a:p>
        </p:txBody>
      </p:sp>
    </p:spTree>
    <p:extLst>
      <p:ext uri="{BB962C8B-B14F-4D97-AF65-F5344CB8AC3E}">
        <p14:creationId xmlns:p14="http://schemas.microsoft.com/office/powerpoint/2010/main" val="1054667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B9C95C7-F6A0-4833-936C-BC5C9AC5E796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完整数值｜可编辑原生表格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E5C497-7A16-4AAB-9055-98CFDE7905DD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数据附录 D｜SGLang Decode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D51A14-7D11-4CA7-9233-48E24F995085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双方均在 64 张 GB300 上采用 DP64/EP64，128K 上下文与共享缓存前缀；固定并发、静态验证 3 个草稿 token、强制专家均衡。按每步接受 3.25 token 换算吞吐。[S40–S41]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D8B065-A7E0-4D90-995B-8BA4247FAE6F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164B33-0CEC-46A1-8649-18477E40A2E6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来源：S40、S41；详见本页备注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E58379-FAB1-4BFE-81BD-007FC9E68472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30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4A7A5B9-D1A2-47F9-BE27-BAF3BE3B460D}"/>
              </a:ext>
            </a:extLst>
          </p:cNvPr>
          <p:cNvGraphicFramePr/>
          <p:nvPr/>
        </p:nvGraphicFramePr>
        <p:xfrm>
          <a:off x="666750" y="2428875"/>
          <a:ext cx="13906500" cy="4272642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请求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每 GPU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步时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ms/step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SG 步时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ms/step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SG 步时变化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以 DI 为分母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SG 折算吞吐比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SG ÷ DI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9.37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9.41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+0.43%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0.996×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16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9.82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9.71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-1.12%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1.011×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10.69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10.33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-3.37%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1.035×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64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13.27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12.64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-4.75%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1.050×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128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18.61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18.27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-1.83%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1.019×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256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31.19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28.88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-7.41%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1.080×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23C91FE-A666-4DEA-B20C-A1E1B6E41B65}"/>
              </a:ext>
            </a:extLst>
          </p:cNvPr>
          <p:cNvSpPr>
            <a:spLocks noGrp="1"/>
          </p:cNvSpPr>
          <p:nvPr/>
        </p:nvSpPr>
        <p:spPr>
          <a:xfrm>
            <a:off x="666750" y="6781800"/>
            <a:ext cx="13906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吞吐比按固定每步接受量归一化；步时变化＝SG / DI − 1。</a:t>
            </a:r>
          </a:p>
        </p:txBody>
      </p:sp>
    </p:spTree>
    <p:extLst>
      <p:ext uri="{BB962C8B-B14F-4D97-AF65-F5344CB8AC3E}">
        <p14:creationId xmlns:p14="http://schemas.microsoft.com/office/powerpoint/2010/main" val="327880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0EB1E34-502E-4C5A-A0CC-058B8840AA1B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完整数值｜可编辑原生表格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C2F763-2AD4-4C3A-8A5C-C92DFC828570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数据附录 E｜团队 A5 D 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E411A0-8DA4-40F2-ACE9-31FE9F4FDA90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内部图表称为端到端对比，其实际边界为 D 节点满载：输入 128K、输出 1K、DP32/EP32；vLLM-Ascend 使用 P/D，DI 使用纯模型模式。双方强制均衡，投机步数 5，图中标注每步接受 5.1 token。[S03]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11B695-9D72-4BCF-8477-4958646E2924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790182-09E4-4666-A321-0A93956E38AA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来源：团队 A5 截图；详见本页备注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EC36B2-6BDE-4D79-A2D6-D144E0D424CC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31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0860047-1E7A-41D6-807E-B21901953ADE}"/>
              </a:ext>
            </a:extLst>
          </p:cNvPr>
          <p:cNvGraphicFramePr/>
          <p:nvPr/>
        </p:nvGraphicFramePr>
        <p:xfrm>
          <a:off x="666750" y="2428875"/>
          <a:ext cx="13906500" cy="434578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总并发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TPOT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ms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vLLM-A TPOT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ms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吞吐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token/s/卡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vLLM-A 吞吐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token/s/卡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原表吞吐比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vLLM-A ÷ DI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256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4.31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4.61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1858.1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1736.1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0.93×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384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4.65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4.20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2581.7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2856.5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1.11×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512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4.89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4.93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3270.4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3247.7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0.99×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1024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6.48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6.50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4938.9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4924.2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1.00×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1536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8.45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8.56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5682.1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5606.0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0.99×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2048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9.62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10.35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6650.3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6181.6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0.93×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2560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11.44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12.28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6993.1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6513.1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0.93×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BEA8D47-9275-4BB2-B4E6-70803BE5BADD}"/>
              </a:ext>
            </a:extLst>
          </p:cNvPr>
          <p:cNvSpPr>
            <a:spLocks noGrp="1"/>
          </p:cNvSpPr>
          <p:nvPr/>
        </p:nvSpPr>
        <p:spPr>
          <a:xfrm>
            <a:off x="666750" y="6781800"/>
            <a:ext cx="13906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保留原截图比值及四舍五入；384 并发原表 vLLM-A / DI＝1.11×。</a:t>
            </a:r>
          </a:p>
        </p:txBody>
      </p:sp>
    </p:spTree>
    <p:extLst>
      <p:ext uri="{BB962C8B-B14F-4D97-AF65-F5344CB8AC3E}">
        <p14:creationId xmlns:p14="http://schemas.microsoft.com/office/powerpoint/2010/main" val="996056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E8A96C1-2A3B-46CF-8311-34E57B8A2FF5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完整数值｜可编辑原生表格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4863E5-0560-421E-9DB6-1C09EEA424BA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数据附录 F｜团队 A5 Profiling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7626A1-5BE6-4885-B599-463C32F98B66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下面保留内部表的全部 7 个区间及数值。原表两列 kernel 耗时没有标单位，故图中使用无量纲比值；末列 ms/step 及正负号按原表保留，不把推断单位写成实测单位。[S03]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33DA21-1D91-423E-963B-B999FCAF2BCE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368FA4-A041-49ED-A6DC-54A2BCCF6178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来源：团队 A5 截图；详见本页备注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FC577E-8650-4CCD-AD90-9F0DBDB05556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32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DAC7F66-11F1-4803-B23F-B74A5B27CA7C}"/>
              </a:ext>
            </a:extLst>
          </p:cNvPr>
          <p:cNvGraphicFramePr/>
          <p:nvPr/>
        </p:nvGraphicFramePr>
        <p:xfrm>
          <a:off x="666750" y="2428875"/>
          <a:ext cx="13906500" cy="4345783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计算区间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原表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耗时数值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vLLM-A 原表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耗时数值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耗时比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DI ÷ vLLM-A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差值 ms/step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vLLM-A − DI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mHC Pre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47.46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32.25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1.472×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-1.309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mHC Post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16.23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21.81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0.744×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+0.480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MoE 路由（主模型 40 层）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23.71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32.09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0.739×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+0.335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QLI score + TopK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346.93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480.62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0.722×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+1.070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FlashMLA 压缩注意力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148.48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191.62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0.775×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+1.639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主模型 MoE（40 层）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490.82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802.72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0.611×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+12.476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草稿 MoE（3 层）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1250.75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444.86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2.812×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-2.418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421552D-E03A-42C0-AA48-C353773C0367}"/>
              </a:ext>
            </a:extLst>
          </p:cNvPr>
          <p:cNvSpPr>
            <a:spLocks noGrp="1"/>
          </p:cNvSpPr>
          <p:nvPr/>
        </p:nvSpPr>
        <p:spPr>
          <a:xfrm>
            <a:off x="666750" y="7239000"/>
            <a:ext cx="13906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9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原始耗时单位未完整标明；ms/step 差值按原图保留，不能把区间重复求和。</a:t>
            </a:r>
          </a:p>
        </p:txBody>
      </p:sp>
    </p:spTree>
    <p:extLst>
      <p:ext uri="{BB962C8B-B14F-4D97-AF65-F5344CB8AC3E}">
        <p14:creationId xmlns:p14="http://schemas.microsoft.com/office/powerpoint/2010/main" val="2110884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6831AFE-A400-4378-BBF9-2FC66AB02277}"/>
              </a:ext>
            </a:extLst>
          </p:cNvPr>
          <p:cNvSpPr>
            <a:spLocks noGrp="1"/>
          </p:cNvSpPr>
          <p:nvPr/>
        </p:nvSpPr>
        <p:spPr>
          <a:xfrm>
            <a:off x="666750" y="257175"/>
            <a:ext cx="1371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500" b="1">
                <a:solidFill>
                  <a:srgbClr val="008C95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08C95"/>
                </a:solidFill>
                <a:latin typeface="Heiti SC"/>
                <a:ea typeface="Heiti SC"/>
                <a:cs typeface="Heiti SC"/>
              </a:rPr>
              <a:t>资料与追溯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222EE5-DBEA-42A3-8814-7E409BA420C9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1390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3450" b="1">
                <a:solidFill>
                  <a:srgbClr val="123B52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23B52"/>
                </a:solidFill>
                <a:latin typeface="Heiti SC"/>
                <a:ea typeface="Heiti SC"/>
                <a:cs typeface="Heiti SC"/>
              </a:rPr>
              <a:t>来源与版本：区分源码事实、官方披露与团队实测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9F05C0-2B2B-4A1C-BDAD-C0B95AFBF289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1390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完整链接、条件与限定已放在各页演讲者备注；下列为主证据入口。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25DDD0-9944-4362-B3A9-B1AB7F241490}"/>
              </a:ext>
            </a:extLst>
          </p:cNvPr>
          <p:cNvSpPr>
            <a:spLocks noGrp="1"/>
          </p:cNvSpPr>
          <p:nvPr/>
        </p:nvSpPr>
        <p:spPr>
          <a:xfrm>
            <a:off x="666750" y="7991475"/>
            <a:ext cx="13906500" cy="19050"/>
          </a:xfrm>
          <a:prstGeom prst="rect">
            <a:avLst/>
          </a:prstGeom>
          <a:solidFill>
            <a:srgbClr val="CAD9DF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EE51FC-3134-4212-B75E-3F9B43DB2087}"/>
              </a:ext>
            </a:extLst>
          </p:cNvPr>
          <p:cNvSpPr>
            <a:spLocks noGrp="1"/>
          </p:cNvSpPr>
          <p:nvPr/>
        </p:nvSpPr>
        <p:spPr>
          <a:xfrm>
            <a:off x="666750" y="8115300"/>
            <a:ext cx="1276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135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来源：S01、S02、团队 A5 截图、S32、S39、S40；详见本页备注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B8F8A6-2630-4D9F-B6D6-B92C1A79D98B}"/>
              </a:ext>
            </a:extLst>
          </p:cNvPr>
          <p:cNvSpPr>
            <a:spLocks noGrp="1"/>
          </p:cNvSpPr>
          <p:nvPr/>
        </p:nvSpPr>
        <p:spPr>
          <a:xfrm>
            <a:off x="13906500" y="80962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r">
              <a:defRPr sz="1500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33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39EE3EE-E9C5-4A0E-9C90-3EF18AE76D93}"/>
              </a:ext>
            </a:extLst>
          </p:cNvPr>
          <p:cNvGraphicFramePr/>
          <p:nvPr/>
        </p:nvGraphicFramePr>
        <p:xfrm>
          <a:off x="666750" y="2190750"/>
          <a:ext cx="13906500" cy="41910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证据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入口与版本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>
                      <a:solidFill>
                        <a:srgbClr val="CAD9DF"/>
                      </a:solidFill>
                      <a:prstDash val="soli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12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DeepInfer 开源代码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deepseek-ai/DeepInfer；技术审查基线 9bd9cf2；README 与部署 Q&amp;A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模型配置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/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报告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V4.1 Flash 1017 固定配置；40 层、KV 共享、SWA 与 mHC 等机制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DeepSeek 官方生产披露</a:t>
                      </a: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知乎《V4.1 Flash 大规模推理部署实践》；长期缓存与命中率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vLLM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/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SGLang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官方实验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vLLM 2026-10-23；SGLang 2026-10-24；博客图源与复现脚本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团队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A5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与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Ascend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实现</a:t>
                      </a:r>
                      <a:endParaRPr sz="2100" dirty="0">
                        <a:solidFill>
                          <a:srgbClr val="192F3E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142875" marR="142875" marT="95250" marB="95250" anchor="ctr">
                    <a:lnL w="9525">
                      <a:solidFill>
                        <a:srgbClr val="CAD9DF"/>
                      </a:solidFill>
                      <a:prstDash val="soli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两张内部测试截图；Ascend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</a:t>
                      </a:r>
                      <a:r>
                        <a:rPr sz="2100" dirty="0" err="1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模型基线</a:t>
                      </a:r>
                      <a:r>
                        <a:rPr sz="2100" dirty="0">
                          <a:solidFill>
                            <a:srgbClr val="192F3E"/>
                          </a:solidFill>
                          <a:latin typeface="Heiti SC"/>
                          <a:ea typeface="Heiti SC"/>
                          <a:cs typeface="Heiti SC"/>
                        </a:rPr>
                        <a:t> 5685a13e、指南 4e6eac4e</a:t>
                      </a:r>
                    </a:p>
                  </a:txBody>
                  <a:tcPr marL="142875" marR="142875" marT="95250" marB="95250" anchor="ctr">
                    <a:lnL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9DF"/>
                      </a:solidFill>
                      <a:prstDash val="solid"/>
                    </a:lnR>
                    <a:lnT w="9525" cap="flat" cmpd="sng" algn="ctr">
                      <a:solidFill>
                        <a:srgbClr val="CA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9DF"/>
                      </a:solidFill>
                      <a:prstDash val="soli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44E8046-1659-41FE-B8C3-C9A2A7F7F203}"/>
              </a:ext>
            </a:extLst>
          </p:cNvPr>
          <p:cNvSpPr>
            <a:spLocks noGrp="1"/>
          </p:cNvSpPr>
          <p:nvPr/>
        </p:nvSpPr>
        <p:spPr>
          <a:xfrm>
            <a:off x="666750" y="66675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lvl9pPr>
          </a:lstStyle>
          <a:p>
            <a:pPr algn="l">
              <a:defRPr sz="2025" b="0">
                <a:solidFill>
                  <a:srgbClr val="59717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59717F"/>
                </a:solidFill>
                <a:latin typeface="Heiti SC"/>
                <a:ea typeface="Heiti SC"/>
                <a:cs typeface="Heiti SC"/>
              </a:rPr>
              <a:t>报告基准：第八版（2026-10-26）；PPT 整理：2026-10-27。实验构建、合入代码和生产版本分别验收。</a:t>
            </a:r>
          </a:p>
        </p:txBody>
      </p:sp>
    </p:spTree>
    <p:extLst>
      <p:ext uri="{BB962C8B-B14F-4D97-AF65-F5344CB8AC3E}">
        <p14:creationId xmlns:p14="http://schemas.microsoft.com/office/powerpoint/2010/main" val="4962328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11662</Words>
  <Application>Microsoft Macintosh PowerPoint</Application>
  <DocSecurity>0</DocSecurity>
  <PresentationFormat>自定义</PresentationFormat>
  <Paragraphs>1573</Paragraphs>
  <Slides>33</Slides>
  <Notes>33</Notes>
  <HiddenSlides>11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Heiti SC</vt:lpstr>
      <vt:lpstr>Aptos</vt:lpstr>
      <vt:lpstr>Arial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jwx02384838</cp:lastModifiedBy>
  <cp:revision>12</cp:revision>
  <dcterms:created xsi:type="dcterms:W3CDTF">2026-10-27T04:47:13Z</dcterms:created>
  <dcterms:modified xsi:type="dcterms:W3CDTF">2026-10-27T05:23:53Z</dcterms:modified>
</cp:coreProperties>
</file>