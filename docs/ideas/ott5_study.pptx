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9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011680" cy="5486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4577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4000" b="1" dirty="0">
                <a:solidFill>
                  <a:srgbClr val="FFFFFF"/>
                </a:solidFill>
                <a:latin typeface="PingFang SC"/>
                <a:ea typeface="PingFang SC"/>
              </a:rPr>
              <a:t>OTT5</a:t>
            </a:r>
            <a:r>
              <a:rPr lang="zh-CN" altLang="en-US" sz="4000" b="1" dirty="0">
                <a:solidFill>
                  <a:srgbClr val="FFFFFF"/>
                </a:solidFill>
                <a:latin typeface="PingFang SC"/>
                <a:ea typeface="PingFang SC"/>
              </a:rPr>
              <a:t>推理</a:t>
            </a:r>
            <a:r>
              <a:rPr sz="4000" b="1" i="0" dirty="0" err="1">
                <a:solidFill>
                  <a:srgbClr val="FFFFFF"/>
                </a:solidFill>
                <a:latin typeface="PingFang SC"/>
                <a:ea typeface="PingFang SC"/>
              </a:rPr>
              <a:t>学习建设</a:t>
            </a:r>
            <a:r>
              <a:rPr lang="zh-CN" altLang="en-US" sz="4000" b="1" i="0" dirty="0">
                <a:solidFill>
                  <a:srgbClr val="FFFFFF"/>
                </a:solidFill>
                <a:latin typeface="PingFang SC"/>
                <a:ea typeface="PingFang SC"/>
              </a:rPr>
              <a:t>研讨</a:t>
            </a:r>
            <a:endParaRPr sz="4000" b="1" i="0" dirty="0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 err="1">
                <a:solidFill>
                  <a:srgbClr val="9999AA"/>
                </a:solidFill>
                <a:latin typeface="PingFang SC"/>
                <a:ea typeface="PingFang SC"/>
              </a:rPr>
              <a:t>所有内容均为抛砖引玉的提案</a:t>
            </a:r>
            <a:endParaRPr sz="1300" b="0" i="0" dirty="0">
              <a:solidFill>
                <a:srgbClr val="9999AA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为什么要学</a:t>
            </a:r>
            <a:endParaRPr sz="2600" b="1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500" b="1" i="0" dirty="0" err="1">
                <a:solidFill>
                  <a:srgbClr val="1A1A2E"/>
                </a:solidFill>
                <a:latin typeface="PingFang SC"/>
                <a:ea typeface="PingFang SC"/>
              </a:rPr>
              <a:t>现状：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拉模型、跑压测、看日志已经熟了；但框架代码读不深，遇到性能问题或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bug，常常只能等社区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 PR</a:t>
            </a:r>
          </a:p>
          <a:p>
            <a:pPr>
              <a:spcAft>
                <a:spcPts val="2200"/>
              </a:spcAft>
            </a:pPr>
            <a:r>
              <a:rPr sz="1500" b="1" i="0" dirty="0">
                <a:solidFill>
                  <a:srgbClr val="1A1A2E"/>
                </a:solidFill>
                <a:latin typeface="PingFang SC"/>
                <a:ea typeface="PingFang SC"/>
              </a:rPr>
              <a:t>AI Coding </a:t>
            </a:r>
            <a:r>
              <a:rPr sz="1500" b="1" i="0" dirty="0" err="1">
                <a:solidFill>
                  <a:srgbClr val="1A1A2E"/>
                </a:solidFill>
                <a:latin typeface="PingFang SC"/>
                <a:ea typeface="PingFang SC"/>
              </a:rPr>
              <a:t>时代：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AI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能写代码，但</a:t>
            </a:r>
            <a:r>
              <a:rPr sz="1500" b="1" i="0" dirty="0" err="1">
                <a:solidFill>
                  <a:srgbClr val="1677FF"/>
                </a:solidFill>
                <a:latin typeface="PingFang SC"/>
                <a:ea typeface="PingFang SC"/>
              </a:rPr>
              <a:t>看不懂的代码就是定时炸弹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——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判断写得对不对、风险在哪，AI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替代不了我们</a:t>
            </a:r>
            <a:endParaRPr sz="1500" b="0" i="0" dirty="0">
              <a:solidFill>
                <a:srgbClr val="1A1A2E"/>
              </a:solidFill>
              <a:latin typeface="PingFang SC"/>
              <a:ea typeface="PingFang SC"/>
            </a:endParaRPr>
          </a:p>
          <a:p>
            <a:pPr>
              <a:spcAft>
                <a:spcPts val="2200"/>
              </a:spcAft>
            </a:pPr>
            <a:r>
              <a:rPr sz="1500" b="1" i="0" dirty="0" err="1">
                <a:solidFill>
                  <a:srgbClr val="1A1A2E"/>
                </a:solidFill>
                <a:latin typeface="PingFang SC"/>
                <a:ea typeface="PingFang SC"/>
              </a:rPr>
              <a:t>目标很朴素：</a:t>
            </a:r>
            <a:r>
              <a:rPr sz="1500" b="0" i="0" dirty="0" err="1">
                <a:solidFill>
                  <a:srgbClr val="1A1A2E"/>
                </a:solidFill>
                <a:latin typeface="PingFang SC"/>
                <a:ea typeface="PingFang SC"/>
              </a:rPr>
              <a:t>遇到问题能自己往下钻一层</a:t>
            </a:r>
            <a:r>
              <a:rPr sz="1500" b="0" i="0" dirty="0">
                <a:solidFill>
                  <a:srgbClr val="1A1A2E"/>
                </a:solidFill>
                <a:latin typeface="PingFang SC"/>
                <a:ea typeface="PingFang SC"/>
              </a:rPr>
              <a:t>，</a:t>
            </a:r>
            <a:r>
              <a:rPr lang="zh-CN" altLang="en-US" sz="1500" dirty="0">
                <a:solidFill>
                  <a:srgbClr val="1A1A2E"/>
                </a:solidFill>
                <a:latin typeface="PingFang SC"/>
                <a:ea typeface="PingFang SC"/>
              </a:rPr>
              <a:t>掌握研发能力而不仅是测试能力（</a:t>
            </a:r>
            <a:r>
              <a:rPr lang="en-US" altLang="zh-CN" sz="1500" dirty="0">
                <a:solidFill>
                  <a:srgbClr val="1A1A2E"/>
                </a:solidFill>
                <a:latin typeface="PingFang SC"/>
                <a:ea typeface="PingFang SC"/>
              </a:rPr>
              <a:t>review</a:t>
            </a:r>
            <a:r>
              <a:rPr lang="zh-CN" altLang="en-US" sz="1500" dirty="0">
                <a:solidFill>
                  <a:srgbClr val="1A1A2E"/>
                </a:solidFill>
                <a:latin typeface="PingFang SC"/>
                <a:ea typeface="PingFang SC"/>
              </a:rPr>
              <a:t>，</a:t>
            </a:r>
            <a:r>
              <a:rPr lang="en-US" altLang="zh-CN" sz="1500" dirty="0">
                <a:solidFill>
                  <a:srgbClr val="1A1A2E"/>
                </a:solidFill>
                <a:latin typeface="PingFang SC"/>
                <a:ea typeface="PingFang SC"/>
              </a:rPr>
              <a:t>debug</a:t>
            </a:r>
            <a:r>
              <a:rPr lang="zh-CN" altLang="en-US" sz="1500" dirty="0">
                <a:solidFill>
                  <a:srgbClr val="1A1A2E"/>
                </a:solidFill>
                <a:latin typeface="PingFang SC"/>
                <a:ea typeface="PingFang SC"/>
              </a:rPr>
              <a:t>，</a:t>
            </a:r>
            <a:r>
              <a:rPr lang="en-US" altLang="zh-CN" sz="1500" dirty="0">
                <a:solidFill>
                  <a:srgbClr val="1A1A2E"/>
                </a:solidFill>
                <a:latin typeface="PingFang SC"/>
                <a:ea typeface="PingFang SC"/>
              </a:rPr>
              <a:t>develop</a:t>
            </a:r>
            <a:r>
              <a:rPr lang="zh-CN" altLang="en-US" sz="1500" dirty="0">
                <a:solidFill>
                  <a:srgbClr val="1A1A2E"/>
                </a:solidFill>
                <a:latin typeface="PingFang SC"/>
                <a:ea typeface="PingFang SC"/>
              </a:rPr>
              <a:t>）</a:t>
            </a:r>
            <a:endParaRPr sz="1500" b="0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学习路径全景：有哪些可以学</a:t>
            </a:r>
            <a:endParaRPr sz="2600" b="1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121408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121408" cy="822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828800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PingFang SC"/>
                <a:ea typeface="PingFang SC"/>
              </a:rPr>
              <a:t>A · 模型层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77440"/>
            <a:ext cx="19019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主力业务模型 / DeepSeek 系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Kimi K3 系 / GLM 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1600200"/>
            <a:ext cx="2121408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34056" y="1600200"/>
            <a:ext cx="2121408" cy="822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1828800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PingFang SC"/>
                <a:ea typeface="PingFang SC"/>
              </a:rPr>
              <a:t>B · 框架核心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377440"/>
            <a:ext cx="19019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请求生命周期 / KV Cache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Chunked Prefill / PD 分离等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5192" y="1600200"/>
            <a:ext cx="2121408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5192" y="1600200"/>
            <a:ext cx="2121408" cy="822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1A1A2E"/>
                </a:solidFill>
                <a:latin typeface="PingFang SC"/>
                <a:ea typeface="PingFang SC"/>
              </a:rPr>
              <a:t>C · </a:t>
            </a:r>
            <a:r>
              <a:rPr sz="1500" b="1" i="0" dirty="0" err="1">
                <a:solidFill>
                  <a:srgbClr val="1A1A2E"/>
                </a:solidFill>
                <a:latin typeface="PingFang SC"/>
                <a:ea typeface="PingFang SC"/>
              </a:rPr>
              <a:t>算子·图·通信</a:t>
            </a:r>
            <a:endParaRPr sz="1500" b="1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920" y="2377440"/>
            <a:ext cx="19019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ACL Graph / 融合算子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PingFang SC"/>
                <a:ea typeface="PingFang SC"/>
              </a:rPr>
              <a:t>HCCL / 量化 / TBE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6328" y="1600200"/>
            <a:ext cx="2121408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96328" y="1600200"/>
            <a:ext cx="2121408" cy="822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06056" y="1828800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PingFang SC"/>
                <a:ea typeface="PingFang SC"/>
              </a:rPr>
              <a:t>D · 周边能力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2377440"/>
            <a:ext cx="1901952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 dirty="0">
                <a:solidFill>
                  <a:srgbClr val="666666"/>
                </a:solidFill>
                <a:latin typeface="PingFang SC"/>
                <a:ea typeface="PingFang SC"/>
              </a:rPr>
              <a:t>Profiling / </a:t>
            </a:r>
            <a:r>
              <a:rPr lang="zh-CN" altLang="en-US" sz="1150" b="0" i="0" dirty="0">
                <a:solidFill>
                  <a:srgbClr val="666666"/>
                </a:solidFill>
                <a:latin typeface="PingFang SC"/>
                <a:ea typeface="PingFang SC"/>
              </a:rPr>
              <a:t>仿真</a:t>
            </a:r>
            <a:endParaRPr sz="115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427464" y="1600200"/>
            <a:ext cx="2121408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27464" y="1600200"/>
            <a:ext cx="2121408" cy="822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1828800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PingFang SC"/>
                <a:ea typeface="PingFang SC"/>
              </a:rPr>
              <a:t>E · 社区 Issue/PR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377440"/>
            <a:ext cx="1901952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50" b="0" i="0" dirty="0">
                <a:solidFill>
                  <a:srgbClr val="666666"/>
                </a:solidFill>
                <a:latin typeface="PingFang SC"/>
                <a:ea typeface="PingFang SC"/>
              </a:rPr>
              <a:t>Bugfix</a:t>
            </a:r>
          </a:p>
          <a:p>
            <a:pPr algn="l">
              <a:spcAft>
                <a:spcPts val="400"/>
              </a:spcAft>
            </a:pPr>
            <a:r>
              <a:rPr lang="en-US" sz="1150" dirty="0">
                <a:solidFill>
                  <a:srgbClr val="666666"/>
                </a:solidFill>
                <a:latin typeface="PingFang SC"/>
                <a:ea typeface="PingFang SC"/>
              </a:rPr>
              <a:t>Feat</a:t>
            </a:r>
            <a:endParaRPr sz="115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A1A2E"/>
                </a:solidFill>
                <a:latin typeface="PingFang SC"/>
                <a:ea typeface="PingFang SC"/>
              </a:rPr>
              <a:t>A · 模型层（框架上游）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主题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可以研究什么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上手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会上标记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主力业务模型（当前在调的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架构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框架代码映射；Attention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MoE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算子的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NPU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实现差异；调用链走读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DeepSeek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系（MLA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+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MoE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MLA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的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KV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压缩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解压缩权衡；MoE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的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EP/TP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混合并行与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All-to-All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通信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重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Kimi K3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系（长上下文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超长上下文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BlockTable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管理；线性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Attention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变体的框架适配方式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GLM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特有掩码/自回归机制的 forward 主循环；Agent 场景多轮调用推理特点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A1A2E"/>
                </a:solidFill>
                <a:latin typeface="PingFang SC"/>
                <a:ea typeface="PingFang SC"/>
              </a:rPr>
              <a:t>B · 推理框架核心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主题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可以研究什么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上手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会上标记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请求生命周期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Engine → Scheduler → Runner → Worker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调用链；异步调度；batch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怎么组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vLLM-Ascend 适配层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Platform 插件机制；哪些原生类被继承/重写、为什么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轻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KV Cache / KV Pool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PagedAttention 的 Ascend 实现；BlockTable；显存分配/回收；KV 共享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Chunked Prefill / DCP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分块策略；长短请求混合调度；DCP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动态分块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Continuous Batching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请求插入时机；抢占机制与开销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PD 分离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Prefill/Decode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实例拆分；KV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传输；负载均衡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重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Speculative Decoding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Draft/Target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配合机制；接受率对收益的影响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推理技术漫谈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现有特性（KV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Pool / PD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分离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/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DCP）的设计动机：它们在解什么问题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轻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C · </a:t>
            </a: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算子、图、HCCL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通信</a:t>
            </a:r>
            <a:r>
              <a:rPr lang="zh-CN" altLang="en-US" sz="2600" b="1" i="0" dirty="0">
                <a:solidFill>
                  <a:srgbClr val="1A1A2E"/>
                </a:solidFill>
                <a:latin typeface="PingFang SC"/>
                <a:ea typeface="PingFang SC"/>
              </a:rPr>
              <a:t>、硬件特性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（</a:t>
            </a: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框架下游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20375"/>
              </p:ext>
            </p:extLst>
          </p:nvPr>
        </p:nvGraphicFramePr>
        <p:xfrm>
          <a:off x="502920" y="132588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主题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可以研究什么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上手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会上标记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TorchAir / ACL Graph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图捕获范围；动态 Shape 限制；图编译为什么失败、Warmup 为什么慢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融合算子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自带哪些融合（RMSNorm+Quant、SiluAndMul）；什么情况 fallback 到慢路径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HCCL 通信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AllReduce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AllGather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在不同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TP/PP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下的占比；计算-通信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Overlap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量化推理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W8A8 / W4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系列量化怎么接入；精度怎么验证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重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zh-CN" altLang="en-US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硬件特点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NPU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系列</a:t>
                      </a:r>
                      <a:r>
                        <a:rPr lang="en-US" altLang="zh-CN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/PPU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系列</a:t>
                      </a:r>
                      <a:r>
                        <a:rPr lang="en-US" altLang="zh-CN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/GPU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系列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18869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自定义算子开发（TBE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CANN TBE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编程；算子注册与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Binding（投入大，是否碰，会上议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重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A1A2E"/>
                </a:solidFill>
                <a:latin typeface="PingFang SC"/>
                <a:ea typeface="PingFang SC"/>
              </a:rPr>
              <a:t>D · 周边能力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59285"/>
              </p:ext>
            </p:extLst>
          </p:nvPr>
        </p:nvGraphicFramePr>
        <p:xfrm>
          <a:off x="502920" y="132588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主题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可以研究什么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上手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会上标记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Profiling 分析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msprof 使用；Python/CANN/算子三层耗时拆解；Host-Device 同步点识别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  <a:r>
                        <a:rPr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zh-CN" altLang="en-US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仿真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使用方法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★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en-US" altLang="zh-CN"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Sglang</a:t>
                      </a:r>
                      <a:r>
                        <a:rPr lang="zh-CN" altLang="en-US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等周边框架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优势与劣势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4644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en-US" altLang="zh-CN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…</a:t>
                      </a:r>
                      <a:r>
                        <a:rPr lang="zh-CN" altLang="en-US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lang="en-US" altLang="zh-CN"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…</a:t>
                      </a:r>
                      <a:endParaRPr sz="1200" b="1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…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r>
                        <a:rPr lang="en-US" altLang="zh-CN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…</a:t>
                      </a:r>
                      <a:r>
                        <a:rPr lang="zh-CN" altLang="en-US" sz="1200" b="0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31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A1A2E"/>
                </a:solidFill>
                <a:latin typeface="PingFang SC"/>
                <a:ea typeface="PingFang SC"/>
              </a:rPr>
              <a:t>E · 社区 Issue / PR 阅读（特别适合新手）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494925"/>
              </p:ext>
            </p:extLst>
          </p:nvPr>
        </p:nvGraphicFramePr>
        <p:xfrm>
          <a:off x="502920" y="132588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读什么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为什么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上手</a:t>
                      </a:r>
                    </a:p>
                  </a:txBody>
                  <a:tcPr marL="54864" marR="54864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自己踩过的坑对应的修复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PR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有体感、读得快，直接加深对业务的理解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good first issue /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小修复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PR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社区维护者标注的入门题，粒度小；运气好可试提一个小 PR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轻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被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revert </a:t>
                      </a:r>
                      <a:r>
                        <a:rPr sz="1200" b="1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或大改的</a:t>
                      </a:r>
                      <a:r>
                        <a:rPr sz="1200" b="1" i="0" dirty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 PR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能看到“什么样的代码会出问题”，学习 review 标准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讨论激烈的长 review PR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reviewer 的追问最有营养，能看到设计权衡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1A1A2E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  <a:endParaRPr sz="1200" b="0" i="0" dirty="0">
                        <a:solidFill>
                          <a:srgbClr val="1A1A2E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207" y="4572000"/>
            <a:ext cx="1118585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 dirty="0" err="1">
                <a:solidFill>
                  <a:srgbClr val="1A1A2E"/>
                </a:solidFill>
                <a:latin typeface="PingFang SC"/>
                <a:ea typeface="PingFang SC"/>
              </a:rPr>
              <a:t>建议读法：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问题描述（在解什么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）→ 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最小复现（怎么触发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）→ fix 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diff（改了什么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）→ review 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对话（为什么这样改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07656"/>
            <a:ext cx="949421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议题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lang="en-US" altLang="zh-CN" sz="2600" b="1" i="0" dirty="0">
                <a:solidFill>
                  <a:srgbClr val="1A1A2E"/>
                </a:solidFill>
                <a:latin typeface="PingFang SC"/>
                <a:ea typeface="PingFang SC"/>
              </a:rPr>
              <a:t>1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：</a:t>
            </a:r>
            <a:r>
              <a:rPr lang="zh-CN" altLang="en-US" sz="2600" b="1" i="0" dirty="0">
                <a:solidFill>
                  <a:srgbClr val="1A1A2E"/>
                </a:solidFill>
                <a:latin typeface="PingFang SC"/>
                <a:ea typeface="PingFang SC"/>
              </a:rPr>
              <a:t>学习基调</a:t>
            </a:r>
            <a:endParaRPr sz="2600" b="1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10180015" cy="5899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欢迎</a:t>
            </a:r>
            <a:r>
              <a:rPr lang="zh-CN" altLang="en-US" sz="1600" b="1" i="0" dirty="0">
                <a:solidFill>
                  <a:srgbClr val="1A1A2E"/>
                </a:solidFill>
                <a:latin typeface="PingFang SC"/>
                <a:ea typeface="PingFang SC"/>
              </a:rPr>
              <a:t>半成品</a:t>
            </a:r>
            <a:endParaRPr sz="1600" b="1" i="0" dirty="0">
              <a:solidFill>
                <a:srgbClr val="1A1A2E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学到哪分享到哪，不需要搞得非常明白才讲。讲错了一起纠正</a:t>
            </a:r>
            <a:r>
              <a:rPr sz="1300" b="0" i="0" dirty="0">
                <a:solidFill>
                  <a:srgbClr val="666666"/>
                </a:solidFill>
                <a:latin typeface="PingFang SC"/>
                <a:ea typeface="PingFang SC"/>
              </a:rPr>
              <a:t>——</a:t>
            </a: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纠正的过程往往比结论更有价值</a:t>
            </a:r>
            <a:endParaRPr sz="130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78608"/>
            <a:ext cx="10180015" cy="5899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问题可以遗留</a:t>
            </a:r>
            <a:endParaRPr sz="1600" b="1" i="0" dirty="0">
              <a:solidFill>
                <a:srgbClr val="1A1A2E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666666"/>
                </a:solidFill>
                <a:latin typeface="PingFang SC"/>
                <a:ea typeface="PingFang SC"/>
              </a:rPr>
              <a:t>聊不出结论就记进“</a:t>
            </a: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停车场</a:t>
            </a:r>
            <a:r>
              <a:rPr sz="1300" b="0" i="0" dirty="0">
                <a:solidFill>
                  <a:srgbClr val="666666"/>
                </a:solidFill>
                <a:latin typeface="PingFang SC"/>
                <a:ea typeface="PingFang SC"/>
              </a:rPr>
              <a:t>”，</a:t>
            </a: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下次接着聊，或者攒着问社区</a:t>
            </a:r>
            <a:r>
              <a:rPr lang="zh-CN" altLang="en-US" sz="1300" b="0" i="0" dirty="0">
                <a:solidFill>
                  <a:srgbClr val="666666"/>
                </a:solidFill>
                <a:latin typeface="PingFang SC"/>
                <a:ea typeface="PingFang SC"/>
              </a:rPr>
              <a:t>、家里</a:t>
            </a:r>
            <a:endParaRPr sz="130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21608"/>
            <a:ext cx="101800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不设考核</a:t>
            </a:r>
            <a:endParaRPr sz="1600" b="1" i="0" dirty="0">
              <a:solidFill>
                <a:srgbClr val="1A1A2E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没有达标线，没有人打分，分享不设准入门槛</a:t>
            </a:r>
            <a:endParaRPr sz="130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64608"/>
            <a:ext cx="10180015" cy="5899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少量多次</a:t>
            </a:r>
            <a:endParaRPr sz="1600" b="1" i="0" dirty="0">
              <a:solidFill>
                <a:srgbClr val="1A1A2E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一次一个主题</a:t>
            </a:r>
            <a:r>
              <a:rPr sz="1300" b="0" i="0" dirty="0">
                <a:solidFill>
                  <a:srgbClr val="666666"/>
                </a:solidFill>
                <a:latin typeface="PingFang SC"/>
                <a:ea typeface="PingFang SC"/>
              </a:rPr>
              <a:t>，</a:t>
            </a:r>
            <a:r>
              <a:rPr lang="zh-CN" altLang="en-US" sz="1300" b="0" i="0" dirty="0">
                <a:solidFill>
                  <a:srgbClr val="666666"/>
                </a:solidFill>
                <a:latin typeface="PingFang SC"/>
                <a:ea typeface="PingFang SC"/>
              </a:rPr>
              <a:t>争取聊透</a:t>
            </a:r>
            <a:endParaRPr sz="1300" b="0" i="0" dirty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257365"/>
            <a:ext cx="949421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议题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 </a:t>
            </a:r>
            <a:r>
              <a:rPr lang="en-US" altLang="zh-CN" sz="2600" b="1" i="0" dirty="0">
                <a:solidFill>
                  <a:srgbClr val="1A1A2E"/>
                </a:solidFill>
                <a:latin typeface="PingFang SC"/>
                <a:ea typeface="PingFang SC"/>
              </a:rPr>
              <a:t>2</a:t>
            </a:r>
            <a:r>
              <a:rPr sz="2600" b="1" i="0" dirty="0">
                <a:solidFill>
                  <a:srgbClr val="1A1A2E"/>
                </a:solidFill>
                <a:latin typeface="PingFang SC"/>
                <a:ea typeface="PingFang SC"/>
              </a:rPr>
              <a:t>：学习节奏——</a:t>
            </a:r>
            <a:r>
              <a:rPr sz="2600" b="1" i="0" dirty="0" err="1">
                <a:solidFill>
                  <a:srgbClr val="1A1A2E"/>
                </a:solidFill>
                <a:latin typeface="PingFang SC"/>
                <a:ea typeface="PingFang SC"/>
              </a:rPr>
              <a:t>投入多少、多久一次、什么时候</a:t>
            </a:r>
            <a:endParaRPr sz="2600" b="1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7" y="841248"/>
            <a:ext cx="1118585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 err="1">
                <a:solidFill>
                  <a:srgbClr val="666666"/>
                </a:solidFill>
                <a:latin typeface="PingFang SC"/>
                <a:ea typeface="PingFang SC"/>
              </a:rPr>
              <a:t>核心原则：不能影响业务工作</a:t>
            </a:r>
            <a:r>
              <a:rPr sz="1300" b="0" i="0" dirty="0">
                <a:solidFill>
                  <a:srgbClr val="666666"/>
                </a:solidFill>
                <a:latin typeface="PingFang SC"/>
                <a:ea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20095" cy="574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677FF"/>
                </a:solidFill>
                <a:latin typeface="PingFang SC"/>
                <a:ea typeface="PingFang SC"/>
              </a:rPr>
              <a:t>1 · </a:t>
            </a:r>
            <a:r>
              <a:rPr sz="1500" b="1" i="0" dirty="0" err="1">
                <a:solidFill>
                  <a:srgbClr val="1677FF"/>
                </a:solidFill>
                <a:latin typeface="PingFang SC"/>
                <a:ea typeface="PingFang SC"/>
              </a:rPr>
              <a:t>时间投入</a:t>
            </a:r>
            <a:endParaRPr sz="1500" b="1" i="0" dirty="0">
              <a:solidFill>
                <a:srgbClr val="1677FF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每人每周能稳定拿出几小时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0820095" cy="574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677FF"/>
                </a:solidFill>
                <a:latin typeface="PingFang SC"/>
                <a:ea typeface="PingFang SC"/>
              </a:rPr>
              <a:t>2 · </a:t>
            </a:r>
            <a:r>
              <a:rPr sz="1500" b="1" i="0" dirty="0" err="1">
                <a:solidFill>
                  <a:srgbClr val="1677FF"/>
                </a:solidFill>
                <a:latin typeface="PingFang SC"/>
                <a:ea typeface="PingFang SC"/>
              </a:rPr>
              <a:t>分享频率</a:t>
            </a:r>
            <a:endParaRPr sz="1500" b="1" i="0" dirty="0">
              <a:solidFill>
                <a:srgbClr val="1677FF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每周一次还是双周一次？结合时间投入来定</a:t>
            </a:r>
            <a:r>
              <a:rPr lang="zh-CN" altLang="en-US" sz="1300" b="0" i="0" dirty="0">
                <a:solidFill>
                  <a:srgbClr val="1A1A2E"/>
                </a:solidFill>
                <a:latin typeface="PingFang SC"/>
                <a:ea typeface="PingFang SC"/>
              </a:rPr>
              <a:t>：每周四</a:t>
            </a:r>
            <a:r>
              <a:rPr lang="en-US" altLang="zh-CN" sz="1300" b="0" i="0" dirty="0">
                <a:solidFill>
                  <a:srgbClr val="1A1A2E"/>
                </a:solidFill>
                <a:latin typeface="PingFang SC"/>
                <a:ea typeface="PingFang SC"/>
              </a:rPr>
              <a:t>7~8</a:t>
            </a:r>
            <a:r>
              <a:rPr lang="zh-CN" altLang="en-US" sz="1300" b="0" i="0" dirty="0">
                <a:solidFill>
                  <a:srgbClr val="1A1A2E"/>
                </a:solidFill>
                <a:latin typeface="PingFang SC"/>
                <a:ea typeface="PingFang SC"/>
              </a:rPr>
              <a:t>点，月末周六半天。 （图怎么用，投机的联动）</a:t>
            </a:r>
            <a:endParaRPr sz="1300" b="0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10820095" cy="574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677FF"/>
                </a:solidFill>
                <a:latin typeface="PingFang SC"/>
                <a:ea typeface="PingFang SC"/>
              </a:rPr>
              <a:t>3 · </a:t>
            </a:r>
            <a:r>
              <a:rPr sz="1500" b="1" i="0" dirty="0" err="1">
                <a:solidFill>
                  <a:srgbClr val="1677FF"/>
                </a:solidFill>
                <a:latin typeface="PingFang SC"/>
                <a:ea typeface="PingFang SC"/>
              </a:rPr>
              <a:t>分享时间</a:t>
            </a:r>
            <a:endParaRPr sz="1500" b="1" i="0" dirty="0">
              <a:solidFill>
                <a:srgbClr val="1677FF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周几、什么时段、一次多久？建议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 40~60 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分钟</a:t>
            </a:r>
            <a:endParaRPr sz="1300" b="0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677FF"/>
                </a:solidFill>
                <a:latin typeface="PingFang SC"/>
                <a:ea typeface="PingFang SC"/>
              </a:rPr>
              <a:t>4 · </a:t>
            </a:r>
            <a:r>
              <a:rPr sz="1500" b="1" i="0" dirty="0" err="1">
                <a:solidFill>
                  <a:srgbClr val="1677FF"/>
                </a:solidFill>
                <a:latin typeface="PingFang SC"/>
                <a:ea typeface="PingFang SC"/>
              </a:rPr>
              <a:t>分享形式</a:t>
            </a:r>
            <a:endParaRPr sz="1500" b="1" i="0" dirty="0">
              <a:solidFill>
                <a:srgbClr val="1677FF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不局限线下分享，文档分享</a:t>
            </a:r>
            <a:r>
              <a:rPr sz="1300" b="0" i="0" dirty="0">
                <a:solidFill>
                  <a:srgbClr val="1A1A2E"/>
                </a:solidFill>
                <a:latin typeface="PingFang SC"/>
                <a:ea typeface="PingFang SC"/>
              </a:rPr>
              <a:t> + </a:t>
            </a:r>
            <a:r>
              <a:rPr sz="1300" b="0" i="0" dirty="0" err="1">
                <a:solidFill>
                  <a:srgbClr val="1A1A2E"/>
                </a:solidFill>
                <a:latin typeface="PingFang SC"/>
                <a:ea typeface="PingFang SC"/>
              </a:rPr>
              <a:t>私下讨论也是一个选择</a:t>
            </a:r>
            <a:endParaRPr sz="1300" b="0" i="0" dirty="0">
              <a:solidFill>
                <a:srgbClr val="1A1A2E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610</Words>
  <Application>Microsoft Macintosh PowerPoint</Application>
  <PresentationFormat>宽屏</PresentationFormat>
  <Paragraphs>144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jwx02384838</cp:lastModifiedBy>
  <cp:revision>15</cp:revision>
  <dcterms:created xsi:type="dcterms:W3CDTF">2013-01-27T09:14:16Z</dcterms:created>
  <dcterms:modified xsi:type="dcterms:W3CDTF">2026-09-22T11:45:50Z</dcterms:modified>
  <cp:category/>
</cp:coreProperties>
</file>