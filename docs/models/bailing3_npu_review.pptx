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704088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normAutofit fontScale="92500" lnSpcReduction="20000"/>
          </a:bodyPr>
          <a:lstStyle/>
          <a:p>
            <a:r>
              <a:rPr lang="en-US" sz="2400" b="1">
                <a:solidFill>
                  <a:srgbClr val="0F172A"/>
                </a:solidFill>
                <a:latin typeface="Microsoft YaHei"/>
              </a:rPr>
              <a:t>XXX  </a:t>
            </a:r>
            <a:r>
              <a:rPr sz="2400" b="1">
                <a:solidFill>
                  <a:srgbClr val="0F172A"/>
                </a:solidFill>
                <a:latin typeface="Microsoft YaHei"/>
              </a:rPr>
              <a:t>NPU 推理适配复盘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12648"/>
            <a:ext cx="68580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r>
              <a:rPr sz="950" b="0">
                <a:solidFill>
                  <a:srgbClr val="475569"/>
                </a:solidFill>
                <a:latin typeface="Microsoft YaHei"/>
              </a:rPr>
              <a:t>vLLM + vLLM-Ascend | 2026/05/07-05/20 | 交付 RL 后训练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58200" y="246888"/>
            <a:ext cx="3154680" cy="493776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64008" rIns="109728" rtlCol="0" anchor="ctr"/>
          <a:lstStyle/>
          <a:p>
            <a:pPr algn="ctr"/>
            <a:r>
              <a:rPr sz="1150" b="1">
                <a:solidFill>
                  <a:srgbClr val="16A34A"/>
                </a:solidFill>
                <a:latin typeface="Microsoft YaHei"/>
              </a:rPr>
              <a:t>结果：</a:t>
            </a:r>
            <a:r>
              <a:rPr sz="1150" b="1">
                <a:solidFill>
                  <a:srgbClr val="0F172A"/>
                </a:solidFill>
                <a:latin typeface="Microsoft YaHei"/>
              </a:rPr>
              <a:t>全层精度对齐，进入 RL 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941832"/>
            <a:ext cx="16459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r>
              <a:rPr sz="1200" b="1">
                <a:solidFill>
                  <a:srgbClr val="0F172A"/>
                </a:solidFill>
                <a:latin typeface="Microsoft YaHei"/>
              </a:rPr>
              <a:t>事件时间轴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950976"/>
            <a:ext cx="42976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r>
              <a:rPr sz="850" b="0">
                <a:solidFill>
                  <a:srgbClr val="475569"/>
                </a:solidFill>
                <a:latin typeface="Microsoft YaHei"/>
              </a:rPr>
              <a:t>从环境跑通，到算子语义修正，再到 HF/推理逐层对齐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9808" y="1371600"/>
            <a:ext cx="1051560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ight Arrow 7"/>
          <p:cNvSpPr/>
          <p:nvPr/>
        </p:nvSpPr>
        <p:spPr>
          <a:xfrm>
            <a:off x="11201400" y="1298448"/>
            <a:ext cx="237744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64792" y="1252728"/>
            <a:ext cx="237744" cy="237744"/>
          </a:xfrm>
          <a:prstGeom prst="ellipse">
            <a:avLst/>
          </a:prstGeom>
          <a:solidFill>
            <a:srgbClr val="2563EB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64792" y="1275588"/>
            <a:ext cx="2377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" y="1554480"/>
            <a:ext cx="2743200" cy="202996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bIns="73152" rtlCol="0" anchor="ctr">
            <a:norm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Microsoft YaHei"/>
              </a:rPr>
              <a:t>05/07-05/10 | 环境与基础能力</a:t>
            </a:r>
          </a:p>
          <a:p>
            <a:pPr>
              <a:lnSpc>
                <a:spcPct val="95000"/>
              </a:lnSpc>
              <a:spcBef>
                <a:spcPts val="100"/>
              </a:spcBef>
            </a:pPr>
            <a:r>
              <a:rPr sz="800" b="0">
                <a:solidFill>
                  <a:srgbClr val="0F172A"/>
                </a:solidFill>
                <a:latin typeface="Microsoft YaHei"/>
              </a:rPr>
              <a:t>05/07 对齐开发分支、版本依赖</a:t>
            </a:r>
          </a:p>
          <a:p>
            <a:pPr>
              <a:lnSpc>
                <a:spcPct val="95000"/>
              </a:lnSpc>
              <a:spcBef>
                <a:spcPts val="100"/>
              </a:spcBef>
            </a:pPr>
            <a:r>
              <a:rPr sz="800" b="0">
                <a:solidFill>
                  <a:srgbClr val="0F172A"/>
                </a:solidFill>
                <a:latin typeface="Microsoft YaHei"/>
              </a:rPr>
              <a:t>05/08 eager / 图模式跑通</a:t>
            </a:r>
          </a:p>
          <a:p>
            <a:pPr>
              <a:lnSpc>
                <a:spcPct val="95000"/>
              </a:lnSpc>
              <a:spcBef>
                <a:spcPts val="100"/>
              </a:spcBef>
            </a:pPr>
            <a:r>
              <a:rPr sz="800" b="0">
                <a:solidFill>
                  <a:srgbClr val="0F172A"/>
                </a:solidFill>
                <a:latin typeface="Microsoft YaHei"/>
              </a:rPr>
              <a:t>05/09 修复 hybrid attention page size 对齐</a:t>
            </a:r>
          </a:p>
          <a:p>
            <a:pPr>
              <a:lnSpc>
                <a:spcPct val="95000"/>
              </a:lnSpc>
              <a:spcBef>
                <a:spcPts val="100"/>
              </a:spcBef>
            </a:pPr>
            <a:r>
              <a:rPr sz="800" b="0">
                <a:solidFill>
                  <a:srgbClr val="0F172A"/>
                </a:solidFill>
                <a:latin typeface="Microsoft YaHei"/>
              </a:rPr>
              <a:t>05/10 处理 transformers partial_rotary_factor shape 差异；适配 triton-ascend 路径变化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1554480"/>
            <a:ext cx="73152" cy="20299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81144" y="1252728"/>
            <a:ext cx="237744" cy="237744"/>
          </a:xfrm>
          <a:prstGeom prst="ellipse">
            <a:avLst/>
          </a:prstGeom>
          <a:solidFill>
            <a:srgbClr val="0D948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81144" y="1275588"/>
            <a:ext cx="2377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554480"/>
            <a:ext cx="2542032" cy="2029968"/>
          </a:xfrm>
          <a:prstGeom prst="round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bIns="73152" rtlCol="0" anchor="ctr">
            <a:normAutofit/>
          </a:bodyPr>
          <a:lstStyle/>
          <a:p>
            <a:pPr algn="ctr"/>
            <a:r>
              <a:rPr sz="1050" b="1">
                <a:solidFill>
                  <a:srgbClr val="0D9488"/>
                </a:solidFill>
                <a:latin typeface="Microsoft YaHei"/>
              </a:rPr>
              <a:t>05/11-05/12 | 稳定性与 KDA</a:t>
            </a:r>
          </a:p>
          <a:p>
            <a:pPr>
              <a:lnSpc>
                <a:spcPct val="95000"/>
              </a:lnSpc>
              <a:spcBef>
                <a:spcPts val="100"/>
              </a:spcBef>
            </a:pPr>
            <a:r>
              <a:rPr sz="800" b="0">
                <a:solidFill>
                  <a:srgbClr val="0F172A"/>
                </a:solidFill>
                <a:latin typeface="Microsoft YaHei"/>
              </a:rPr>
              <a:t>05/11 autotune 首次编译过长，触发 HCCL timeout</a:t>
            </a:r>
          </a:p>
          <a:p>
            <a:pPr>
              <a:lnSpc>
                <a:spcPct val="95000"/>
              </a:lnSpc>
              <a:spcBef>
                <a:spcPts val="100"/>
              </a:spcBef>
            </a:pPr>
            <a:r>
              <a:rPr sz="800" b="0">
                <a:solidFill>
                  <a:srgbClr val="0F172A"/>
                </a:solidFill>
                <a:latin typeface="Microsoft YaHei"/>
              </a:rPr>
              <a:t>05/11 定位 vLLM 社区 KDA 算子导致输出异常</a:t>
            </a:r>
          </a:p>
          <a:p>
            <a:pPr>
              <a:lnSpc>
                <a:spcPct val="95000"/>
              </a:lnSpc>
              <a:spcBef>
                <a:spcPts val="100"/>
              </a:spcBef>
            </a:pPr>
            <a:r>
              <a:rPr sz="800" b="0">
                <a:solidFill>
                  <a:srgbClr val="0F172A"/>
                </a:solidFill>
                <a:latin typeface="Microsoft YaHei"/>
              </a:rPr>
              <a:t>05/12 接入 NPU 亲和 KDA；初始精度仍差约 10%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1554480"/>
            <a:ext cx="73152" cy="2029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296912" y="1252728"/>
            <a:ext cx="237744" cy="237744"/>
          </a:xfrm>
          <a:prstGeom prst="ellipse">
            <a:avLst/>
          </a:prstGeom>
          <a:solidFill>
            <a:srgbClr val="D9770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96912" y="1275588"/>
            <a:ext cx="2377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554480"/>
            <a:ext cx="2542032" cy="2029968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bIns="73152" rtlCol="0" anchor="ctr">
            <a:normAutofit/>
          </a:bodyPr>
          <a:lstStyle/>
          <a:p>
            <a:pPr algn="ctr"/>
            <a:r>
              <a:rPr sz="1050" b="1">
                <a:solidFill>
                  <a:srgbClr val="D97706"/>
                </a:solidFill>
                <a:latin typeface="Microsoft YaHei"/>
              </a:rPr>
              <a:t>05/14-05/15 | 模型语义差异</a:t>
            </a:r>
          </a:p>
          <a:p>
            <a:pPr>
              <a:lnSpc>
                <a:spcPct val="95000"/>
              </a:lnSpc>
              <a:spcBef>
                <a:spcPts val="100"/>
              </a:spcBef>
            </a:pPr>
            <a:r>
              <a:rPr sz="800" b="0">
                <a:solidFill>
                  <a:srgbClr val="0F172A"/>
                </a:solidFill>
                <a:latin typeface="Microsoft YaHei"/>
              </a:rPr>
              <a:t>05/14 ling-3.0-flash 带 expert_swiglu limit 参数，vLLM 未支持；优先支持 RL 依赖的 ring-3.0-flash</a:t>
            </a:r>
          </a:p>
          <a:p>
            <a:pPr>
              <a:lnSpc>
                <a:spcPct val="95000"/>
              </a:lnSpc>
              <a:spcBef>
                <a:spcPts val="100"/>
              </a:spcBef>
            </a:pPr>
            <a:r>
              <a:rPr sz="800" b="0">
                <a:solidFill>
                  <a:srgbClr val="0F172A"/>
                </a:solidFill>
                <a:latin typeface="Microsoft YaHei"/>
              </a:rPr>
              <a:t>05/15 kda_gate 应为 sigmoid，复用 Kimi softplus 导致精度损失；修复后与 SGLang 持平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554480"/>
            <a:ext cx="73152" cy="20299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136124" y="1252728"/>
            <a:ext cx="237744" cy="237744"/>
          </a:xfrm>
          <a:prstGeom prst="ellipse">
            <a:avLst/>
          </a:prstGeom>
          <a:solidFill>
            <a:srgbClr val="16A34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36124" y="1275588"/>
            <a:ext cx="23774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0536" y="1554480"/>
            <a:ext cx="2788920" cy="2029968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bIns="73152" rtlCol="0" anchor="ctr">
            <a:normAutofit/>
          </a:bodyPr>
          <a:lstStyle/>
          <a:p>
            <a:pPr algn="ctr"/>
            <a:r>
              <a:rPr sz="1050" b="1">
                <a:solidFill>
                  <a:srgbClr val="16A34A"/>
                </a:solidFill>
                <a:latin typeface="Microsoft YaHei"/>
              </a:rPr>
              <a:t>05/18-05/20 | HF 基线对齐</a:t>
            </a:r>
          </a:p>
          <a:p>
            <a:pPr>
              <a:lnSpc>
                <a:spcPct val="95000"/>
              </a:lnSpc>
              <a:spcBef>
                <a:spcPts val="100"/>
              </a:spcBef>
            </a:pPr>
            <a:r>
              <a:rPr sz="800" b="0">
                <a:solidFill>
                  <a:srgbClr val="0F172A"/>
                </a:solidFill>
                <a:latin typeface="Microsoft YaHei"/>
              </a:rPr>
              <a:t>05/18 vLLM 与 HF transformers 对齐时发现 o_norm gate 参数差异，升精后对齐</a:t>
            </a:r>
          </a:p>
          <a:p>
            <a:pPr>
              <a:lnSpc>
                <a:spcPct val="95000"/>
              </a:lnSpc>
              <a:spcBef>
                <a:spcPts val="100"/>
              </a:spcBef>
            </a:pPr>
            <a:r>
              <a:rPr sz="800" b="0">
                <a:solidFill>
                  <a:srgbClr val="0F172A"/>
                </a:solidFill>
                <a:latin typeface="Microsoft YaHei"/>
              </a:rPr>
              <a:t>05/20 完成所有层精度对齐，形成交付版本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0536" y="1554480"/>
            <a:ext cx="73152" cy="20299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2064" y="3730752"/>
            <a:ext cx="11137392" cy="420624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73152" rIns="146304" rtlCol="0" anchor="ctr"/>
          <a:lstStyle/>
          <a:p>
            <a:pPr algn="ctr"/>
            <a:r>
              <a:rPr sz="1050" b="1">
                <a:solidFill>
                  <a:srgbClr val="7C3AED"/>
                </a:solidFill>
                <a:latin typeface="Microsoft YaHei"/>
              </a:rPr>
              <a:t>精度裁决原则：</a:t>
            </a:r>
            <a:r>
              <a:rPr sz="1050" b="1">
                <a:solidFill>
                  <a:srgbClr val="0F172A"/>
                </a:solidFill>
                <a:latin typeface="Microsoft YaHei"/>
              </a:rPr>
              <a:t>HF / 训练侧定义模型语义，vLLM 推理侧负责对齐交付；冲突时用逐层 logits / activation diff 归因，再修对应侧。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4279392"/>
            <a:ext cx="16459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r>
              <a:rPr sz="1200" b="1">
                <a:solidFill>
                  <a:srgbClr val="0F172A"/>
                </a:solidFill>
                <a:latin typeface="Microsoft YaHei"/>
              </a:rPr>
              <a:t>经验沉淀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288536"/>
            <a:ext cx="420624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r>
              <a:rPr sz="850" b="0">
                <a:solidFill>
                  <a:srgbClr val="475569"/>
                </a:solidFill>
                <a:latin typeface="Microsoft YaHei"/>
              </a:rPr>
              <a:t>围绕本次真实问题，沉淀两类可复用经验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" y="4599432"/>
            <a:ext cx="5376672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420624" rIns="128016" bIns="73152" rtlCol="0" anchor="ctr">
            <a:norm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Microsoft YaHei"/>
              </a:rPr>
              <a:t>1. 环境组件先冻结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869" b="0">
                <a:solidFill>
                  <a:srgbClr val="475569"/>
                </a:solidFill>
                <a:latin typeface="Microsoft YaHei"/>
              </a:rPr>
              <a:t>训推共用 BOM：vLLM / vLLM-Ascend / transformers / triton-ascend / CANN / HCCL。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869" b="0">
                <a:solidFill>
                  <a:srgbClr val="475569"/>
                </a:solidFill>
                <a:latin typeface="Microsoft YaHei"/>
              </a:rPr>
              <a:t>分支与版本漂移会放大 partial_rotary_factor、文件路径、autotune timeout 等二次排障成本。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727448"/>
            <a:ext cx="347472" cy="2286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" y="4736592"/>
            <a:ext cx="2926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2784" y="4599432"/>
            <a:ext cx="5376672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420624" rIns="128016" bIns="73152" rtlCol="0" anchor="ctr">
            <a:norm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Microsoft YaHei"/>
              </a:rPr>
              <a:t>2. 训推精度边界明确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869" b="0">
                <a:solidFill>
                  <a:srgbClr val="475569"/>
                </a:solidFill>
                <a:latin typeface="Microsoft YaHei"/>
              </a:rPr>
              <a:t>训练侧以 HF transformers 为 golden，定义模型语义、权重和配置预期。</a:t>
            </a:r>
          </a:p>
          <a:p>
            <a:pPr>
              <a:lnSpc>
                <a:spcPct val="95000"/>
              </a:lnSpc>
              <a:spcBef>
                <a:spcPts val="300"/>
              </a:spcBef>
            </a:pPr>
            <a:r>
              <a:rPr sz="869" b="0">
                <a:solidFill>
                  <a:srgbClr val="475569"/>
                </a:solidFill>
                <a:latin typeface="Microsoft YaHei"/>
              </a:rPr>
              <a:t>推理侧以 vLLM / NPU 算子为交付实现；不一致时逐层 diff，定位到配置、算子或数值问题后修对应侧。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727448"/>
            <a:ext cx="347472" cy="2286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28232" y="4736592"/>
            <a:ext cx="2926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6428232"/>
            <a:ext cx="64008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r>
              <a:rPr sz="750" b="0">
                <a:solidFill>
                  <a:srgbClr val="64748B"/>
                </a:solidFill>
                <a:latin typeface="Microsoft YaHei"/>
              </a:rPr>
              <a:t>复盘主题：依赖一致性 | 算子语义 | 训推精度闭环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6428232"/>
            <a:ext cx="201168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Microsoft YaHei"/>
              </a:rPr>
              <a:t>Bailing 3.0 on NPU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237</Words>
  <Application>Microsoft Office PowerPoint</Application>
  <PresentationFormat>宽屏</PresentationFormat>
  <Paragraphs>37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jiangweixiang</cp:lastModifiedBy>
  <cp:revision>2</cp:revision>
  <dcterms:created xsi:type="dcterms:W3CDTF">2013-01-27T09:14:16Z</dcterms:created>
  <dcterms:modified xsi:type="dcterms:W3CDTF">2026-07-08T17:22:14Z</dcterms:modified>
  <cp:category/>
</cp:coreProperties>
</file>