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7f2b140e00430a" /><Relationship Type="http://schemas.openxmlformats.org/officeDocument/2006/relationships/extended-properties" Target="/docProps/app.xml" Id="R526822b380924bf4" /><Relationship Type="http://schemas.openxmlformats.org/officeDocument/2006/relationships/officeDocument" Target="/ppt/presentation.xml" Id="R377cdb5771de43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57fdf9b5f14a23"/>
  </p:sldMasterIdLst>
  <p:notesMasterIdLst>
    <p:notesMasterId xmlns:r="http://schemas.openxmlformats.org/officeDocument/2006/relationships" r:id="R78959667504a44a7"/>
  </p:notesMasterIdLst>
  <p:sldIdLst>
    <p:sldId xmlns:r="http://schemas.openxmlformats.org/officeDocument/2006/relationships" id="256" r:id="Rffe7769e3faf4b8c"/>
    <p:sldId xmlns:r="http://schemas.openxmlformats.org/officeDocument/2006/relationships" id="257" r:id="R370f6971c7c5417e"/>
    <p:sldId xmlns:r="http://schemas.openxmlformats.org/officeDocument/2006/relationships" id="258" r:id="Rcc65d5365de34090"/>
    <p:sldId xmlns:r="http://schemas.openxmlformats.org/officeDocument/2006/relationships" id="259" r:id="R2943ea1241a045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d742d0c3f84b5e" /><Relationship Type="http://schemas.openxmlformats.org/officeDocument/2006/relationships/slideMaster" Target="/ppt/slideMasters/slideMaster1.xml" Id="Ra457fdf9b5f14a23" /><Relationship Type="http://schemas.openxmlformats.org/officeDocument/2006/relationships/notesMaster" Target="/ppt/notesMasters/notesMaster1.xml" Id="R78959667504a44a7" /><Relationship Type="http://schemas.openxmlformats.org/officeDocument/2006/relationships/presProps" Target="/ppt/presProps.xml" Id="R2d864a1e11bc47e2" /><Relationship Type="http://schemas.openxmlformats.org/officeDocument/2006/relationships/tableStyles" Target="/ppt/tableStyles.xml" Id="R65f36aebef424f99" /><Relationship Type="http://schemas.openxmlformats.org/officeDocument/2006/relationships/slide" Target="/ppt/slides/slide1.xml" Id="Rffe7769e3faf4b8c" /><Relationship Type="http://schemas.openxmlformats.org/officeDocument/2006/relationships/slide" Target="/ppt/slides/slide2.xml" Id="R370f6971c7c5417e" /><Relationship Type="http://schemas.openxmlformats.org/officeDocument/2006/relationships/slide" Target="/ppt/slides/slide3.xml" Id="Rcc65d5365de34090" /><Relationship Type="http://schemas.openxmlformats.org/officeDocument/2006/relationships/slide" Target="/ppt/slides/slide4.xml" Id="R2943ea1241a045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c67bee4cf14d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4a11d142ff4034" /><Relationship Type="http://schemas.openxmlformats.org/officeDocument/2006/relationships/notesMaster" Target="/ppt/notesMasters/notesMaster1.xml" Id="R6ba256a9667345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d4b9f3da1c4dfe" /><Relationship Type="http://schemas.openxmlformats.org/officeDocument/2006/relationships/notesMaster" Target="/ppt/notesMasters/notesMaster1.xml" Id="Rd5b0e8dfe5d042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db0fcfb4b24f97" /><Relationship Type="http://schemas.openxmlformats.org/officeDocument/2006/relationships/notesMaster" Target="/ppt/notesMasters/notesMaster1.xml" Id="Rdf9d081203dc47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31aaa9220e4190" /><Relationship Type="http://schemas.openxmlformats.org/officeDocument/2006/relationships/notesMaster" Target="/ppt/notesMasters/notesMaster1.xml" Id="Reb589e75e57f4d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先把问题定性为版本消费问题，而不是单纯的模型开发问题。vLLM-Ascend 的 main 依赖一个已经验证的上游锚点，因此上游在发布日合入并不自动等于昇腾发布日可用。两次实践分别覆盖了结构复用与全新结构两类情形。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briefing, 2026-08-03.</a:t>
            </a:r>
          </a:p>
          <a:p xmlns:a="http://schemas.openxmlformats.org/drawingml/2006/main">
            <a:r>
              <a:t>- Local workspace: vllm-ascend/.github/vllm-main-verified.commit and vllm-release-tag.commit.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百灵 2.6 的关键不是开发量小，而是它恰好落在插件可消费的上游能力范围内。团队只需要提前把 vLLM-Ascend PR 准备好，在模型开源当天合入，社区每日镜像即可承接交付。这个方案成本最低，但依赖两个前提同时成立。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briefing, 2026-08-03.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百灵 3.0 是真正的新结构场景。此时仅押注上游 main PR 会把昇腾交付绑定到插件追赶节奏，因此采用固定版本基线：对 vLLM 与 vLLM-Ascend 同时准备 patch，在社区 0.20.2 系列镜像上用脚本注入。当前工作区脚本还提供幂等检查和 reverse 模式，适合成为可重复交付单元。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briefing, 2026-08-03.</a:t>
            </a:r>
          </a:p>
          <a:p xmlns:a="http://schemas.openxmlformats.org/drawingml/2006/main">
            <a:r>
              <a:t>- Local workspace: codefusews/apply_bailing_v3.sh (0.20.2rc1 header, dual patch apply, idempotent checks, reverse mode).</a:t>
            </a:r>
          </a:p>
          <a:p xmlns:a="http://schemas.openxmlformats.org/drawingml/2006/main">
            <a:r>
              <a:t>- Local workspace: bailing_v3_vllm.patch.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最终建议不是选择主线或 patch 二选一，而是把两条路径标准化并行。T0 交付通过一个统一入口暴露完整、可复现、可回退的制品；T+ 持续推动上游与插件 PR 收敛，达到退出条件后撤掉 patch。需要 TMG 决策的是把这套机制固化为默认流程。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Recommendation synthesized from the user briefing and the two historical adaptation paths, 2026-08-03.</a:t>
            </a:r>
          </a:p>
          <a:p xmlns:a="http://schemas.openxmlformats.org/drawingml/2006/main">
            <a:r>
              <a:t>- Local workspace: codefusews/apply_bailing_v3.sh as evidence that apply/reverse can be packaged into a repeatable delivery unit.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54671d2b447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aa618845614a9e" /><Relationship Type="http://schemas.openxmlformats.org/officeDocument/2006/relationships/slideLayout" Target="/ppt/slideLayouts/slideLayout1.xml" Id="R67b7de1d270541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b7de1d270541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9a2dd9ce5401c" /><Relationship Type="http://schemas.openxmlformats.org/officeDocument/2006/relationships/notesSlide" Target="/ppt/notesSlides/notesSlide1.xml" Id="R6d849ac343e142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03ab4a66d4d69" /><Relationship Type="http://schemas.openxmlformats.org/officeDocument/2006/relationships/notesSlide" Target="/ppt/notesSlides/notesSlide2.xml" Id="R67d877ac8fe943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b08e71e1042aa" /><Relationship Type="http://schemas.openxmlformats.org/officeDocument/2006/relationships/notesSlide" Target="/ppt/notesSlides/notesSlide3.xml" Id="R3a726e167b1440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e019b8b60489e" /><Relationship Type="http://schemas.openxmlformats.org/officeDocument/2006/relationships/notesSlide" Target="/ppt/notesSlides/notesSlide4.xml" Id="Ra43fbd384bba47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1">
            <a:extLst xmlns:a="http://schemas.openxmlformats.org/drawingml/2006/main">
              <a:ext uri="{FF2B5EF4-FFF2-40B4-BE49-F238E27FC236}">
                <a16:creationId xmlns:a16="http://schemas.microsoft.com/office/drawing/2014/main" id="{287724B9-6383-47FC-9FEE-6F5CA24A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历史复盘｜结构性矛盾</a:t>
            </a:r>
          </a:p>
        </p:txBody>
      </p:sp>
      <p:sp>
        <p:nvSpPr>
          <p:cNvPr id="2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5C5DE179-A35D-4A70-9D31-DBE56836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700FBF2B-08E2-4F68-9869-C558A2CA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大模型昇腾 0day 推理适配｜TMG</a:t>
            </a:r>
          </a:p>
        </p:txBody>
      </p:sp>
      <p:sp>
        <p:nvSpPr>
          <p:cNvPr id="4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4BCABC89-F408-4FD4-9673-F6B208AC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5" name="s1-title-accent">
            <a:extLst xmlns:a="http://schemas.openxmlformats.org/drawingml/2006/main">
              <a:ext uri="{FF2B5EF4-FFF2-40B4-BE49-F238E27FC236}">
                <a16:creationId xmlns:a16="http://schemas.microsoft.com/office/drawing/2014/main" id="{8520C9BD-171B-4A76-A3A3-E42174C9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-title">
            <a:extLst xmlns:a="http://schemas.openxmlformats.org/drawingml/2006/main">
              <a:ext uri="{FF2B5EF4-FFF2-40B4-BE49-F238E27FC236}">
                <a16:creationId xmlns:a16="http://schemas.microsoft.com/office/drawing/2014/main" id="{A7516644-944C-4E50-8AB6-EF52E3C6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0day 的矛盾：模型按天发布，插件按版本追赶</a:t>
            </a:r>
          </a:p>
        </p:txBody>
      </p:sp>
      <p:sp>
        <p:nvSpPr>
          <p:cNvPr id="7" name="s1-subtitle">
            <a:extLst xmlns:a="http://schemas.openxmlformats.org/drawingml/2006/main">
              <a:ext uri="{FF2B5EF4-FFF2-40B4-BE49-F238E27FC236}">
                <a16:creationId xmlns:a16="http://schemas.microsoft.com/office/drawing/2014/main" id="{96AF79E2-8ECA-4170-9CDA-CC783357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vLLM main 持续前进；vLLM-Ascend main 只能消费已验证的 vLLM commit。</a:t>
            </a:r>
          </a:p>
        </p:txBody>
      </p:sp>
      <p:sp>
        <p:nvSpPr>
          <p:cNvPr id="8" name="s1-equation">
            <a:extLst xmlns:a="http://schemas.openxmlformats.org/drawingml/2006/main">
              <a:ext uri="{FF2B5EF4-FFF2-40B4-BE49-F238E27FC236}">
                <a16:creationId xmlns:a16="http://schemas.microsoft.com/office/drawing/2014/main" id="{A9049350-1BDB-45DB-A977-730BBC6B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0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rPr>
              <a:t>HEAD  ≠  ANCHOR</a:t>
            </a:r>
          </a:p>
        </p:txBody>
      </p:sp>
      <p:sp>
        <p:nvSpPr>
          <p:cNvPr id="9" name="s1-drift-line">
            <a:extLst xmlns:a="http://schemas.openxmlformats.org/drawingml/2006/main">
              <a:ext uri="{FF2B5EF4-FFF2-40B4-BE49-F238E27FC236}">
                <a16:creationId xmlns:a16="http://schemas.microsoft.com/office/drawing/2014/main" id="{2CFD1B37-3CF3-4D7A-AA7C-29F3BDB8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57525"/>
            <a:ext cx="129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7A59"/>
            </a:solidFill>
            <a:prstDash val="solid"/>
          </a:ln>
        </p:spPr>
      </p:sp>
      <p:sp>
        <p:nvSpPr>
          <p:cNvPr id="10" name="s1-drift-dot-left">
            <a:extLst xmlns:a="http://schemas.openxmlformats.org/drawingml/2006/main">
              <a:ext uri="{FF2B5EF4-FFF2-40B4-BE49-F238E27FC236}">
                <a16:creationId xmlns:a16="http://schemas.microsoft.com/office/drawing/2014/main" id="{17098E6F-BCDB-4B3D-8DA5-F9AFCCC1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00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1-drift-dot-right">
            <a:extLst xmlns:a="http://schemas.openxmlformats.org/drawingml/2006/main">
              <a:ext uri="{FF2B5EF4-FFF2-40B4-BE49-F238E27FC236}">
                <a16:creationId xmlns:a16="http://schemas.microsoft.com/office/drawing/2014/main" id="{1F2E6F9C-88F1-4535-A351-0EB7C8C5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-vllm-panel">
            <a:extLst xmlns:a="http://schemas.openxmlformats.org/drawingml/2006/main">
              <a:ext uri="{FF2B5EF4-FFF2-40B4-BE49-F238E27FC236}">
                <a16:creationId xmlns:a16="http://schemas.microsoft.com/office/drawing/2014/main" id="{F0A83E1C-532D-4BD9-9C63-B35A5568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49911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3" name="s1-ascend-panel">
            <a:extLst xmlns:a="http://schemas.openxmlformats.org/drawingml/2006/main">
              <a:ext uri="{FF2B5EF4-FFF2-40B4-BE49-F238E27FC236}">
                <a16:creationId xmlns:a16="http://schemas.microsoft.com/office/drawing/2014/main" id="{68A8B6F5-9841-4A41-99D7-5E58E129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49911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4" name="s1-vllm-kicker">
            <a:extLst xmlns:a="http://schemas.openxmlformats.org/drawingml/2006/main">
              <a:ext uri="{FF2B5EF4-FFF2-40B4-BE49-F238E27FC236}">
                <a16:creationId xmlns:a16="http://schemas.microsoft.com/office/drawing/2014/main" id="{8B7315ED-E990-4EB4-8C8A-DFF2129B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UPSTREAM</a:t>
            </a:r>
          </a:p>
        </p:txBody>
      </p:sp>
      <p:sp>
        <p:nvSpPr>
          <p:cNvPr id="15" name="s1-vllm-title">
            <a:extLst xmlns:a="http://schemas.openxmlformats.org/drawingml/2006/main">
              <a:ext uri="{FF2B5EF4-FFF2-40B4-BE49-F238E27FC236}">
                <a16:creationId xmlns:a16="http://schemas.microsoft.com/office/drawing/2014/main" id="{06ABEECB-289E-4627-9E47-76BF8A29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vLLM main</a:t>
            </a:r>
          </a:p>
        </p:txBody>
      </p:sp>
      <p:sp>
        <p:nvSpPr>
          <p:cNvPr id="16" name="s1-vllm-body">
            <a:extLst xmlns:a="http://schemas.openxmlformats.org/drawingml/2006/main">
              <a:ext uri="{FF2B5EF4-FFF2-40B4-BE49-F238E27FC236}">
                <a16:creationId xmlns:a16="http://schemas.microsoft.com/office/drawing/2014/main" id="{9967916A-E2C4-4143-9C3C-840E7E23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4229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• 高频变更：</a:t>
            </a:r>
            <a:r>
              <a: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模型结构、执行路径、接口持续演进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• 新模型可能在 T0 才合入</a:t>
            </a:r>
          </a:p>
        </p:txBody>
      </p:sp>
      <p:sp>
        <p:nvSpPr>
          <p:cNvPr id="17" name="s1-ascend-kicker">
            <a:extLst xmlns:a="http://schemas.openxmlformats.org/drawingml/2006/main">
              <a:ext uri="{FF2B5EF4-FFF2-40B4-BE49-F238E27FC236}">
                <a16:creationId xmlns:a16="http://schemas.microsoft.com/office/drawing/2014/main" id="{7400208A-F51A-4C88-8C41-D0F19195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47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rPr>
              <a:t>PLUGIN</a:t>
            </a:r>
          </a:p>
        </p:txBody>
      </p:sp>
      <p:sp>
        <p:nvSpPr>
          <p:cNvPr id="18" name="s1-ascend-title">
            <a:extLst xmlns:a="http://schemas.openxmlformats.org/drawingml/2006/main">
              <a:ext uri="{FF2B5EF4-FFF2-40B4-BE49-F238E27FC236}">
                <a16:creationId xmlns:a16="http://schemas.microsoft.com/office/drawing/2014/main" id="{0E8C9183-DD9C-4146-B7CF-E869D80A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90800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vLLM-Ascend main</a:t>
            </a:r>
          </a:p>
        </p:txBody>
      </p:sp>
      <p:sp>
        <p:nvSpPr>
          <p:cNvPr id="19" name="s1-ascend-body">
            <a:extLst xmlns:a="http://schemas.openxmlformats.org/drawingml/2006/main">
              <a:ext uri="{FF2B5EF4-FFF2-40B4-BE49-F238E27FC236}">
                <a16:creationId xmlns:a16="http://schemas.microsoft.com/office/drawing/2014/main" id="{E026700D-3BBC-4B5C-B5C6-710570FE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81350"/>
            <a:ext cx="4229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• 固定锚点：</a:t>
            </a:r>
            <a:r>
              <a: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基于特定 release / verified commit 开发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• 插件 main 不等于上游 HEAD</a:t>
            </a:r>
          </a:p>
        </p:txBody>
      </p:sp>
      <p:sp>
        <p:nvSpPr>
          <p:cNvPr id="20" name="s1-gap-label">
            <a:extLst xmlns:a="http://schemas.openxmlformats.org/drawingml/2006/main">
              <a:ext uri="{FF2B5EF4-FFF2-40B4-BE49-F238E27FC236}">
                <a16:creationId xmlns:a16="http://schemas.microsoft.com/office/drawing/2014/main" id="{FA20EC87-D83E-4C9A-820A-ED471E5F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05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rPr>
              <a:t>版本消费窗口</a:t>
            </a:r>
          </a:p>
        </p:txBody>
      </p:sp>
      <p:sp>
        <p:nvSpPr>
          <p:cNvPr id="21" name="s1-bottom-band">
            <a:extLst xmlns:a="http://schemas.openxmlformats.org/drawingml/2006/main">
              <a:ext uri="{FF2B5EF4-FFF2-40B4-BE49-F238E27FC236}">
                <a16:creationId xmlns:a16="http://schemas.microsoft.com/office/drawing/2014/main" id="{05C71387-B2AA-41BD-81DF-2126891A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11125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2" name="s1-bottom-label">
            <a:extLst xmlns:a="http://schemas.openxmlformats.org/drawingml/2006/main">
              <a:ext uri="{FF2B5EF4-FFF2-40B4-BE49-F238E27FC236}">
                <a16:creationId xmlns:a16="http://schemas.microsoft.com/office/drawing/2014/main" id="{24E0616F-E590-439B-80EB-7AA1D3F0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0day 先判断上游状态</a:t>
            </a:r>
          </a:p>
        </p:txBody>
      </p:sp>
      <p:sp>
        <p:nvSpPr>
          <p:cNvPr id="23" name="s1-path-a">
            <a:extLst xmlns:a="http://schemas.openxmlformats.org/drawingml/2006/main">
              <a:ext uri="{FF2B5EF4-FFF2-40B4-BE49-F238E27FC236}">
                <a16:creationId xmlns:a16="http://schemas.microsoft.com/office/drawing/2014/main" id="{B6F83034-99DA-4758-888F-3ED4CD35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00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A｜已有结构 → 插件 PR 走主线</a:t>
            </a:r>
          </a:p>
        </p:txBody>
      </p:sp>
      <p:sp>
        <p:nvSpPr>
          <p:cNvPr id="24" name="s1-path-b">
            <a:extLst xmlns:a="http://schemas.openxmlformats.org/drawingml/2006/main">
              <a:ext uri="{FF2B5EF4-FFF2-40B4-BE49-F238E27FC236}">
                <a16:creationId xmlns:a16="http://schemas.microsoft.com/office/drawing/2014/main" id="{B6E8BE14-4EE8-4757-B455-23FFF739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29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rPr>
              <a:t>B｜全新结构 → 双栈 patch 必须保底</a:t>
            </a:r>
          </a:p>
        </p:txBody>
      </p:sp>
      <p:sp>
        <p:nvSpPr>
          <p:cNvPr id="25" name="s1-key">
            <a:extLst xmlns:a="http://schemas.openxmlformats.org/drawingml/2006/main">
              <a:ext uri="{FF2B5EF4-FFF2-40B4-BE49-F238E27FC236}">
                <a16:creationId xmlns:a16="http://schemas.microsoft.com/office/drawing/2014/main" id="{6A5F1AE5-EFE6-4A91-B0C5-32A47CCE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3397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main PR ≠ T0 可用</a:t>
            </a:r>
          </a:p>
        </p:txBody>
      </p:sp>
    </p:spTree>
    <p:extLst>
      <p:ext uri="{BB962C8B-B14F-4D97-AF65-F5344CB8AC3E}">
        <p14:creationId xmlns:p14="http://schemas.microsoft.com/office/powerpoint/2010/main" val="20475714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2">
            <a:extLst xmlns:a="http://schemas.openxmlformats.org/drawingml/2006/main">
              <a:ext uri="{FF2B5EF4-FFF2-40B4-BE49-F238E27FC236}">
                <a16:creationId xmlns:a16="http://schemas.microsoft.com/office/drawing/2014/main" id="{89FAC08C-5153-49F9-8721-4808676B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实践一｜百灵 2.6</a:t>
            </a:r>
          </a:p>
        </p:txBody>
      </p:sp>
      <p:sp>
        <p:nvSpPr>
          <p:cNvPr id="2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99615A1E-7191-4C03-A416-139C224F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E8ABD14A-6624-4C11-8BE2-F3FB12F0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大模型昇腾 0day 推理适配｜TMG</a:t>
            </a:r>
          </a:p>
        </p:txBody>
      </p:sp>
      <p:sp>
        <p:nvSpPr>
          <p:cNvPr id="4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EFCCA2E6-94FB-4694-B246-96C0ABDE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5" name="s2-title-accent">
            <a:extLst xmlns:a="http://schemas.openxmlformats.org/drawingml/2006/main">
              <a:ext uri="{FF2B5EF4-FFF2-40B4-BE49-F238E27FC236}">
                <a16:creationId xmlns:a16="http://schemas.microsoft.com/office/drawing/2014/main" id="{3560C6C5-3AE0-4290-BE1A-4BC5FBB6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-title">
            <a:extLst xmlns:a="http://schemas.openxmlformats.org/drawingml/2006/main">
              <a:ext uri="{FF2B5EF4-FFF2-40B4-BE49-F238E27FC236}">
                <a16:creationId xmlns:a16="http://schemas.microsoft.com/office/drawing/2014/main" id="{4324DF65-9F2E-4091-BC4C-58F0EF3C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百灵 2.6：复用 2.5 结构，主线合入即可 0day</a:t>
            </a:r>
          </a:p>
        </p:txBody>
      </p:sp>
      <p:sp>
        <p:nvSpPr>
          <p:cNvPr id="7" name="s2-subtitle">
            <a:extLst xmlns:a="http://schemas.openxmlformats.org/drawingml/2006/main">
              <a:ext uri="{FF2B5EF4-FFF2-40B4-BE49-F238E27FC236}">
                <a16:creationId xmlns:a16="http://schemas.microsoft.com/office/drawing/2014/main" id="{83D8B076-0AAB-4AFD-B393-4AAC25B8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前提成立：上游 vLLM 已有模型实现，且插件当前锚点已经包含。</a:t>
            </a:r>
          </a:p>
        </p:txBody>
      </p:sp>
      <p:sp>
        <p:nvSpPr>
          <p:cNvPr id="8" name="s2-result">
            <a:extLst xmlns:a="http://schemas.openxmlformats.org/drawingml/2006/main">
              <a:ext uri="{FF2B5EF4-FFF2-40B4-BE49-F238E27FC236}">
                <a16:creationId xmlns:a16="http://schemas.microsoft.com/office/drawing/2014/main" id="{21800022-DB50-4AE1-B526-30C922AD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192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1 个 PR + 社区镜像</a:t>
            </a:r>
          </a:p>
        </p:txBody>
      </p:sp>
      <p:sp>
        <p:nvSpPr>
          <p:cNvPr id="9" name="s2-timeline">
            <a:extLst xmlns:a="http://schemas.openxmlformats.org/drawingml/2006/main">
              <a:ext uri="{FF2B5EF4-FFF2-40B4-BE49-F238E27FC236}">
                <a16:creationId xmlns:a16="http://schemas.microsoft.com/office/drawing/2014/main" id="{0E55559F-4A12-40E9-A89A-8CF920AD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" name="s2-dot-1">
            <a:extLst xmlns:a="http://schemas.openxmlformats.org/drawingml/2006/main">
              <a:ext uri="{FF2B5EF4-FFF2-40B4-BE49-F238E27FC236}">
                <a16:creationId xmlns:a16="http://schemas.microsoft.com/office/drawing/2014/main" id="{7DB8DFF0-46D0-4C25-BC87-4BB203AD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90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2-dot-2">
            <a:extLst xmlns:a="http://schemas.openxmlformats.org/drawingml/2006/main">
              <a:ext uri="{FF2B5EF4-FFF2-40B4-BE49-F238E27FC236}">
                <a16:creationId xmlns:a16="http://schemas.microsoft.com/office/drawing/2014/main" id="{18EA2E79-16C2-406B-AA86-8D4607DE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90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2-dot-3">
            <a:extLst xmlns:a="http://schemas.openxmlformats.org/drawingml/2006/main">
              <a:ext uri="{FF2B5EF4-FFF2-40B4-BE49-F238E27FC236}">
                <a16:creationId xmlns:a16="http://schemas.microsoft.com/office/drawing/2014/main" id="{94736D37-7E82-4E52-BCD2-8E94DA1E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990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2-label-1">
            <a:extLst xmlns:a="http://schemas.openxmlformats.org/drawingml/2006/main">
              <a:ext uri="{FF2B5EF4-FFF2-40B4-BE49-F238E27FC236}">
                <a16:creationId xmlns:a16="http://schemas.microsoft.com/office/drawing/2014/main" id="{022C9650-27D2-4FEE-9EDA-93BD15DD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开源前</a:t>
            </a:r>
          </a:p>
        </p:txBody>
      </p:sp>
      <p:sp>
        <p:nvSpPr>
          <p:cNvPr id="14" name="s2-step-title-1">
            <a:extLst xmlns:a="http://schemas.openxmlformats.org/drawingml/2006/main">
              <a:ext uri="{FF2B5EF4-FFF2-40B4-BE49-F238E27FC236}">
                <a16:creationId xmlns:a16="http://schemas.microsoft.com/office/drawing/2014/main" id="{FCC526B1-F294-4817-ADE3-9C92D373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判断为结构复用</a:t>
            </a:r>
          </a:p>
        </p:txBody>
      </p:sp>
      <p:sp>
        <p:nvSpPr>
          <p:cNvPr id="15" name="s2-step-body-1">
            <a:extLst xmlns:a="http://schemas.openxmlformats.org/drawingml/2006/main">
              <a:ext uri="{FF2B5EF4-FFF2-40B4-BE49-F238E27FC236}">
                <a16:creationId xmlns:a16="http://schemas.microsoft.com/office/drawing/2014/main" id="{F4880F2E-14F8-4B18-9C64-F3A3854D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2.6 与 2.5 模型结构一致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vLLM 锚点已包含 2.5 支持</a:t>
            </a:r>
          </a:p>
        </p:txBody>
      </p:sp>
      <p:sp>
        <p:nvSpPr>
          <p:cNvPr id="16" name="s2-label-2">
            <a:extLst xmlns:a="http://schemas.openxmlformats.org/drawingml/2006/main">
              <a:ext uri="{FF2B5EF4-FFF2-40B4-BE49-F238E27FC236}">
                <a16:creationId xmlns:a16="http://schemas.microsoft.com/office/drawing/2014/main" id="{201E3A6B-3AF1-46EA-9CA0-D1671186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T0｜模型开源</a:t>
            </a:r>
          </a:p>
        </p:txBody>
      </p:sp>
      <p:sp>
        <p:nvSpPr>
          <p:cNvPr id="17" name="s2-step-title-2">
            <a:extLst xmlns:a="http://schemas.openxmlformats.org/drawingml/2006/main">
              <a:ext uri="{FF2B5EF4-FFF2-40B4-BE49-F238E27FC236}">
                <a16:creationId xmlns:a16="http://schemas.microsoft.com/office/drawing/2014/main" id="{61FEA8A7-C03B-4DFB-B056-0B26034C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只改插件侧</a:t>
            </a:r>
          </a:p>
        </p:txBody>
      </p:sp>
      <p:sp>
        <p:nvSpPr>
          <p:cNvPr id="18" name="s2-step-body-2">
            <a:extLst xmlns:a="http://schemas.openxmlformats.org/drawingml/2006/main">
              <a:ext uri="{FF2B5EF4-FFF2-40B4-BE49-F238E27FC236}">
                <a16:creationId xmlns:a16="http://schemas.microsoft.com/office/drawing/2014/main" id="{DB81F8E6-0C40-4A9E-95A8-C22316FB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vLLM-Ascend PR 提前准备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开源当天合入 main</a:t>
            </a:r>
          </a:p>
        </p:txBody>
      </p:sp>
      <p:sp>
        <p:nvSpPr>
          <p:cNvPr id="19" name="s2-label-3">
            <a:extLst xmlns:a="http://schemas.openxmlformats.org/drawingml/2006/main">
              <a:ext uri="{FF2B5EF4-FFF2-40B4-BE49-F238E27FC236}">
                <a16:creationId xmlns:a16="http://schemas.microsoft.com/office/drawing/2014/main" id="{45E3AD49-8E79-493D-ADC6-A2A23557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T0+｜自动构建</a:t>
            </a:r>
          </a:p>
        </p:txBody>
      </p:sp>
      <p:sp>
        <p:nvSpPr>
          <p:cNvPr id="20" name="s2-step-title-3">
            <a:extLst xmlns:a="http://schemas.openxmlformats.org/drawingml/2006/main">
              <a:ext uri="{FF2B5EF4-FFF2-40B4-BE49-F238E27FC236}">
                <a16:creationId xmlns:a16="http://schemas.microsoft.com/office/drawing/2014/main" id="{4698DEA3-C3BD-400E-9A4F-6ACE1DDF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社区镜像直接交付</a:t>
            </a:r>
          </a:p>
        </p:txBody>
      </p:sp>
      <p:sp>
        <p:nvSpPr>
          <p:cNvPr id="21" name="s2-step-body-3">
            <a:extLst xmlns:a="http://schemas.openxmlformats.org/drawingml/2006/main">
              <a:ext uri="{FF2B5EF4-FFF2-40B4-BE49-F238E27FC236}">
                <a16:creationId xmlns:a16="http://schemas.microsoft.com/office/drawing/2014/main" id="{4B4F1216-2C69-407D-A211-DA40C52B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48125"/>
            <a:ext cx="320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每日镜像流水线自动出包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用户拉取镜像即可推理</a:t>
            </a:r>
          </a:p>
        </p:txBody>
      </p:sp>
      <p:sp>
        <p:nvSpPr>
          <p:cNvPr id="22" name="s2-formula-band">
            <a:extLst xmlns:a="http://schemas.openxmlformats.org/drawingml/2006/main">
              <a:ext uri="{FF2B5EF4-FFF2-40B4-BE49-F238E27FC236}">
                <a16:creationId xmlns:a16="http://schemas.microsoft.com/office/drawing/2014/main" id="{96FE3307-9A96-4684-BB83-C0D35908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1125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2-formula-label">
            <a:extLst xmlns:a="http://schemas.openxmlformats.org/drawingml/2006/main">
              <a:ext uri="{FF2B5EF4-FFF2-40B4-BE49-F238E27FC236}">
                <a16:creationId xmlns:a16="http://schemas.microsoft.com/office/drawing/2014/main" id="{E9B2CE35-CE08-486B-8A84-969EE27F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成功公式</a:t>
            </a:r>
          </a:p>
        </p:txBody>
      </p:sp>
      <p:sp>
        <p:nvSpPr>
          <p:cNvPr id="24" name="s2-formula">
            <a:extLst xmlns:a="http://schemas.openxmlformats.org/drawingml/2006/main">
              <a:ext uri="{FF2B5EF4-FFF2-40B4-BE49-F238E27FC236}">
                <a16:creationId xmlns:a16="http://schemas.microsoft.com/office/drawing/2014/main" id="{337268D9-EA9D-4293-8745-25B08DE7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上游已有实现  ×  插件锚点已包含  =  主线 PR 走通 0day</a:t>
            </a:r>
          </a:p>
        </p:txBody>
      </p:sp>
    </p:spTree>
    <p:extLst>
      <p:ext uri="{BB962C8B-B14F-4D97-AF65-F5344CB8AC3E}">
        <p14:creationId xmlns:p14="http://schemas.microsoft.com/office/powerpoint/2010/main" val="1966743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3">
            <a:extLst xmlns:a="http://schemas.openxmlformats.org/drawingml/2006/main">
              <a:ext uri="{FF2B5EF4-FFF2-40B4-BE49-F238E27FC236}">
                <a16:creationId xmlns:a16="http://schemas.microsoft.com/office/drawing/2014/main" id="{50C7B45F-FA78-4C9B-B496-047B2342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实践二｜百灵 3.0</a:t>
            </a:r>
          </a:p>
        </p:txBody>
      </p:sp>
      <p:sp>
        <p:nvSpPr>
          <p:cNvPr id="2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FA18C581-4394-4F34-8DE2-53892214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355C1E78-E897-4784-81D0-A5A32C68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大模型昇腾 0day 推理适配｜TMG</a:t>
            </a:r>
          </a:p>
        </p:txBody>
      </p:sp>
      <p:sp>
        <p:nvSpPr>
          <p:cNvPr id="4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1C7A9D62-57FF-49AB-9091-3B3FB445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5" name="s3-title-accent">
            <a:extLst xmlns:a="http://schemas.openxmlformats.org/drawingml/2006/main">
              <a:ext uri="{FF2B5EF4-FFF2-40B4-BE49-F238E27FC236}">
                <a16:creationId xmlns:a16="http://schemas.microsoft.com/office/drawing/2014/main" id="{994754C7-C8EA-4C68-8067-8421C0AB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title">
            <a:extLst xmlns:a="http://schemas.openxmlformats.org/drawingml/2006/main">
              <a:ext uri="{FF2B5EF4-FFF2-40B4-BE49-F238E27FC236}">
                <a16:creationId xmlns:a16="http://schemas.microsoft.com/office/drawing/2014/main" id="{FA5670A9-222D-4634-AEB6-D4ABE940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百灵 3.0：全新结构下，固定版本 patch 保住 T0</a:t>
            </a:r>
          </a:p>
        </p:txBody>
      </p:sp>
      <p:sp>
        <p:nvSpPr>
          <p:cNvPr id="7" name="s3-subtitle">
            <a:extLst xmlns:a="http://schemas.openxmlformats.org/drawingml/2006/main">
              <a:ext uri="{FF2B5EF4-FFF2-40B4-BE49-F238E27FC236}">
                <a16:creationId xmlns:a16="http://schemas.microsoft.com/office/drawing/2014/main" id="{98480724-363D-4029-8EA2-9D27B55F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上游当天合入 main，插件也无法立即跨越锚点消费新结构。</a:t>
            </a:r>
          </a:p>
        </p:txBody>
      </p:sp>
      <p:sp>
        <p:nvSpPr>
          <p:cNvPr id="8" name="s3-result">
            <a:extLst xmlns:a="http://schemas.openxmlformats.org/drawingml/2006/main">
              <a:ext uri="{FF2B5EF4-FFF2-40B4-BE49-F238E27FC236}">
                <a16:creationId xmlns:a16="http://schemas.microsoft.com/office/drawing/2014/main" id="{1E14EE12-E603-485C-96B8-D7E26762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192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65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rPr>
              <a:t>主线收敛晚于 0day</a:t>
            </a:r>
          </a:p>
        </p:txBody>
      </p:sp>
      <p:sp>
        <p:nvSpPr>
          <p:cNvPr id="9" name="s3-timeline">
            <a:extLst xmlns:a="http://schemas.openxmlformats.org/drawingml/2006/main">
              <a:ext uri="{FF2B5EF4-FFF2-40B4-BE49-F238E27FC236}">
                <a16:creationId xmlns:a16="http://schemas.microsoft.com/office/drawing/2014/main" id="{A2759669-8A61-4781-8501-852FF68C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" name="s3-dot-1">
            <a:extLst xmlns:a="http://schemas.openxmlformats.org/drawingml/2006/main">
              <a:ext uri="{FF2B5EF4-FFF2-40B4-BE49-F238E27FC236}">
                <a16:creationId xmlns:a16="http://schemas.microsoft.com/office/drawing/2014/main" id="{AB4EB105-5932-4ABA-AFEB-03641276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3-dot-2">
            <a:extLst xmlns:a="http://schemas.openxmlformats.org/drawingml/2006/main">
              <a:ext uri="{FF2B5EF4-FFF2-40B4-BE49-F238E27FC236}">
                <a16:creationId xmlns:a16="http://schemas.microsoft.com/office/drawing/2014/main" id="{0F3E6073-00A1-462E-A0B9-A16EA47C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14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3-dot-3">
            <a:extLst xmlns:a="http://schemas.openxmlformats.org/drawingml/2006/main">
              <a:ext uri="{FF2B5EF4-FFF2-40B4-BE49-F238E27FC236}">
                <a16:creationId xmlns:a16="http://schemas.microsoft.com/office/drawing/2014/main" id="{D4128240-298E-4BBB-AB3A-9C46C8DC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314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3-card-1">
            <a:extLst xmlns:a="http://schemas.openxmlformats.org/drawingml/2006/main">
              <a:ext uri="{FF2B5EF4-FFF2-40B4-BE49-F238E27FC236}">
                <a16:creationId xmlns:a16="http://schemas.microsoft.com/office/drawing/2014/main" id="{C376BDEB-389C-4690-B5E2-C950E70C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33909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4" name="s3-kicker-1">
            <a:extLst xmlns:a="http://schemas.openxmlformats.org/drawingml/2006/main">
              <a:ext uri="{FF2B5EF4-FFF2-40B4-BE49-F238E27FC236}">
                <a16:creationId xmlns:a16="http://schemas.microsoft.com/office/drawing/2014/main" id="{85019AA7-A588-417A-B6D1-1AE0F64E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rPr>
              <a:t>01｜上游缺口</a:t>
            </a:r>
          </a:p>
        </p:txBody>
      </p:sp>
      <p:sp>
        <p:nvSpPr>
          <p:cNvPr id="15" name="s3-card-title-1">
            <a:extLst xmlns:a="http://schemas.openxmlformats.org/drawingml/2006/main">
              <a:ext uri="{FF2B5EF4-FFF2-40B4-BE49-F238E27FC236}">
                <a16:creationId xmlns:a16="http://schemas.microsoft.com/office/drawing/2014/main" id="{8B319D75-C1D2-4300-B7CC-57B7DF9F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新结构无处复用</a:t>
            </a:r>
          </a:p>
        </p:txBody>
      </p:sp>
      <p:sp>
        <p:nvSpPr>
          <p:cNvPr id="16" name="s3-card-body-1">
            <a:extLst xmlns:a="http://schemas.openxmlformats.org/drawingml/2006/main">
              <a:ext uri="{FF2B5EF4-FFF2-40B4-BE49-F238E27FC236}">
                <a16:creationId xmlns:a16="http://schemas.microsoft.com/office/drawing/2014/main" id="{3FE63D3C-F968-4EFE-B380-EF4EEA72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85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• 开源前：</a:t>
            </a:r>
            <a:r>
              <a: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vLLM 尚未支持 3.0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• 模型结构变化需要新增 vLLM 实现</a:t>
            </a:r>
          </a:p>
        </p:txBody>
      </p:sp>
      <p:sp>
        <p:nvSpPr>
          <p:cNvPr id="17" name="s3-label-1">
            <a:extLst xmlns:a="http://schemas.openxmlformats.org/drawingml/2006/main">
              <a:ext uri="{FF2B5EF4-FFF2-40B4-BE49-F238E27FC236}">
                <a16:creationId xmlns:a16="http://schemas.microsoft.com/office/drawing/2014/main" id="{74859DDE-C6BE-4AE6-8D53-46225609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模型开源前</a:t>
            </a:r>
          </a:p>
        </p:txBody>
      </p:sp>
      <p:sp>
        <p:nvSpPr>
          <p:cNvPr id="18" name="s3-card-2">
            <a:extLst xmlns:a="http://schemas.openxmlformats.org/drawingml/2006/main">
              <a:ext uri="{FF2B5EF4-FFF2-40B4-BE49-F238E27FC236}">
                <a16:creationId xmlns:a16="http://schemas.microsoft.com/office/drawing/2014/main" id="{ABBBC39D-DDF9-4D74-838A-A78A2D4E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909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9" name="s3-kicker-2">
            <a:extLst xmlns:a="http://schemas.openxmlformats.org/drawingml/2006/main">
              <a:ext uri="{FF2B5EF4-FFF2-40B4-BE49-F238E27FC236}">
                <a16:creationId xmlns:a16="http://schemas.microsoft.com/office/drawing/2014/main" id="{37E5DC9C-FB5A-4C99-896A-D1BD5AE8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57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7A59"/>
                </a:solidFill>
                <a:latin typeface="Arial Unicode MS"/>
                <a:ea typeface="Arial Unicode MS"/>
                <a:cs typeface="Arial Unicode MS"/>
              </a:rPr>
              <a:t>02｜对齐断点</a:t>
            </a:r>
          </a:p>
        </p:txBody>
      </p:sp>
      <p:sp>
        <p:nvSpPr>
          <p:cNvPr id="20" name="s3-card-title-2">
            <a:extLst xmlns:a="http://schemas.openxmlformats.org/drawingml/2006/main">
              <a:ext uri="{FF2B5EF4-FFF2-40B4-BE49-F238E27FC236}">
                <a16:creationId xmlns:a16="http://schemas.microsoft.com/office/drawing/2014/main" id="{6D2AC2CA-D053-4FFB-A12C-6A999228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main2main 无法救场</a:t>
            </a:r>
          </a:p>
        </p:txBody>
      </p:sp>
      <p:sp>
        <p:nvSpPr>
          <p:cNvPr id="21" name="s3-card-body-2">
            <a:extLst xmlns:a="http://schemas.openxmlformats.org/drawingml/2006/main">
              <a:ext uri="{FF2B5EF4-FFF2-40B4-BE49-F238E27FC236}">
                <a16:creationId xmlns:a16="http://schemas.microsoft.com/office/drawing/2014/main" id="{F2695B2C-C2E9-4701-A297-C5FC06B2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285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• T0：</a:t>
            </a:r>
            <a:r>
              <a: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即使 vLLM main 合入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• 插件锚点仍停留在已验证版本</a:t>
            </a:r>
          </a:p>
        </p:txBody>
      </p:sp>
      <p:sp>
        <p:nvSpPr>
          <p:cNvPr id="22" name="s3-label-2">
            <a:extLst xmlns:a="http://schemas.openxmlformats.org/drawingml/2006/main">
              <a:ext uri="{FF2B5EF4-FFF2-40B4-BE49-F238E27FC236}">
                <a16:creationId xmlns:a16="http://schemas.microsoft.com/office/drawing/2014/main" id="{D78F1FFD-4304-4B93-A9B9-24B3F32B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600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模型开源当天</a:t>
            </a:r>
          </a:p>
        </p:txBody>
      </p:sp>
      <p:sp>
        <p:nvSpPr>
          <p:cNvPr id="23" name="s3-card-3">
            <a:extLst xmlns:a="http://schemas.openxmlformats.org/drawingml/2006/main">
              <a:ext uri="{FF2B5EF4-FFF2-40B4-BE49-F238E27FC236}">
                <a16:creationId xmlns:a16="http://schemas.microsoft.com/office/drawing/2014/main" id="{2D9F00A1-4D67-40F9-A7E3-8D66A9DF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90700"/>
            <a:ext cx="33909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4" name="s3-kicker-3">
            <a:extLst xmlns:a="http://schemas.openxmlformats.org/drawingml/2006/main">
              <a:ext uri="{FF2B5EF4-FFF2-40B4-BE49-F238E27FC236}">
                <a16:creationId xmlns:a16="http://schemas.microsoft.com/office/drawing/2014/main" id="{F5E3B329-9835-47B2-AF6B-1763C42A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57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03｜0day 交付</a:t>
            </a:r>
          </a:p>
        </p:txBody>
      </p:sp>
      <p:sp>
        <p:nvSpPr>
          <p:cNvPr id="25" name="s3-card-title-3">
            <a:extLst xmlns:a="http://schemas.openxmlformats.org/drawingml/2006/main">
              <a:ext uri="{FF2B5EF4-FFF2-40B4-BE49-F238E27FC236}">
                <a16:creationId xmlns:a16="http://schemas.microsoft.com/office/drawing/2014/main" id="{DA3E24CE-8BDB-4790-8E90-6ED69D04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固定基线，双栈注入</a:t>
            </a:r>
          </a:p>
        </p:txBody>
      </p:sp>
      <p:sp>
        <p:nvSpPr>
          <p:cNvPr id="26" name="s3-card-body-3">
            <a:extLst xmlns:a="http://schemas.openxmlformats.org/drawingml/2006/main">
              <a:ext uri="{FF2B5EF4-FFF2-40B4-BE49-F238E27FC236}">
                <a16:creationId xmlns:a16="http://schemas.microsoft.com/office/drawing/2014/main" id="{D370AC87-55DA-4B36-9B53-44BF7953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285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• 锁定：</a:t>
            </a:r>
            <a:r>
              <a: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0.20.2 双栈基线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• vLLM / vLLM-Ascend 双 patch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• 社区镜像 + 一键 apply / reverse</a:t>
            </a:r>
          </a:p>
        </p:txBody>
      </p:sp>
      <p:sp>
        <p:nvSpPr>
          <p:cNvPr id="27" name="s3-label-3">
            <a:extLst xmlns:a="http://schemas.openxmlformats.org/drawingml/2006/main">
              <a:ext uri="{FF2B5EF4-FFF2-40B4-BE49-F238E27FC236}">
                <a16:creationId xmlns:a16="http://schemas.microsoft.com/office/drawing/2014/main" id="{7E34CD97-86E0-4B4B-BB4F-A87D2EC8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600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发布日可用</a:t>
            </a:r>
          </a:p>
        </p:txBody>
      </p:sp>
      <p:sp>
        <p:nvSpPr>
          <p:cNvPr id="28" name="s3-conclusion">
            <a:extLst xmlns:a="http://schemas.openxmlformats.org/drawingml/2006/main">
              <a:ext uri="{FF2B5EF4-FFF2-40B4-BE49-F238E27FC236}">
                <a16:creationId xmlns:a16="http://schemas.microsoft.com/office/drawing/2014/main" id="{207B14E9-98A4-4A10-AE78-014523CB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102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代价：临时分叉；收益：发布日不再等待主线追平</a:t>
            </a:r>
          </a:p>
        </p:txBody>
      </p:sp>
    </p:spTree>
    <p:extLst>
      <p:ext uri="{BB962C8B-B14F-4D97-AF65-F5344CB8AC3E}">
        <p14:creationId xmlns:p14="http://schemas.microsoft.com/office/powerpoint/2010/main" val="5493010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ection-4">
            <a:extLst xmlns:a="http://schemas.openxmlformats.org/drawingml/2006/main">
              <a:ext uri="{FF2B5EF4-FFF2-40B4-BE49-F238E27FC236}">
                <a16:creationId xmlns:a16="http://schemas.microsoft.com/office/drawing/2014/main" id="{983D86EA-0F39-46AC-A8E9-D5FF0972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机制建议｜标准化 0day</a:t>
            </a:r>
          </a:p>
        </p:txBody>
      </p:sp>
      <p:sp>
        <p:nvSpPr>
          <p:cNvPr id="2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564BEE6E-28F5-4F2E-BB87-97B15D15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F690A29A-B642-4D70-BB61-039CE921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大模型昇腾 0day 推理适配｜TMG</a:t>
            </a:r>
          </a:p>
        </p:txBody>
      </p:sp>
      <p:sp>
        <p:nvSpPr>
          <p:cNvPr id="4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8A1ECA0E-D947-40B0-B7FC-DC34F1B5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5" name="s4-title-accent">
            <a:extLst xmlns:a="http://schemas.openxmlformats.org/drawingml/2006/main">
              <a:ext uri="{FF2B5EF4-FFF2-40B4-BE49-F238E27FC236}">
                <a16:creationId xmlns:a16="http://schemas.microsoft.com/office/drawing/2014/main" id="{37D19143-C9CE-48AE-AAF3-530638BE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4-title">
            <a:extLst xmlns:a="http://schemas.openxmlformats.org/drawingml/2006/main">
              <a:ext uri="{FF2B5EF4-FFF2-40B4-BE49-F238E27FC236}">
                <a16:creationId xmlns:a16="http://schemas.microsoft.com/office/drawing/2014/main" id="{2809FBF7-02A0-4DE2-ABB6-D65DA919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最终方案：双轨交付，让 0day 与主线演进解耦</a:t>
            </a:r>
          </a:p>
        </p:txBody>
      </p:sp>
      <p:sp>
        <p:nvSpPr>
          <p:cNvPr id="7" name="s4-subtitle">
            <a:extLst xmlns:a="http://schemas.openxmlformats.org/drawingml/2006/main">
              <a:ext uri="{FF2B5EF4-FFF2-40B4-BE49-F238E27FC236}">
                <a16:creationId xmlns:a16="http://schemas.microsoft.com/office/drawing/2014/main" id="{306ABD45-DA37-4ACB-947B-222C448D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默认同时准备“发布日保底”和“社区主线收敛”，不再把 T0 交付押在 main2main 上。</a:t>
            </a:r>
          </a:p>
        </p:txBody>
      </p:sp>
      <p:sp>
        <p:nvSpPr>
          <p:cNvPr id="8" name="s4-process-line">
            <a:extLst xmlns:a="http://schemas.openxmlformats.org/drawingml/2006/main">
              <a:ext uri="{FF2B5EF4-FFF2-40B4-BE49-F238E27FC236}">
                <a16:creationId xmlns:a16="http://schemas.microsoft.com/office/drawing/2014/main" id="{7EE64E44-5932-47F8-887A-30A57A8E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71700"/>
            <a:ext cx="0" cy="3257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9" name="s4-process-dot-1">
            <a:extLst xmlns:a="http://schemas.openxmlformats.org/drawingml/2006/main">
              <a:ext uri="{FF2B5EF4-FFF2-40B4-BE49-F238E27FC236}">
                <a16:creationId xmlns:a16="http://schemas.microsoft.com/office/drawing/2014/main" id="{0D6EEC76-B863-4D6E-8C55-013BB7AA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4-process-dot-2">
            <a:extLst xmlns:a="http://schemas.openxmlformats.org/drawingml/2006/main">
              <a:ext uri="{FF2B5EF4-FFF2-40B4-BE49-F238E27FC236}">
                <a16:creationId xmlns:a16="http://schemas.microsoft.com/office/drawing/2014/main" id="{CC43697E-6A76-4334-B887-DBFC9386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process-dot-3">
            <a:extLst xmlns:a="http://schemas.openxmlformats.org/drawingml/2006/main">
              <a:ext uri="{FF2B5EF4-FFF2-40B4-BE49-F238E27FC236}">
                <a16:creationId xmlns:a16="http://schemas.microsoft.com/office/drawing/2014/main" id="{430DF2C2-D84C-40D9-A117-1D7E99AF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4-process-dot-4">
            <a:extLst xmlns:a="http://schemas.openxmlformats.org/drawingml/2006/main">
              <a:ext uri="{FF2B5EF4-FFF2-40B4-BE49-F238E27FC236}">
                <a16:creationId xmlns:a16="http://schemas.microsoft.com/office/drawing/2014/main" id="{9FC1CA53-35C7-4D77-AA96-2C1CF720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86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4-entry-panel">
            <a:extLst xmlns:a="http://schemas.openxmlformats.org/drawingml/2006/main">
              <a:ext uri="{FF2B5EF4-FFF2-40B4-BE49-F238E27FC236}">
                <a16:creationId xmlns:a16="http://schemas.microsoft.com/office/drawing/2014/main" id="{BA38F240-FC3A-4891-9C5B-48B81C7B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7338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4" name="s4-entry-kicker">
            <a:extLst xmlns:a="http://schemas.openxmlformats.org/drawingml/2006/main">
              <a:ext uri="{FF2B5EF4-FFF2-40B4-BE49-F238E27FC236}">
                <a16:creationId xmlns:a16="http://schemas.microsoft.com/office/drawing/2014/main" id="{609A61AD-B8CC-4C9C-9018-7543D645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统一发布入口｜ONE LINK</a:t>
            </a:r>
          </a:p>
        </p:txBody>
      </p:sp>
      <p:sp>
        <p:nvSpPr>
          <p:cNvPr id="15" name="s4-entry-title">
            <a:extLst xmlns:a="http://schemas.openxmlformats.org/drawingml/2006/main">
              <a:ext uri="{FF2B5EF4-FFF2-40B4-BE49-F238E27FC236}">
                <a16:creationId xmlns:a16="http://schemas.microsoft.com/office/drawing/2014/main" id="{805E8557-A488-406E-AF4E-974A5464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一个链接，完整交付</a:t>
            </a:r>
          </a:p>
        </p:txBody>
      </p:sp>
      <p:sp>
        <p:nvSpPr>
          <p:cNvPr id="16" name="s4-entry-path">
            <a:extLst xmlns:a="http://schemas.openxmlformats.org/drawingml/2006/main">
              <a:ext uri="{FF2B5EF4-FFF2-40B4-BE49-F238E27FC236}">
                <a16:creationId xmlns:a16="http://schemas.microsoft.com/office/drawing/2014/main" id="{D6002025-96B0-4120-A4F2-501E67C0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0day/{model}/{release}</a:t>
            </a:r>
          </a:p>
        </p:txBody>
      </p:sp>
      <p:sp>
        <p:nvSpPr>
          <p:cNvPr id="17" name="s4-entry-body">
            <a:extLst xmlns:a="http://schemas.openxmlformats.org/drawingml/2006/main">
              <a:ext uri="{FF2B5EF4-FFF2-40B4-BE49-F238E27FC236}">
                <a16:creationId xmlns:a16="http://schemas.microsoft.com/office/drawing/2014/main" id="{D8F46091-282B-46C3-83BB-91F5FB15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入口下挂已验证的完整交付单元：</a:t>
            </a:r>
          </a:p>
        </p:txBody>
      </p:sp>
      <p:sp>
        <p:nvSpPr>
          <p:cNvPr id="18" name="s4-entry-list">
            <a:extLst xmlns:a="http://schemas.openxmlformats.org/drawingml/2006/main">
              <a:ext uri="{FF2B5EF4-FFF2-40B4-BE49-F238E27FC236}">
                <a16:creationId xmlns:a16="http://schemas.microsoft.com/office/drawing/2014/main" id="{187A4F5B-8503-4C08-8AE6-38003873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0289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• commit tuple / 兼容矩阵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• 镜像 tag + digest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• patch bundle + apply / reverse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• smoke test 结果 + 主线 PR 链接</a:t>
            </a:r>
          </a:p>
        </p:txBody>
      </p:sp>
      <p:sp>
        <p:nvSpPr>
          <p:cNvPr id="19" name="s4-num-1">
            <a:extLst xmlns:a="http://schemas.openxmlformats.org/drawingml/2006/main">
              <a:ext uri="{FF2B5EF4-FFF2-40B4-BE49-F238E27FC236}">
                <a16:creationId xmlns:a16="http://schemas.microsoft.com/office/drawing/2014/main" id="{99605E6A-CB25-4809-BACD-8C93B08E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20" name="s4-label-1">
            <a:extLst xmlns:a="http://schemas.openxmlformats.org/drawingml/2006/main">
              <a:ext uri="{FF2B5EF4-FFF2-40B4-BE49-F238E27FC236}">
                <a16:creationId xmlns:a16="http://schemas.microsoft.com/office/drawing/2014/main" id="{B812702D-C03E-47C9-8B69-2EDEF621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336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分型</a:t>
            </a:r>
          </a:p>
        </p:txBody>
      </p:sp>
      <p:sp>
        <p:nvSpPr>
          <p:cNvPr id="21" name="s4-body-1">
            <a:extLst xmlns:a="http://schemas.openxmlformats.org/drawingml/2006/main">
              <a:ext uri="{FF2B5EF4-FFF2-40B4-BE49-F238E27FC236}">
                <a16:creationId xmlns:a16="http://schemas.microsoft.com/office/drawing/2014/main" id="{F27D945B-5B79-462E-AAF7-424644F6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4312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结构复用 → 插件主线 PR；全新结构 → 固定版本双 patch</a:t>
            </a:r>
          </a:p>
        </p:txBody>
      </p:sp>
      <p:sp>
        <p:nvSpPr>
          <p:cNvPr id="22" name="s4-row-rule-1">
            <a:extLst xmlns:a="http://schemas.openxmlformats.org/drawingml/2006/main">
              <a:ext uri="{FF2B5EF4-FFF2-40B4-BE49-F238E27FC236}">
                <a16:creationId xmlns:a16="http://schemas.microsoft.com/office/drawing/2014/main" id="{9F5D95FF-B381-4755-8C5B-721B7103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19400"/>
            <a:ext cx="624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2E5"/>
            </a:solidFill>
            <a:prstDash val="solid"/>
          </a:ln>
        </p:spPr>
      </p:sp>
      <p:sp>
        <p:nvSpPr>
          <p:cNvPr id="23" name="s4-num-2">
            <a:extLst xmlns:a="http://schemas.openxmlformats.org/drawingml/2006/main">
              <a:ext uri="{FF2B5EF4-FFF2-40B4-BE49-F238E27FC236}">
                <a16:creationId xmlns:a16="http://schemas.microsoft.com/office/drawing/2014/main" id="{F9B256BA-C546-49F6-AA2C-72EAE054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24" name="s4-label-2">
            <a:extLst xmlns:a="http://schemas.openxmlformats.org/drawingml/2006/main">
              <a:ext uri="{FF2B5EF4-FFF2-40B4-BE49-F238E27FC236}">
                <a16:creationId xmlns:a16="http://schemas.microsoft.com/office/drawing/2014/main" id="{BD355C8B-755C-4395-B5D1-BFD4884E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480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双备</a:t>
            </a:r>
          </a:p>
        </p:txBody>
      </p:sp>
      <p:sp>
        <p:nvSpPr>
          <p:cNvPr id="25" name="s4-body-2">
            <a:extLst xmlns:a="http://schemas.openxmlformats.org/drawingml/2006/main">
              <a:ext uri="{FF2B5EF4-FFF2-40B4-BE49-F238E27FC236}">
                <a16:creationId xmlns:a16="http://schemas.microsoft.com/office/drawing/2014/main" id="{1712951D-4E15-4541-82D8-0D5C4576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5752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开源前同时准备 PR 与可发布 patch bundle，并冻结 commit tuple</a:t>
            </a:r>
          </a:p>
        </p:txBody>
      </p:sp>
      <p:sp>
        <p:nvSpPr>
          <p:cNvPr id="26" name="s4-row-rule-2">
            <a:extLst xmlns:a="http://schemas.openxmlformats.org/drawingml/2006/main">
              <a:ext uri="{FF2B5EF4-FFF2-40B4-BE49-F238E27FC236}">
                <a16:creationId xmlns:a16="http://schemas.microsoft.com/office/drawing/2014/main" id="{5A02DFF9-C34D-4F2B-8580-EA4CE162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33800"/>
            <a:ext cx="624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2E5"/>
            </a:solidFill>
            <a:prstDash val="solid"/>
          </a:ln>
        </p:spPr>
      </p:sp>
      <p:sp>
        <p:nvSpPr>
          <p:cNvPr id="27" name="s4-num-3">
            <a:extLst xmlns:a="http://schemas.openxmlformats.org/drawingml/2006/main">
              <a:ext uri="{FF2B5EF4-FFF2-40B4-BE49-F238E27FC236}">
                <a16:creationId xmlns:a16="http://schemas.microsoft.com/office/drawing/2014/main" id="{6771CEB6-C192-476D-9303-2FBED937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005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8" name="s4-label-3">
            <a:extLst xmlns:a="http://schemas.openxmlformats.org/drawingml/2006/main">
              <a:ext uri="{FF2B5EF4-FFF2-40B4-BE49-F238E27FC236}">
                <a16:creationId xmlns:a16="http://schemas.microsoft.com/office/drawing/2014/main" id="{25F6DA65-1529-4BD6-9A7A-4F90679B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624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T0</a:t>
            </a:r>
          </a:p>
        </p:txBody>
      </p:sp>
      <p:sp>
        <p:nvSpPr>
          <p:cNvPr id="29" name="s4-body-3">
            <a:extLst xmlns:a="http://schemas.openxmlformats.org/drawingml/2006/main">
              <a:ext uri="{FF2B5EF4-FFF2-40B4-BE49-F238E27FC236}">
                <a16:creationId xmlns:a16="http://schemas.microsoft.com/office/drawing/2014/main" id="{53552D1C-20C5-489B-A7DE-DB3A065B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7192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统一入口发布镜像、脚本与验收结果；失败时可快速回退</a:t>
            </a:r>
          </a:p>
        </p:txBody>
      </p:sp>
      <p:sp>
        <p:nvSpPr>
          <p:cNvPr id="30" name="s4-row-rule-3">
            <a:extLst xmlns:a="http://schemas.openxmlformats.org/drawingml/2006/main">
              <a:ext uri="{FF2B5EF4-FFF2-40B4-BE49-F238E27FC236}">
                <a16:creationId xmlns:a16="http://schemas.microsoft.com/office/drawing/2014/main" id="{E5429787-0957-493B-BFDF-64F65CCE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48200"/>
            <a:ext cx="624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2E5"/>
            </a:solidFill>
            <a:prstDash val="solid"/>
          </a:ln>
        </p:spPr>
      </p:sp>
      <p:sp>
        <p:nvSpPr>
          <p:cNvPr id="31" name="s4-num-4">
            <a:extLst xmlns:a="http://schemas.openxmlformats.org/drawingml/2006/main">
              <a:ext uri="{FF2B5EF4-FFF2-40B4-BE49-F238E27FC236}">
                <a16:creationId xmlns:a16="http://schemas.microsoft.com/office/drawing/2014/main" id="{896B1947-0A3F-440E-8AA3-351E3DB8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149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2" name="s4-label-4">
            <a:extLst xmlns:a="http://schemas.openxmlformats.org/drawingml/2006/main">
              <a:ext uri="{FF2B5EF4-FFF2-40B4-BE49-F238E27FC236}">
                <a16:creationId xmlns:a16="http://schemas.microsoft.com/office/drawing/2014/main" id="{D9944683-174F-4CD8-B5B3-1332EA59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768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T+</a:t>
            </a:r>
          </a:p>
        </p:txBody>
      </p:sp>
      <p:sp>
        <p:nvSpPr>
          <p:cNvPr id="33" name="s4-body-4">
            <a:extLst xmlns:a="http://schemas.openxmlformats.org/drawingml/2006/main">
              <a:ext uri="{FF2B5EF4-FFF2-40B4-BE49-F238E27FC236}">
                <a16:creationId xmlns:a16="http://schemas.microsoft.com/office/drawing/2014/main" id="{F0729FFA-B36C-4617-9E4C-9637AE88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8632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6B73"/>
                </a:solidFill>
                <a:latin typeface="Arial Unicode MS"/>
                <a:ea typeface="Arial Unicode MS"/>
                <a:cs typeface="Arial Unicode MS"/>
              </a:rPr>
              <a:t>上游与插件主线收敛后移除 patch，回归社区每日镜像</a:t>
            </a:r>
          </a:p>
        </p:txBody>
      </p:sp>
      <p:sp>
        <p:nvSpPr>
          <p:cNvPr id="34" name="s4-decision-band">
            <a:extLst xmlns:a="http://schemas.openxmlformats.org/drawingml/2006/main">
              <a:ext uri="{FF2B5EF4-FFF2-40B4-BE49-F238E27FC236}">
                <a16:creationId xmlns:a16="http://schemas.microsoft.com/office/drawing/2014/main" id="{B7D926CE-BF90-4B0F-A1F4-D8691F9F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1125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4-decision">
            <a:extLst xmlns:a="http://schemas.openxmlformats.org/drawingml/2006/main">
              <a:ext uri="{FF2B5EF4-FFF2-40B4-BE49-F238E27FC236}">
                <a16:creationId xmlns:a16="http://schemas.microsoft.com/office/drawing/2014/main" id="{B844ED1F-7663-4F4E-9DB7-9D8C98C9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62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0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TMG 决策建议：批准“双轨 + 统一入口 + 退出机制”为标准 0day 流程</a:t>
            </a:r>
          </a:p>
        </p:txBody>
      </p:sp>
    </p:spTree>
    <p:extLst>
      <p:ext uri="{BB962C8B-B14F-4D97-AF65-F5344CB8AC3E}">
        <p14:creationId xmlns:p14="http://schemas.microsoft.com/office/powerpoint/2010/main" val="1707894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2026-08-03T02:38:05.9620000Z</dcterms:created>
  <dcterms:modified xsi:type="dcterms:W3CDTF">2026-08-03T02:38:05.9620000Z</dcterms:modified>
</coreProperties>
</file>