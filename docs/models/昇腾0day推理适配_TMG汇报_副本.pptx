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5"/>
  </p:normalViewPr>
  <p:slideViewPr>
    <p:cSldViewPr snapToGrid="0">
      <p:cViewPr varScale="1">
        <p:scale>
          <a:sx n="100" d="100"/>
          <a:sy n="100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先把问题定性为版本消费问题，而不是单纯的模型开发问题。vLLM-Ascend 的 main 依赖一个已经验证的上游锚点，因此上游在发布日合入并不自动等于昇腾发布日可用。两次实践分别覆盖了结构复用与全新结构两类情形。</a:t>
            </a:r>
          </a:p>
          <a:p>
            <a:endParaRPr/>
          </a:p>
          <a:p>
            <a:r>
              <a:t>[Sources]</a:t>
            </a:r>
          </a:p>
          <a:p>
            <a:r>
              <a:t>- User briefing, 2026-08-03.</a:t>
            </a:r>
          </a:p>
          <a:p>
            <a:r>
              <a:t>- Local workspace: vllm-ascend/.github/vllm-main-verified.commit and vllm-release-tag.commit.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百灵 2.6 的关键不是开发量小，而是它恰好落在插件可消费的上游能力范围内。团队只需要提前把 vLLM-Ascend PR 准备好，在模型开源当天合入，社区每日镜像即可承接交付。这个方案成本最低，但依赖两个前提同时成立。</a:t>
            </a:r>
          </a:p>
          <a:p>
            <a:endParaRPr/>
          </a:p>
          <a:p>
            <a:r>
              <a:t>[Sources]</a:t>
            </a:r>
          </a:p>
          <a:p>
            <a:r>
              <a:t>- User briefing,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百灵 3.0 是真正的新结构场景。此时仅押注上游 main PR 会把昇腾交付绑定到插件追赶节奏，因此采用固定版本基线：对 vLLM 与 vLLM-Ascend 同时准备 patch，在社区 0.20.2 系列镜像上用脚本注入。当前工作区脚本还提供幂等检查和 reverse 模式，适合成为可重复交付单元。</a:t>
            </a:r>
          </a:p>
          <a:p>
            <a:endParaRPr/>
          </a:p>
          <a:p>
            <a:r>
              <a:t>[Sources]</a:t>
            </a:r>
          </a:p>
          <a:p>
            <a:r>
              <a:t>- User briefing, 2026-08-03.</a:t>
            </a:r>
          </a:p>
          <a:p>
            <a:r>
              <a:t>- Local workspace: codefusews/apply_bailing_v3.sh (0.20.2rc1 header, dual patch apply, idempotent checks, reverse mode).</a:t>
            </a:r>
          </a:p>
          <a:p>
            <a:r>
              <a:t>- Local workspace: bailing_v3_vllm.patch.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最终建议不是选择主线或 patch 二选一，而是把两条路径标准化并行。T0 交付通过一个统一入口暴露完整、可复现、可回退的制品；T+ 持续推动上游与插件 PR 收敛，达到退出条件后撤掉 patch。需要 TMG 决策的是把这套机制固化为默认流程。</a:t>
            </a:r>
          </a:p>
          <a:p>
            <a:endParaRPr/>
          </a:p>
          <a:p>
            <a:r>
              <a:t>[Sources]</a:t>
            </a:r>
          </a:p>
          <a:p>
            <a:r>
              <a:t>- Recommendation synthesized from the user briefing and the two historical adaptation paths, 2026-08-03.</a:t>
            </a:r>
          </a:p>
          <a:p>
            <a:r>
              <a:t>- Local workspace: codefusews/apply_bailing_v3.sh as evidence that apply/reverse can be packaged into a repeatable delivery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-1">
            <a:extLst>
              <a:ext uri="{FF2B5EF4-FFF2-40B4-BE49-F238E27FC236}">
                <a16:creationId xmlns:a16="http://schemas.microsoft.com/office/drawing/2014/main" id="{287724B9-6383-47FC-9FEE-6F5CA24A295F}"/>
              </a:ext>
            </a:extLst>
          </p:cNvPr>
          <p:cNvSpPr>
            <a:spLocks noGrp="1"/>
          </p:cNvSpPr>
          <p:nvPr/>
        </p:nvSpPr>
        <p:spPr>
          <a:xfrm>
            <a:off x="533400" y="1714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历史复盘｜结构性矛盾</a:t>
            </a:r>
          </a:p>
        </p:txBody>
      </p:sp>
      <p:sp>
        <p:nvSpPr>
          <p:cNvPr id="2" name="footer-rule-1">
            <a:extLst>
              <a:ext uri="{FF2B5EF4-FFF2-40B4-BE49-F238E27FC236}">
                <a16:creationId xmlns:a16="http://schemas.microsoft.com/office/drawing/2014/main" id="{5C5DE179-A35D-4A70-9D31-DBE56836056B}"/>
              </a:ext>
            </a:extLst>
          </p:cNvPr>
          <p:cNvSpPr>
            <a:spLocks noGrp="1"/>
          </p:cNvSpPr>
          <p:nvPr/>
        </p:nvSpPr>
        <p:spPr>
          <a:xfrm>
            <a:off x="533400" y="6267450"/>
            <a:ext cx="11125200" cy="0"/>
          </a:xfrm>
          <a:prstGeom prst="line">
            <a:avLst/>
          </a:prstGeom>
          <a:noFill/>
          <a:ln w="9525">
            <a:solidFill>
              <a:srgbClr val="D7D9DD"/>
            </a:solidFill>
            <a:prstDash val="solid"/>
          </a:ln>
        </p:spPr>
      </p:sp>
      <p:sp>
        <p:nvSpPr>
          <p:cNvPr id="3" name="footer-label-1">
            <a:extLst>
              <a:ext uri="{FF2B5EF4-FFF2-40B4-BE49-F238E27FC236}">
                <a16:creationId xmlns:a16="http://schemas.microsoft.com/office/drawing/2014/main" id="{700FBF2B-08E2-4F68-9869-C558A2CA2DA8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1">
            <a:extLst>
              <a:ext uri="{FF2B5EF4-FFF2-40B4-BE49-F238E27FC236}">
                <a16:creationId xmlns:a16="http://schemas.microsoft.com/office/drawing/2014/main" id="{4BCABC89-F408-4FD4-9673-F6B208AC4DB2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s1-title-accent">
            <a:extLst>
              <a:ext uri="{FF2B5EF4-FFF2-40B4-BE49-F238E27FC236}">
                <a16:creationId xmlns:a16="http://schemas.microsoft.com/office/drawing/2014/main" id="{8520C9BD-171B-4A76-A3A3-E42174C92351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514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A7516644-944C-4E50-8AB6-EF52E3C6D193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896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0day 的矛盾：模型按天发布，插件按版本追赶</a:t>
            </a:r>
          </a:p>
        </p:txBody>
      </p:sp>
      <p:sp>
        <p:nvSpPr>
          <p:cNvPr id="7" name="s1-subtitle">
            <a:extLst>
              <a:ext uri="{FF2B5EF4-FFF2-40B4-BE49-F238E27FC236}">
                <a16:creationId xmlns:a16="http://schemas.microsoft.com/office/drawing/2014/main" id="{96AF79E2-8ECA-4170-9CDA-CC783357731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 main 持续前进；vLLM-Ascend main 只能消费已验证的 vLLM commit。</a:t>
            </a:r>
          </a:p>
        </p:txBody>
      </p:sp>
      <p:sp>
        <p:nvSpPr>
          <p:cNvPr id="8" name="s1-equation">
            <a:extLst>
              <a:ext uri="{FF2B5EF4-FFF2-40B4-BE49-F238E27FC236}">
                <a16:creationId xmlns:a16="http://schemas.microsoft.com/office/drawing/2014/main" id="{A9049350-1BDB-45DB-A977-730BBC6B0A9C}"/>
              </a:ext>
            </a:extLst>
          </p:cNvPr>
          <p:cNvSpPr>
            <a:spLocks noGrp="1"/>
          </p:cNvSpPr>
          <p:nvPr/>
        </p:nvSpPr>
        <p:spPr>
          <a:xfrm>
            <a:off x="9391650" y="123825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18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HEAD  ≠  ANCHOR</a:t>
            </a:r>
          </a:p>
        </p:txBody>
      </p:sp>
      <p:sp>
        <p:nvSpPr>
          <p:cNvPr id="9" name="s1-drift-line">
            <a:extLst>
              <a:ext uri="{FF2B5EF4-FFF2-40B4-BE49-F238E27FC236}">
                <a16:creationId xmlns:a16="http://schemas.microsoft.com/office/drawing/2014/main" id="{2CFD1B37-3CF3-4D7A-AA7C-29F3BDB82EF0}"/>
              </a:ext>
            </a:extLst>
          </p:cNvPr>
          <p:cNvSpPr>
            <a:spLocks noGrp="1"/>
          </p:cNvSpPr>
          <p:nvPr/>
        </p:nvSpPr>
        <p:spPr>
          <a:xfrm>
            <a:off x="5448300" y="3057525"/>
            <a:ext cx="1295400" cy="0"/>
          </a:xfrm>
          <a:prstGeom prst="line">
            <a:avLst/>
          </a:prstGeom>
          <a:noFill/>
          <a:ln w="28575">
            <a:solidFill>
              <a:srgbClr val="FF7A59"/>
            </a:solidFill>
            <a:prstDash val="solid"/>
          </a:ln>
        </p:spPr>
      </p:sp>
      <p:sp>
        <p:nvSpPr>
          <p:cNvPr id="10" name="s1-drift-dot-left">
            <a:extLst>
              <a:ext uri="{FF2B5EF4-FFF2-40B4-BE49-F238E27FC236}">
                <a16:creationId xmlns:a16="http://schemas.microsoft.com/office/drawing/2014/main" id="{17098E6F-BCDB-4B3D-8DA5-F9AFCCC17985}"/>
              </a:ext>
            </a:extLst>
          </p:cNvPr>
          <p:cNvSpPr>
            <a:spLocks noGrp="1"/>
          </p:cNvSpPr>
          <p:nvPr/>
        </p:nvSpPr>
        <p:spPr>
          <a:xfrm>
            <a:off x="5410200" y="3000375"/>
            <a:ext cx="114300" cy="1143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</p:sp>
      <p:sp>
        <p:nvSpPr>
          <p:cNvPr id="11" name="s1-drift-dot-right">
            <a:extLst>
              <a:ext uri="{FF2B5EF4-FFF2-40B4-BE49-F238E27FC236}">
                <a16:creationId xmlns:a16="http://schemas.microsoft.com/office/drawing/2014/main" id="{1F2E6F9C-88F1-4535-A351-0EB7C8C53A33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114300" cy="1143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</p:sp>
      <p:sp>
        <p:nvSpPr>
          <p:cNvPr id="12" name="s1-vllm-panel">
            <a:extLst>
              <a:ext uri="{FF2B5EF4-FFF2-40B4-BE49-F238E27FC236}">
                <a16:creationId xmlns:a16="http://schemas.microsoft.com/office/drawing/2014/main" id="{F0A83E1C-532D-4BD9-9C63-B35A5568F442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4991100" cy="2495550"/>
          </a:xfrm>
          <a:prstGeom prst="rect">
            <a:avLst/>
          </a:prstGeom>
          <a:solidFill>
            <a:srgbClr val="F7F8F9"/>
          </a:solidFill>
          <a:ln w="9525">
            <a:solidFill>
              <a:srgbClr val="D7D9DD"/>
            </a:solidFill>
            <a:prstDash val="solid"/>
          </a:ln>
        </p:spPr>
      </p:sp>
      <p:sp>
        <p:nvSpPr>
          <p:cNvPr id="13" name="s1-ascend-panel">
            <a:extLst>
              <a:ext uri="{FF2B5EF4-FFF2-40B4-BE49-F238E27FC236}">
                <a16:creationId xmlns:a16="http://schemas.microsoft.com/office/drawing/2014/main" id="{68A8B6F5-9841-4A41-99D7-5E58E1293D5B}"/>
              </a:ext>
            </a:extLst>
          </p:cNvPr>
          <p:cNvSpPr>
            <a:spLocks noGrp="1"/>
          </p:cNvSpPr>
          <p:nvPr/>
        </p:nvSpPr>
        <p:spPr>
          <a:xfrm>
            <a:off x="6667500" y="1981200"/>
            <a:ext cx="4991100" cy="2495550"/>
          </a:xfrm>
          <a:prstGeom prst="rect">
            <a:avLst/>
          </a:prstGeom>
          <a:solidFill>
            <a:srgbClr val="F0F1F2"/>
          </a:solidFill>
          <a:ln w="9525">
            <a:solidFill>
              <a:srgbClr val="D7D9DD"/>
            </a:solidFill>
            <a:prstDash val="solid"/>
          </a:ln>
        </p:spPr>
      </p:sp>
      <p:sp>
        <p:nvSpPr>
          <p:cNvPr id="14" name="s1-vllm-kicker">
            <a:extLst>
              <a:ext uri="{FF2B5EF4-FFF2-40B4-BE49-F238E27FC236}">
                <a16:creationId xmlns:a16="http://schemas.microsoft.com/office/drawing/2014/main" id="{8B7315ED-E990-4EB4-8C8A-DFF2129BD99F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UPSTREAM</a:t>
            </a:r>
          </a:p>
        </p:txBody>
      </p:sp>
      <p:sp>
        <p:nvSpPr>
          <p:cNvPr id="15" name="s1-vllm-title">
            <a:extLst>
              <a:ext uri="{FF2B5EF4-FFF2-40B4-BE49-F238E27FC236}">
                <a16:creationId xmlns:a16="http://schemas.microsoft.com/office/drawing/2014/main" id="{06ABEECB-289E-4627-9E47-76BF8A299ED1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vLLM main</a:t>
            </a:r>
          </a:p>
        </p:txBody>
      </p:sp>
      <p:sp>
        <p:nvSpPr>
          <p:cNvPr id="16" name="s1-vllm-body">
            <a:extLst>
              <a:ext uri="{FF2B5EF4-FFF2-40B4-BE49-F238E27FC236}">
                <a16:creationId xmlns:a16="http://schemas.microsoft.com/office/drawing/2014/main" id="{9967916A-E2C4-4143-9C3C-840E7E233B5C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4229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高频变更：</a:t>
            </a: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模型结构、执行路径、接口持续演进</a:t>
            </a:r>
          </a:p>
          <a:p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新模型可能在 T0 才合入</a:t>
            </a:r>
          </a:p>
        </p:txBody>
      </p:sp>
      <p:sp>
        <p:nvSpPr>
          <p:cNvPr id="17" name="s1-ascend-kicker">
            <a:extLst>
              <a:ext uri="{FF2B5EF4-FFF2-40B4-BE49-F238E27FC236}">
                <a16:creationId xmlns:a16="http://schemas.microsoft.com/office/drawing/2014/main" id="{7400208A-F51A-4C88-8C41-D0F191958F93}"/>
              </a:ext>
            </a:extLst>
          </p:cNvPr>
          <p:cNvSpPr>
            <a:spLocks noGrp="1"/>
          </p:cNvSpPr>
          <p:nvPr/>
        </p:nvSpPr>
        <p:spPr>
          <a:xfrm>
            <a:off x="6934200" y="2247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PLUGIN</a:t>
            </a:r>
          </a:p>
        </p:txBody>
      </p:sp>
      <p:sp>
        <p:nvSpPr>
          <p:cNvPr id="18" name="s1-ascend-title">
            <a:extLst>
              <a:ext uri="{FF2B5EF4-FFF2-40B4-BE49-F238E27FC236}">
                <a16:creationId xmlns:a16="http://schemas.microsoft.com/office/drawing/2014/main" id="{0E8C9183-DD9C-4146-B7CF-E869D80A5D68}"/>
              </a:ext>
            </a:extLst>
          </p:cNvPr>
          <p:cNvSpPr>
            <a:spLocks noGrp="1"/>
          </p:cNvSpPr>
          <p:nvPr/>
        </p:nvSpPr>
        <p:spPr>
          <a:xfrm>
            <a:off x="6934200" y="2590800"/>
            <a:ext cx="403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vLLM-Ascend main</a:t>
            </a:r>
          </a:p>
        </p:txBody>
      </p:sp>
      <p:sp>
        <p:nvSpPr>
          <p:cNvPr id="19" name="s1-ascend-body">
            <a:extLst>
              <a:ext uri="{FF2B5EF4-FFF2-40B4-BE49-F238E27FC236}">
                <a16:creationId xmlns:a16="http://schemas.microsoft.com/office/drawing/2014/main" id="{E026700D-3BBC-4B5C-B5C6-710570FEFE04}"/>
              </a:ext>
            </a:extLst>
          </p:cNvPr>
          <p:cNvSpPr>
            <a:spLocks noGrp="1"/>
          </p:cNvSpPr>
          <p:nvPr/>
        </p:nvSpPr>
        <p:spPr>
          <a:xfrm>
            <a:off x="6934200" y="3181350"/>
            <a:ext cx="4229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固定锚点：</a:t>
            </a: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基于特定 release / verified commit 开发</a:t>
            </a:r>
          </a:p>
          <a:p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插件 main 不等于上游 HEAD</a:t>
            </a:r>
          </a:p>
        </p:txBody>
      </p:sp>
      <p:sp>
        <p:nvSpPr>
          <p:cNvPr id="20" name="s1-gap-label">
            <a:extLst>
              <a:ext uri="{FF2B5EF4-FFF2-40B4-BE49-F238E27FC236}">
                <a16:creationId xmlns:a16="http://schemas.microsoft.com/office/drawing/2014/main" id="{FA20EC87-D83E-4C9A-820A-ED471E5F5351}"/>
              </a:ext>
            </a:extLst>
          </p:cNvPr>
          <p:cNvSpPr>
            <a:spLocks noGrp="1"/>
          </p:cNvSpPr>
          <p:nvPr/>
        </p:nvSpPr>
        <p:spPr>
          <a:xfrm>
            <a:off x="5476875" y="27051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版本消费窗口</a:t>
            </a:r>
          </a:p>
        </p:txBody>
      </p:sp>
      <p:sp>
        <p:nvSpPr>
          <p:cNvPr id="21" name="s1-bottom-band">
            <a:extLst>
              <a:ext uri="{FF2B5EF4-FFF2-40B4-BE49-F238E27FC236}">
                <a16:creationId xmlns:a16="http://schemas.microsoft.com/office/drawing/2014/main" id="{05C71387-B2AA-41BD-81DF-2126891AC791}"/>
              </a:ext>
            </a:extLst>
          </p:cNvPr>
          <p:cNvSpPr>
            <a:spLocks noGrp="1"/>
          </p:cNvSpPr>
          <p:nvPr/>
        </p:nvSpPr>
        <p:spPr>
          <a:xfrm>
            <a:off x="533400" y="4800600"/>
            <a:ext cx="111252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s1-bottom-label">
            <a:extLst>
              <a:ext uri="{FF2B5EF4-FFF2-40B4-BE49-F238E27FC236}">
                <a16:creationId xmlns:a16="http://schemas.microsoft.com/office/drawing/2014/main" id="{24E0616F-E590-439B-80EB-7AA1D3F0661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0day 先判断上游状态</a:t>
            </a:r>
          </a:p>
        </p:txBody>
      </p:sp>
      <p:sp>
        <p:nvSpPr>
          <p:cNvPr id="23" name="s1-path-a">
            <a:extLst>
              <a:ext uri="{FF2B5EF4-FFF2-40B4-BE49-F238E27FC236}">
                <a16:creationId xmlns:a16="http://schemas.microsoft.com/office/drawing/2014/main" id="{B6F83034-99DA-4758-888F-3ED4CD35FCAB}"/>
              </a:ext>
            </a:extLst>
          </p:cNvPr>
          <p:cNvSpPr>
            <a:spLocks noGrp="1"/>
          </p:cNvSpPr>
          <p:nvPr/>
        </p:nvSpPr>
        <p:spPr>
          <a:xfrm>
            <a:off x="4381500" y="50006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A｜已有结构 → 插件 PR 走主线</a:t>
            </a:r>
          </a:p>
        </p:txBody>
      </p:sp>
      <p:sp>
        <p:nvSpPr>
          <p:cNvPr id="24" name="s1-path-b">
            <a:extLst>
              <a:ext uri="{FF2B5EF4-FFF2-40B4-BE49-F238E27FC236}">
                <a16:creationId xmlns:a16="http://schemas.microsoft.com/office/drawing/2014/main" id="{B6E8BE14-4EE8-4757-B455-23FFF7397D43}"/>
              </a:ext>
            </a:extLst>
          </p:cNvPr>
          <p:cNvSpPr>
            <a:spLocks noGrp="1"/>
          </p:cNvSpPr>
          <p:nvPr/>
        </p:nvSpPr>
        <p:spPr>
          <a:xfrm>
            <a:off x="4381500" y="5429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B｜全新结构 → 双栈 patch 必须保底</a:t>
            </a:r>
          </a:p>
        </p:txBody>
      </p:sp>
      <p:sp>
        <p:nvSpPr>
          <p:cNvPr id="25" name="s1-key">
            <a:extLst>
              <a:ext uri="{FF2B5EF4-FFF2-40B4-BE49-F238E27FC236}">
                <a16:creationId xmlns:a16="http://schemas.microsoft.com/office/drawing/2014/main" id="{6A5F1AE5-EFE6-4A91-B0C5-32A47CCE6107}"/>
              </a:ext>
            </a:extLst>
          </p:cNvPr>
          <p:cNvSpPr>
            <a:spLocks noGrp="1"/>
          </p:cNvSpPr>
          <p:nvPr/>
        </p:nvSpPr>
        <p:spPr>
          <a:xfrm>
            <a:off x="9372600" y="5133975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main PR ≠ T0 可用</a:t>
            </a:r>
          </a:p>
        </p:txBody>
      </p:sp>
    </p:spTree>
    <p:extLst>
      <p:ext uri="{BB962C8B-B14F-4D97-AF65-F5344CB8AC3E}">
        <p14:creationId xmlns:p14="http://schemas.microsoft.com/office/powerpoint/2010/main" val="2047571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ection-2">
            <a:extLst>
              <a:ext uri="{FF2B5EF4-FFF2-40B4-BE49-F238E27FC236}">
                <a16:creationId xmlns:a16="http://schemas.microsoft.com/office/drawing/2014/main" id="{89FAC08C-5153-49F9-8721-4808676BBEEB}"/>
              </a:ext>
            </a:extLst>
          </p:cNvPr>
          <p:cNvSpPr>
            <a:spLocks noGrp="1"/>
          </p:cNvSpPr>
          <p:nvPr/>
        </p:nvSpPr>
        <p:spPr>
          <a:xfrm>
            <a:off x="533400" y="1714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实践一｜百灵 2.6</a:t>
            </a:r>
          </a:p>
        </p:txBody>
      </p:sp>
      <p:sp>
        <p:nvSpPr>
          <p:cNvPr id="2" name="footer-rule-2">
            <a:extLst>
              <a:ext uri="{FF2B5EF4-FFF2-40B4-BE49-F238E27FC236}">
                <a16:creationId xmlns:a16="http://schemas.microsoft.com/office/drawing/2014/main" id="{99615A1E-7191-4C03-A416-139C224F71B8}"/>
              </a:ext>
            </a:extLst>
          </p:cNvPr>
          <p:cNvSpPr>
            <a:spLocks noGrp="1"/>
          </p:cNvSpPr>
          <p:nvPr/>
        </p:nvSpPr>
        <p:spPr>
          <a:xfrm>
            <a:off x="533400" y="6267450"/>
            <a:ext cx="11125200" cy="0"/>
          </a:xfrm>
          <a:prstGeom prst="line">
            <a:avLst/>
          </a:prstGeom>
          <a:noFill/>
          <a:ln w="9525">
            <a:solidFill>
              <a:srgbClr val="D7D9DD"/>
            </a:solidFill>
            <a:prstDash val="solid"/>
          </a:ln>
        </p:spPr>
      </p:sp>
      <p:sp>
        <p:nvSpPr>
          <p:cNvPr id="3" name="footer-label-2">
            <a:extLst>
              <a:ext uri="{FF2B5EF4-FFF2-40B4-BE49-F238E27FC236}">
                <a16:creationId xmlns:a16="http://schemas.microsoft.com/office/drawing/2014/main" id="{E8ABD14A-6624-4C11-8BE2-F3FB12F03A7F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2">
            <a:extLst>
              <a:ext uri="{FF2B5EF4-FFF2-40B4-BE49-F238E27FC236}">
                <a16:creationId xmlns:a16="http://schemas.microsoft.com/office/drawing/2014/main" id="{EFCCA2E6-94FB-4694-B246-96C0ABDE2DE3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s2-title-accent">
            <a:extLst>
              <a:ext uri="{FF2B5EF4-FFF2-40B4-BE49-F238E27FC236}">
                <a16:creationId xmlns:a16="http://schemas.microsoft.com/office/drawing/2014/main" id="{3560C6C5-3AE0-4290-BE1A-4BC5FBB69C3A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514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s2-title">
            <a:extLst>
              <a:ext uri="{FF2B5EF4-FFF2-40B4-BE49-F238E27FC236}">
                <a16:creationId xmlns:a16="http://schemas.microsoft.com/office/drawing/2014/main" id="{4324DF65-9F2E-4091-BC4C-58F0EF3CEA30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896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百灵 2.6：复用 2.5 结构，主线合入即可 0day</a:t>
            </a:r>
          </a:p>
        </p:txBody>
      </p:sp>
      <p:sp>
        <p:nvSpPr>
          <p:cNvPr id="7" name="s2-subtitle">
            <a:extLst>
              <a:ext uri="{FF2B5EF4-FFF2-40B4-BE49-F238E27FC236}">
                <a16:creationId xmlns:a16="http://schemas.microsoft.com/office/drawing/2014/main" id="{83D8B076-0AAB-4AFD-B393-4AAC25B89CBE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前提成立：上游 vLLM 已有模型实现，且插件当前锚点已经包含。</a:t>
            </a:r>
          </a:p>
        </p:txBody>
      </p:sp>
      <p:sp>
        <p:nvSpPr>
          <p:cNvPr id="8" name="s2-result">
            <a:extLst>
              <a:ext uri="{FF2B5EF4-FFF2-40B4-BE49-F238E27FC236}">
                <a16:creationId xmlns:a16="http://schemas.microsoft.com/office/drawing/2014/main" id="{21800022-DB50-4AE1-B526-30C922ADFF62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1 个 PR + 社区镜像</a:t>
            </a:r>
          </a:p>
        </p:txBody>
      </p:sp>
      <p:sp>
        <p:nvSpPr>
          <p:cNvPr id="9" name="s2-timeline">
            <a:extLst>
              <a:ext uri="{FF2B5EF4-FFF2-40B4-BE49-F238E27FC236}">
                <a16:creationId xmlns:a16="http://schemas.microsoft.com/office/drawing/2014/main" id="{0E55559F-4A12-40E9-A89A-8CF920AD291E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99441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" name="s2-dot-1">
            <a:extLst>
              <a:ext uri="{FF2B5EF4-FFF2-40B4-BE49-F238E27FC236}">
                <a16:creationId xmlns:a16="http://schemas.microsoft.com/office/drawing/2014/main" id="{7DB8DFF0-46D0-4C25-BC87-4BB203ADB3CA}"/>
              </a:ext>
            </a:extLst>
          </p:cNvPr>
          <p:cNvSpPr>
            <a:spLocks noGrp="1"/>
          </p:cNvSpPr>
          <p:nvPr/>
        </p:nvSpPr>
        <p:spPr>
          <a:xfrm>
            <a:off x="1257300" y="2990850"/>
            <a:ext cx="152400" cy="1524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s2-dot-2">
            <a:extLst>
              <a:ext uri="{FF2B5EF4-FFF2-40B4-BE49-F238E27FC236}">
                <a16:creationId xmlns:a16="http://schemas.microsoft.com/office/drawing/2014/main" id="{18EA2E79-16C2-406B-AA86-8D4607DE75DB}"/>
              </a:ext>
            </a:extLst>
          </p:cNvPr>
          <p:cNvSpPr>
            <a:spLocks noGrp="1"/>
          </p:cNvSpPr>
          <p:nvPr/>
        </p:nvSpPr>
        <p:spPr>
          <a:xfrm>
            <a:off x="6019800" y="2990850"/>
            <a:ext cx="152400" cy="1524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2" name="s2-dot-3">
            <a:extLst>
              <a:ext uri="{FF2B5EF4-FFF2-40B4-BE49-F238E27FC236}">
                <a16:creationId xmlns:a16="http://schemas.microsoft.com/office/drawing/2014/main" id="{94736D37-7E82-4E52-BCD2-8E94DA1E966B}"/>
              </a:ext>
            </a:extLst>
          </p:cNvPr>
          <p:cNvSpPr>
            <a:spLocks noGrp="1"/>
          </p:cNvSpPr>
          <p:nvPr/>
        </p:nvSpPr>
        <p:spPr>
          <a:xfrm>
            <a:off x="10782300" y="299085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s2-label-1">
            <a:extLst>
              <a:ext uri="{FF2B5EF4-FFF2-40B4-BE49-F238E27FC236}">
                <a16:creationId xmlns:a16="http://schemas.microsoft.com/office/drawing/2014/main" id="{022C9650-27D2-4FEE-9EDA-93BD15DD747E}"/>
              </a:ext>
            </a:extLst>
          </p:cNvPr>
          <p:cNvSpPr>
            <a:spLocks noGrp="1"/>
          </p:cNvSpPr>
          <p:nvPr/>
        </p:nvSpPr>
        <p:spPr>
          <a:xfrm>
            <a:off x="533400" y="24765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开源前</a:t>
            </a:r>
          </a:p>
        </p:txBody>
      </p:sp>
      <p:sp>
        <p:nvSpPr>
          <p:cNvPr id="14" name="s2-step-title-1">
            <a:extLst>
              <a:ext uri="{FF2B5EF4-FFF2-40B4-BE49-F238E27FC236}">
                <a16:creationId xmlns:a16="http://schemas.microsoft.com/office/drawing/2014/main" id="{FCC526B1-F294-4817-ADE3-9C92D373AA70}"/>
              </a:ext>
            </a:extLst>
          </p:cNvPr>
          <p:cNvSpPr>
            <a:spLocks noGrp="1"/>
          </p:cNvSpPr>
          <p:nvPr/>
        </p:nvSpPr>
        <p:spPr>
          <a:xfrm>
            <a:off x="533400" y="35242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判断为结构复用</a:t>
            </a:r>
          </a:p>
        </p:txBody>
      </p:sp>
      <p:sp>
        <p:nvSpPr>
          <p:cNvPr id="15" name="s2-step-body-1">
            <a:extLst>
              <a:ext uri="{FF2B5EF4-FFF2-40B4-BE49-F238E27FC236}">
                <a16:creationId xmlns:a16="http://schemas.microsoft.com/office/drawing/2014/main" id="{F4880F2E-14F8-4B18-9C64-F3A3854DCE35}"/>
              </a:ext>
            </a:extLst>
          </p:cNvPr>
          <p:cNvSpPr>
            <a:spLocks noGrp="1"/>
          </p:cNvSpPr>
          <p:nvPr/>
        </p:nvSpPr>
        <p:spPr>
          <a:xfrm>
            <a:off x="533400" y="4048125"/>
            <a:ext cx="3200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2.6 与 2.5 模型结构一致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 锚点已包含 2.5 支持</a:t>
            </a:r>
          </a:p>
        </p:txBody>
      </p:sp>
      <p:sp>
        <p:nvSpPr>
          <p:cNvPr id="16" name="s2-label-2">
            <a:extLst>
              <a:ext uri="{FF2B5EF4-FFF2-40B4-BE49-F238E27FC236}">
                <a16:creationId xmlns:a16="http://schemas.microsoft.com/office/drawing/2014/main" id="{201E3A6B-3AF1-46EA-9CA0-D167118685EC}"/>
              </a:ext>
            </a:extLst>
          </p:cNvPr>
          <p:cNvSpPr>
            <a:spLocks noGrp="1"/>
          </p:cNvSpPr>
          <p:nvPr/>
        </p:nvSpPr>
        <p:spPr>
          <a:xfrm>
            <a:off x="4400550" y="24765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T0｜模型开源</a:t>
            </a:r>
          </a:p>
        </p:txBody>
      </p:sp>
      <p:sp>
        <p:nvSpPr>
          <p:cNvPr id="17" name="s2-step-title-2">
            <a:extLst>
              <a:ext uri="{FF2B5EF4-FFF2-40B4-BE49-F238E27FC236}">
                <a16:creationId xmlns:a16="http://schemas.microsoft.com/office/drawing/2014/main" id="{61FEA8A7-C03B-4DFB-B056-0B26034C48FD}"/>
              </a:ext>
            </a:extLst>
          </p:cNvPr>
          <p:cNvSpPr>
            <a:spLocks noGrp="1"/>
          </p:cNvSpPr>
          <p:nvPr/>
        </p:nvSpPr>
        <p:spPr>
          <a:xfrm>
            <a:off x="4400550" y="35242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只改插件侧</a:t>
            </a:r>
          </a:p>
        </p:txBody>
      </p:sp>
      <p:sp>
        <p:nvSpPr>
          <p:cNvPr id="18" name="s2-step-body-2">
            <a:extLst>
              <a:ext uri="{FF2B5EF4-FFF2-40B4-BE49-F238E27FC236}">
                <a16:creationId xmlns:a16="http://schemas.microsoft.com/office/drawing/2014/main" id="{DB81F8E6-0C40-4A9E-95A8-C22316FB5996}"/>
              </a:ext>
            </a:extLst>
          </p:cNvPr>
          <p:cNvSpPr>
            <a:spLocks noGrp="1"/>
          </p:cNvSpPr>
          <p:nvPr/>
        </p:nvSpPr>
        <p:spPr>
          <a:xfrm>
            <a:off x="4400550" y="4048125"/>
            <a:ext cx="3200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vLLM-Ascend PR 提前准备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开源当天合入 main</a:t>
            </a:r>
          </a:p>
        </p:txBody>
      </p:sp>
      <p:sp>
        <p:nvSpPr>
          <p:cNvPr id="19" name="s2-label-3">
            <a:extLst>
              <a:ext uri="{FF2B5EF4-FFF2-40B4-BE49-F238E27FC236}">
                <a16:creationId xmlns:a16="http://schemas.microsoft.com/office/drawing/2014/main" id="{45E3AD49-8E79-493D-ADC6-A2A235570AA6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T0+｜自动构建</a:t>
            </a:r>
          </a:p>
        </p:txBody>
      </p:sp>
      <p:sp>
        <p:nvSpPr>
          <p:cNvPr id="20" name="s2-step-title-3">
            <a:extLst>
              <a:ext uri="{FF2B5EF4-FFF2-40B4-BE49-F238E27FC236}">
                <a16:creationId xmlns:a16="http://schemas.microsoft.com/office/drawing/2014/main" id="{4698DEA3-C3BD-400E-9A4F-6ACE1DDFD249}"/>
              </a:ext>
            </a:extLst>
          </p:cNvPr>
          <p:cNvSpPr>
            <a:spLocks noGrp="1"/>
          </p:cNvSpPr>
          <p:nvPr/>
        </p:nvSpPr>
        <p:spPr>
          <a:xfrm>
            <a:off x="8267700" y="35242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社区镜像直接交付</a:t>
            </a:r>
          </a:p>
        </p:txBody>
      </p:sp>
      <p:sp>
        <p:nvSpPr>
          <p:cNvPr id="21" name="s2-step-body-3">
            <a:extLst>
              <a:ext uri="{FF2B5EF4-FFF2-40B4-BE49-F238E27FC236}">
                <a16:creationId xmlns:a16="http://schemas.microsoft.com/office/drawing/2014/main" id="{4B4F1216-2C69-407D-A211-DA40C52BA1D8}"/>
              </a:ext>
            </a:extLst>
          </p:cNvPr>
          <p:cNvSpPr>
            <a:spLocks noGrp="1"/>
          </p:cNvSpPr>
          <p:nvPr/>
        </p:nvSpPr>
        <p:spPr>
          <a:xfrm>
            <a:off x="8267700" y="4048125"/>
            <a:ext cx="3200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每日镜像流水线自动出包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用户拉取镜像即可推理</a:t>
            </a:r>
          </a:p>
        </p:txBody>
      </p:sp>
      <p:sp>
        <p:nvSpPr>
          <p:cNvPr id="22" name="s2-formula-band">
            <a:extLst>
              <a:ext uri="{FF2B5EF4-FFF2-40B4-BE49-F238E27FC236}">
                <a16:creationId xmlns:a16="http://schemas.microsoft.com/office/drawing/2014/main" id="{96FE3307-9A96-4684-BB83-C0D35908C4AA}"/>
              </a:ext>
            </a:extLst>
          </p:cNvPr>
          <p:cNvSpPr>
            <a:spLocks noGrp="1"/>
          </p:cNvSpPr>
          <p:nvPr/>
        </p:nvSpPr>
        <p:spPr>
          <a:xfrm>
            <a:off x="533400" y="5143500"/>
            <a:ext cx="11125200" cy="781050"/>
          </a:xfrm>
          <a:prstGeom prst="rect">
            <a:avLst/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23" name="s2-formula-label">
            <a:extLst>
              <a:ext uri="{FF2B5EF4-FFF2-40B4-BE49-F238E27FC236}">
                <a16:creationId xmlns:a16="http://schemas.microsoft.com/office/drawing/2014/main" id="{E9B2CE35-CE08-486B-8A84-969EE27FC982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成功公式</a:t>
            </a:r>
          </a:p>
        </p:txBody>
      </p:sp>
      <p:sp>
        <p:nvSpPr>
          <p:cNvPr id="24" name="s2-formula">
            <a:extLst>
              <a:ext uri="{FF2B5EF4-FFF2-40B4-BE49-F238E27FC236}">
                <a16:creationId xmlns:a16="http://schemas.microsoft.com/office/drawing/2014/main" id="{337268D9-EA9D-4293-8745-25B08DE760E5}"/>
              </a:ext>
            </a:extLst>
          </p:cNvPr>
          <p:cNvSpPr>
            <a:spLocks noGrp="1"/>
          </p:cNvSpPr>
          <p:nvPr/>
        </p:nvSpPr>
        <p:spPr>
          <a:xfrm>
            <a:off x="2133600" y="53340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上游已有实现  ×  插件锚点已包含  =  主线 PR 走通 0day</a:t>
            </a:r>
          </a:p>
        </p:txBody>
      </p:sp>
    </p:spTree>
    <p:extLst>
      <p:ext uri="{BB962C8B-B14F-4D97-AF65-F5344CB8AC3E}">
        <p14:creationId xmlns:p14="http://schemas.microsoft.com/office/powerpoint/2010/main" val="196674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ection-3">
            <a:extLst>
              <a:ext uri="{FF2B5EF4-FFF2-40B4-BE49-F238E27FC236}">
                <a16:creationId xmlns:a16="http://schemas.microsoft.com/office/drawing/2014/main" id="{50C7B45F-FA78-4C9B-B496-047B23420182}"/>
              </a:ext>
            </a:extLst>
          </p:cNvPr>
          <p:cNvSpPr>
            <a:spLocks noGrp="1"/>
          </p:cNvSpPr>
          <p:nvPr/>
        </p:nvSpPr>
        <p:spPr>
          <a:xfrm>
            <a:off x="533400" y="1714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实践二｜百灵 3.0</a:t>
            </a:r>
          </a:p>
        </p:txBody>
      </p:sp>
      <p:sp>
        <p:nvSpPr>
          <p:cNvPr id="2" name="footer-rule-3">
            <a:extLst>
              <a:ext uri="{FF2B5EF4-FFF2-40B4-BE49-F238E27FC236}">
                <a16:creationId xmlns:a16="http://schemas.microsoft.com/office/drawing/2014/main" id="{FA18C581-4394-4F34-8DE2-53892214508B}"/>
              </a:ext>
            </a:extLst>
          </p:cNvPr>
          <p:cNvSpPr>
            <a:spLocks noGrp="1"/>
          </p:cNvSpPr>
          <p:nvPr/>
        </p:nvSpPr>
        <p:spPr>
          <a:xfrm>
            <a:off x="533400" y="6267450"/>
            <a:ext cx="11125200" cy="0"/>
          </a:xfrm>
          <a:prstGeom prst="line">
            <a:avLst/>
          </a:prstGeom>
          <a:noFill/>
          <a:ln w="9525">
            <a:solidFill>
              <a:srgbClr val="D7D9DD"/>
            </a:solidFill>
            <a:prstDash val="solid"/>
          </a:ln>
        </p:spPr>
      </p:sp>
      <p:sp>
        <p:nvSpPr>
          <p:cNvPr id="3" name="footer-label-3">
            <a:extLst>
              <a:ext uri="{FF2B5EF4-FFF2-40B4-BE49-F238E27FC236}">
                <a16:creationId xmlns:a16="http://schemas.microsoft.com/office/drawing/2014/main" id="{355C1E78-E897-4784-81D0-A5A32C6875C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3">
            <a:extLst>
              <a:ext uri="{FF2B5EF4-FFF2-40B4-BE49-F238E27FC236}">
                <a16:creationId xmlns:a16="http://schemas.microsoft.com/office/drawing/2014/main" id="{1C7A9D62-57FF-49AB-9091-3B3FB4451A89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5" name="s3-title-accent">
            <a:extLst>
              <a:ext uri="{FF2B5EF4-FFF2-40B4-BE49-F238E27FC236}">
                <a16:creationId xmlns:a16="http://schemas.microsoft.com/office/drawing/2014/main" id="{994754C7-C8EA-4C68-8067-8421C0ABD408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514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s3-title">
            <a:extLst>
              <a:ext uri="{FF2B5EF4-FFF2-40B4-BE49-F238E27FC236}">
                <a16:creationId xmlns:a16="http://schemas.microsoft.com/office/drawing/2014/main" id="{FA5670A9-222D-4634-AEB6-D4ABE94085BB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896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百灵 3.0：全新结构下，固定版本 patch 保住 T0</a:t>
            </a:r>
          </a:p>
        </p:txBody>
      </p:sp>
      <p:sp>
        <p:nvSpPr>
          <p:cNvPr id="7" name="s3-subtitle">
            <a:extLst>
              <a:ext uri="{FF2B5EF4-FFF2-40B4-BE49-F238E27FC236}">
                <a16:creationId xmlns:a16="http://schemas.microsoft.com/office/drawing/2014/main" id="{98480724-363D-4029-8EA2-9D27B55F44A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上游当天合入 main，插件也无法立即跨越锚点消费新结构。</a:t>
            </a:r>
          </a:p>
        </p:txBody>
      </p:sp>
      <p:sp>
        <p:nvSpPr>
          <p:cNvPr id="8" name="s3-result">
            <a:extLst>
              <a:ext uri="{FF2B5EF4-FFF2-40B4-BE49-F238E27FC236}">
                <a16:creationId xmlns:a16="http://schemas.microsoft.com/office/drawing/2014/main" id="{1E14EE12-E603-485C-96B8-D7E26762E1F9}"/>
              </a:ext>
            </a:extLst>
          </p:cNvPr>
          <p:cNvSpPr>
            <a:spLocks noGrp="1"/>
          </p:cNvSpPr>
          <p:nvPr/>
        </p:nvSpPr>
        <p:spPr>
          <a:xfrm>
            <a:off x="9391650" y="12192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主线收敛晚于 0day</a:t>
            </a:r>
          </a:p>
        </p:txBody>
      </p:sp>
      <p:sp>
        <p:nvSpPr>
          <p:cNvPr id="9" name="s3-timeline">
            <a:extLst>
              <a:ext uri="{FF2B5EF4-FFF2-40B4-BE49-F238E27FC236}">
                <a16:creationId xmlns:a16="http://schemas.microsoft.com/office/drawing/2014/main" id="{A2759669-8A61-4781-8501-852FF68C81AE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</p:sp>
      <p:sp>
        <p:nvSpPr>
          <p:cNvPr id="10" name="s3-dot-1">
            <a:extLst>
              <a:ext uri="{FF2B5EF4-FFF2-40B4-BE49-F238E27FC236}">
                <a16:creationId xmlns:a16="http://schemas.microsoft.com/office/drawing/2014/main" id="{AB4EB105-5932-4ABA-AFEB-0364127624CC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152400" cy="1524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</p:sp>
      <p:sp>
        <p:nvSpPr>
          <p:cNvPr id="11" name="s3-dot-2">
            <a:extLst>
              <a:ext uri="{FF2B5EF4-FFF2-40B4-BE49-F238E27FC236}">
                <a16:creationId xmlns:a16="http://schemas.microsoft.com/office/drawing/2014/main" id="{0F3E6073-00A1-462E-A0B9-A16EA47C243B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152400" cy="1524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</p:sp>
      <p:sp>
        <p:nvSpPr>
          <p:cNvPr id="12" name="s3-dot-3">
            <a:extLst>
              <a:ext uri="{FF2B5EF4-FFF2-40B4-BE49-F238E27FC236}">
                <a16:creationId xmlns:a16="http://schemas.microsoft.com/office/drawing/2014/main" id="{D4128240-298E-4BBB-AB3A-9C46C8DCA5BA}"/>
              </a:ext>
            </a:extLst>
          </p:cNvPr>
          <p:cNvSpPr>
            <a:spLocks noGrp="1"/>
          </p:cNvSpPr>
          <p:nvPr/>
        </p:nvSpPr>
        <p:spPr>
          <a:xfrm>
            <a:off x="8362950" y="531495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s3-card-1">
            <a:extLst>
              <a:ext uri="{FF2B5EF4-FFF2-40B4-BE49-F238E27FC236}">
                <a16:creationId xmlns:a16="http://schemas.microsoft.com/office/drawing/2014/main" id="{C376BDEB-389C-4690-B5E2-C950E70C492A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3390900" cy="3219450"/>
          </a:xfrm>
          <a:prstGeom prst="roundRect">
            <a:avLst>
              <a:gd name="adj" fmla="val 2367"/>
            </a:avLst>
          </a:prstGeom>
          <a:solidFill>
            <a:srgbClr val="F7F8F9"/>
          </a:solidFill>
          <a:ln w="9525">
            <a:solidFill>
              <a:srgbClr val="D7D9DD"/>
            </a:solidFill>
            <a:prstDash val="solid"/>
          </a:ln>
        </p:spPr>
      </p:sp>
      <p:sp>
        <p:nvSpPr>
          <p:cNvPr id="14" name="s3-kicker-1">
            <a:extLst>
              <a:ext uri="{FF2B5EF4-FFF2-40B4-BE49-F238E27FC236}">
                <a16:creationId xmlns:a16="http://schemas.microsoft.com/office/drawing/2014/main" id="{85019AA7-A588-417A-B6D1-1AE0F64E5D56}"/>
              </a:ext>
            </a:extLst>
          </p:cNvPr>
          <p:cNvSpPr>
            <a:spLocks noGrp="1"/>
          </p:cNvSpPr>
          <p:nvPr/>
        </p:nvSpPr>
        <p:spPr>
          <a:xfrm>
            <a:off x="80010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01｜上游缺口</a:t>
            </a:r>
          </a:p>
        </p:txBody>
      </p:sp>
      <p:sp>
        <p:nvSpPr>
          <p:cNvPr id="15" name="s3-card-title-1">
            <a:extLst>
              <a:ext uri="{FF2B5EF4-FFF2-40B4-BE49-F238E27FC236}">
                <a16:creationId xmlns:a16="http://schemas.microsoft.com/office/drawing/2014/main" id="{8B319D75-C1D2-4300-B7CC-57B7DF9F01D0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新结构无处复用</a:t>
            </a:r>
          </a:p>
        </p:txBody>
      </p:sp>
      <p:sp>
        <p:nvSpPr>
          <p:cNvPr id="16" name="s3-card-body-1">
            <a:extLst>
              <a:ext uri="{FF2B5EF4-FFF2-40B4-BE49-F238E27FC236}">
                <a16:creationId xmlns:a16="http://schemas.microsoft.com/office/drawing/2014/main" id="{3FE63D3C-F968-4EFE-B380-EF4EEA7286D1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开源前：</a:t>
            </a: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 尚未支持 3.0</a:t>
            </a:r>
          </a:p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模型结构变化需要新增 vLLM 实现</a:t>
            </a:r>
          </a:p>
        </p:txBody>
      </p:sp>
      <p:sp>
        <p:nvSpPr>
          <p:cNvPr id="17" name="s3-label-1">
            <a:extLst>
              <a:ext uri="{FF2B5EF4-FFF2-40B4-BE49-F238E27FC236}">
                <a16:creationId xmlns:a16="http://schemas.microsoft.com/office/drawing/2014/main" id="{74859DDE-C6BE-4AE6-8D53-46225609C976}"/>
              </a:ext>
            </a:extLst>
          </p:cNvPr>
          <p:cNvSpPr>
            <a:spLocks noGrp="1"/>
          </p:cNvSpPr>
          <p:nvPr/>
        </p:nvSpPr>
        <p:spPr>
          <a:xfrm>
            <a:off x="533400" y="560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模型开源前</a:t>
            </a:r>
          </a:p>
        </p:txBody>
      </p:sp>
      <p:sp>
        <p:nvSpPr>
          <p:cNvPr id="18" name="s3-card-2">
            <a:extLst>
              <a:ext uri="{FF2B5EF4-FFF2-40B4-BE49-F238E27FC236}">
                <a16:creationId xmlns:a16="http://schemas.microsoft.com/office/drawing/2014/main" id="{ABBBC39D-DDF9-4D74-838A-A78A2D4EF34F}"/>
              </a:ext>
            </a:extLst>
          </p:cNvPr>
          <p:cNvSpPr>
            <a:spLocks noGrp="1"/>
          </p:cNvSpPr>
          <p:nvPr/>
        </p:nvSpPr>
        <p:spPr>
          <a:xfrm>
            <a:off x="4400550" y="1790700"/>
            <a:ext cx="3390900" cy="3219450"/>
          </a:xfrm>
          <a:prstGeom prst="roundRect">
            <a:avLst>
              <a:gd name="adj" fmla="val 2367"/>
            </a:avLst>
          </a:prstGeom>
          <a:solidFill>
            <a:srgbClr val="FFF0EB"/>
          </a:solidFill>
          <a:ln w="9525">
            <a:solidFill>
              <a:srgbClr val="D7D9DD"/>
            </a:solidFill>
            <a:prstDash val="solid"/>
          </a:ln>
        </p:spPr>
      </p:sp>
      <p:sp>
        <p:nvSpPr>
          <p:cNvPr id="19" name="s3-kicker-2">
            <a:extLst>
              <a:ext uri="{FF2B5EF4-FFF2-40B4-BE49-F238E27FC236}">
                <a16:creationId xmlns:a16="http://schemas.microsoft.com/office/drawing/2014/main" id="{37E5DC9C-FB5A-4C99-896A-D1BD5AE87713}"/>
              </a:ext>
            </a:extLst>
          </p:cNvPr>
          <p:cNvSpPr>
            <a:spLocks noGrp="1"/>
          </p:cNvSpPr>
          <p:nvPr/>
        </p:nvSpPr>
        <p:spPr>
          <a:xfrm>
            <a:off x="466725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02｜对齐断点</a:t>
            </a:r>
          </a:p>
        </p:txBody>
      </p:sp>
      <p:sp>
        <p:nvSpPr>
          <p:cNvPr id="20" name="s3-card-title-2">
            <a:extLst>
              <a:ext uri="{FF2B5EF4-FFF2-40B4-BE49-F238E27FC236}">
                <a16:creationId xmlns:a16="http://schemas.microsoft.com/office/drawing/2014/main" id="{6D2AC2CA-D053-4FFB-A12C-6A9992285419}"/>
              </a:ext>
            </a:extLst>
          </p:cNvPr>
          <p:cNvSpPr>
            <a:spLocks noGrp="1"/>
          </p:cNvSpPr>
          <p:nvPr/>
        </p:nvSpPr>
        <p:spPr>
          <a:xfrm>
            <a:off x="4667250" y="24574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main2main 无法救场</a:t>
            </a:r>
          </a:p>
        </p:txBody>
      </p:sp>
      <p:sp>
        <p:nvSpPr>
          <p:cNvPr id="21" name="s3-card-body-2">
            <a:extLst>
              <a:ext uri="{FF2B5EF4-FFF2-40B4-BE49-F238E27FC236}">
                <a16:creationId xmlns:a16="http://schemas.microsoft.com/office/drawing/2014/main" id="{F2695B2C-C2E9-4701-A297-C5FC06B2FEA5}"/>
              </a:ext>
            </a:extLst>
          </p:cNvPr>
          <p:cNvSpPr>
            <a:spLocks noGrp="1"/>
          </p:cNvSpPr>
          <p:nvPr/>
        </p:nvSpPr>
        <p:spPr>
          <a:xfrm>
            <a:off x="4667250" y="33718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T0：</a:t>
            </a: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即使 vLLM main 合入</a:t>
            </a:r>
          </a:p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插件锚点仍停留在已验证版本</a:t>
            </a:r>
          </a:p>
        </p:txBody>
      </p:sp>
      <p:sp>
        <p:nvSpPr>
          <p:cNvPr id="22" name="s3-label-2">
            <a:extLst>
              <a:ext uri="{FF2B5EF4-FFF2-40B4-BE49-F238E27FC236}">
                <a16:creationId xmlns:a16="http://schemas.microsoft.com/office/drawing/2014/main" id="{D78F1FFD-4304-4B93-A9B9-24B3F32BEAD9}"/>
              </a:ext>
            </a:extLst>
          </p:cNvPr>
          <p:cNvSpPr>
            <a:spLocks noGrp="1"/>
          </p:cNvSpPr>
          <p:nvPr/>
        </p:nvSpPr>
        <p:spPr>
          <a:xfrm>
            <a:off x="4400550" y="560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模型开源当天</a:t>
            </a:r>
          </a:p>
        </p:txBody>
      </p:sp>
      <p:sp>
        <p:nvSpPr>
          <p:cNvPr id="23" name="s3-card-3">
            <a:extLst>
              <a:ext uri="{FF2B5EF4-FFF2-40B4-BE49-F238E27FC236}">
                <a16:creationId xmlns:a16="http://schemas.microsoft.com/office/drawing/2014/main" id="{2D9F00A1-4D67-40F9-A7E3-8D66A9DF5763}"/>
              </a:ext>
            </a:extLst>
          </p:cNvPr>
          <p:cNvSpPr>
            <a:spLocks noGrp="1"/>
          </p:cNvSpPr>
          <p:nvPr/>
        </p:nvSpPr>
        <p:spPr>
          <a:xfrm>
            <a:off x="8267700" y="1790700"/>
            <a:ext cx="3390900" cy="3219450"/>
          </a:xfrm>
          <a:prstGeom prst="roundRect">
            <a:avLst>
              <a:gd name="adj" fmla="val 2367"/>
            </a:avLst>
          </a:prstGeom>
          <a:solidFill>
            <a:srgbClr val="D9F1FC"/>
          </a:solidFill>
          <a:ln w="9525">
            <a:solidFill>
              <a:srgbClr val="D7D9DD"/>
            </a:solidFill>
            <a:prstDash val="solid"/>
          </a:ln>
        </p:spPr>
      </p:sp>
      <p:sp>
        <p:nvSpPr>
          <p:cNvPr id="24" name="s3-kicker-3">
            <a:extLst>
              <a:ext uri="{FF2B5EF4-FFF2-40B4-BE49-F238E27FC236}">
                <a16:creationId xmlns:a16="http://schemas.microsoft.com/office/drawing/2014/main" id="{F5E3B329-9835-47B2-AF6B-1763C42A5CB8}"/>
              </a:ext>
            </a:extLst>
          </p:cNvPr>
          <p:cNvSpPr>
            <a:spLocks noGrp="1"/>
          </p:cNvSpPr>
          <p:nvPr/>
        </p:nvSpPr>
        <p:spPr>
          <a:xfrm>
            <a:off x="853440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03｜0day 交付</a:t>
            </a:r>
          </a:p>
        </p:txBody>
      </p:sp>
      <p:sp>
        <p:nvSpPr>
          <p:cNvPr id="25" name="s3-card-title-3">
            <a:extLst>
              <a:ext uri="{FF2B5EF4-FFF2-40B4-BE49-F238E27FC236}">
                <a16:creationId xmlns:a16="http://schemas.microsoft.com/office/drawing/2014/main" id="{DA3E24CE-8BDB-4790-8E90-6ED69D045267}"/>
              </a:ext>
            </a:extLst>
          </p:cNvPr>
          <p:cNvSpPr>
            <a:spLocks noGrp="1"/>
          </p:cNvSpPr>
          <p:nvPr/>
        </p:nvSpPr>
        <p:spPr>
          <a:xfrm>
            <a:off x="8534400" y="24574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固定基线，双栈注入</a:t>
            </a:r>
          </a:p>
        </p:txBody>
      </p:sp>
      <p:sp>
        <p:nvSpPr>
          <p:cNvPr id="26" name="s3-card-body-3">
            <a:extLst>
              <a:ext uri="{FF2B5EF4-FFF2-40B4-BE49-F238E27FC236}">
                <a16:creationId xmlns:a16="http://schemas.microsoft.com/office/drawing/2014/main" id="{D370AC87-55DA-4B36-9B53-44BF79534F67}"/>
              </a:ext>
            </a:extLst>
          </p:cNvPr>
          <p:cNvSpPr>
            <a:spLocks noGrp="1"/>
          </p:cNvSpPr>
          <p:nvPr/>
        </p:nvSpPr>
        <p:spPr>
          <a:xfrm>
            <a:off x="8534400" y="33718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锁定：</a:t>
            </a: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0.20.2 </a:t>
            </a:r>
            <a:r>
              <a:rPr sz="1575" dirty="0" err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双栈基线</a:t>
            </a:r>
            <a:endParaRPr sz="1575" dirty="0">
              <a:solidFill>
                <a:srgbClr val="666B73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</a:t>
            </a:r>
            <a:r>
              <a:rPr sz="1575" dirty="0" err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</a:t>
            </a: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 / </a:t>
            </a:r>
            <a:r>
              <a:rPr sz="1575" dirty="0" err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</a:t>
            </a: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-Ascend </a:t>
            </a:r>
            <a:r>
              <a:rPr sz="1575" dirty="0" err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双</a:t>
            </a: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 patch</a:t>
            </a:r>
          </a:p>
          <a:p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</a:t>
            </a:r>
            <a:r>
              <a:rPr sz="1575" dirty="0" err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社区镜像</a:t>
            </a: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 + </a:t>
            </a:r>
            <a:r>
              <a:rPr sz="1575" dirty="0" err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一键</a:t>
            </a:r>
            <a:r>
              <a:rPr sz="1575" dirty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 apply / reverse</a:t>
            </a:r>
          </a:p>
        </p:txBody>
      </p:sp>
      <p:sp>
        <p:nvSpPr>
          <p:cNvPr id="27" name="s3-label-3">
            <a:extLst>
              <a:ext uri="{FF2B5EF4-FFF2-40B4-BE49-F238E27FC236}">
                <a16:creationId xmlns:a16="http://schemas.microsoft.com/office/drawing/2014/main" id="{7E34CD97-86E0-4B4B-BB4F-A87D2EC8F475}"/>
              </a:ext>
            </a:extLst>
          </p:cNvPr>
          <p:cNvSpPr>
            <a:spLocks noGrp="1"/>
          </p:cNvSpPr>
          <p:nvPr/>
        </p:nvSpPr>
        <p:spPr>
          <a:xfrm>
            <a:off x="8267700" y="560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发布日可用</a:t>
            </a:r>
          </a:p>
        </p:txBody>
      </p:sp>
      <p:sp>
        <p:nvSpPr>
          <p:cNvPr id="28" name="s3-conclusion">
            <a:extLst>
              <a:ext uri="{FF2B5EF4-FFF2-40B4-BE49-F238E27FC236}">
                <a16:creationId xmlns:a16="http://schemas.microsoft.com/office/drawing/2014/main" id="{207B14E9-98A4-4A10-AE78-014523CB2D11}"/>
              </a:ext>
            </a:extLst>
          </p:cNvPr>
          <p:cNvSpPr>
            <a:spLocks noGrp="1"/>
          </p:cNvSpPr>
          <p:nvPr/>
        </p:nvSpPr>
        <p:spPr>
          <a:xfrm>
            <a:off x="5715000" y="5810250"/>
            <a:ext cx="594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代价：临时分叉；收益：发布日不再等待主线追平</a:t>
            </a:r>
          </a:p>
        </p:txBody>
      </p:sp>
    </p:spTree>
    <p:extLst>
      <p:ext uri="{BB962C8B-B14F-4D97-AF65-F5344CB8AC3E}">
        <p14:creationId xmlns:p14="http://schemas.microsoft.com/office/powerpoint/2010/main" val="54930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ection-4">
            <a:extLst>
              <a:ext uri="{FF2B5EF4-FFF2-40B4-BE49-F238E27FC236}">
                <a16:creationId xmlns:a16="http://schemas.microsoft.com/office/drawing/2014/main" id="{983D86EA-0F39-46AC-A8E9-D5FF0972431A}"/>
              </a:ext>
            </a:extLst>
          </p:cNvPr>
          <p:cNvSpPr>
            <a:spLocks noGrp="1"/>
          </p:cNvSpPr>
          <p:nvPr/>
        </p:nvSpPr>
        <p:spPr>
          <a:xfrm>
            <a:off x="533400" y="1714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机制建议｜标准化 0day</a:t>
            </a:r>
          </a:p>
        </p:txBody>
      </p:sp>
      <p:sp>
        <p:nvSpPr>
          <p:cNvPr id="2" name="footer-rule-4">
            <a:extLst>
              <a:ext uri="{FF2B5EF4-FFF2-40B4-BE49-F238E27FC236}">
                <a16:creationId xmlns:a16="http://schemas.microsoft.com/office/drawing/2014/main" id="{564BEE6E-28F5-4F2E-BB87-97B15D1539B2}"/>
              </a:ext>
            </a:extLst>
          </p:cNvPr>
          <p:cNvSpPr>
            <a:spLocks noGrp="1"/>
          </p:cNvSpPr>
          <p:nvPr/>
        </p:nvSpPr>
        <p:spPr>
          <a:xfrm>
            <a:off x="533400" y="6267450"/>
            <a:ext cx="11125200" cy="0"/>
          </a:xfrm>
          <a:prstGeom prst="line">
            <a:avLst/>
          </a:prstGeom>
          <a:noFill/>
          <a:ln w="9525">
            <a:solidFill>
              <a:srgbClr val="D7D9DD"/>
            </a:solidFill>
            <a:prstDash val="solid"/>
          </a:ln>
        </p:spPr>
      </p:sp>
      <p:sp>
        <p:nvSpPr>
          <p:cNvPr id="3" name="footer-label-4">
            <a:extLst>
              <a:ext uri="{FF2B5EF4-FFF2-40B4-BE49-F238E27FC236}">
                <a16:creationId xmlns:a16="http://schemas.microsoft.com/office/drawing/2014/main" id="{F690A29A-B642-4D70-BB61-039CE921A471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4">
            <a:extLst>
              <a:ext uri="{FF2B5EF4-FFF2-40B4-BE49-F238E27FC236}">
                <a16:creationId xmlns:a16="http://schemas.microsoft.com/office/drawing/2014/main" id="{8A1ECA0E-D947-40B0-B7FC-DC34F1B5F761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5" name="s4-title-accent">
            <a:extLst>
              <a:ext uri="{FF2B5EF4-FFF2-40B4-BE49-F238E27FC236}">
                <a16:creationId xmlns:a16="http://schemas.microsoft.com/office/drawing/2014/main" id="{37D19143-C9CE-48AE-AAF3-530638BEBE08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514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s4-title">
            <a:extLst>
              <a:ext uri="{FF2B5EF4-FFF2-40B4-BE49-F238E27FC236}">
                <a16:creationId xmlns:a16="http://schemas.microsoft.com/office/drawing/2014/main" id="{2809FBF7-02A0-4DE2-ABB6-D65DA919DA4A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896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 dirty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最终方案：</a:t>
            </a:r>
            <a:r>
              <a:rPr lang="en-US" sz="3600" b="1" dirty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社区官方</a:t>
            </a:r>
            <a:r>
              <a:rPr lang="en-US" altLang="zh-CN" sz="3600" b="1" dirty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0day</a:t>
            </a:r>
            <a:endParaRPr sz="3600" b="1" dirty="0">
              <a:solidFill>
                <a:srgbClr val="111111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9F1C16-414F-9382-9042-BC7E29A686DF}"/>
              </a:ext>
            </a:extLst>
          </p:cNvPr>
          <p:cNvSpPr txBox="1"/>
          <p:nvPr/>
        </p:nvSpPr>
        <p:spPr>
          <a:xfrm>
            <a:off x="533400" y="1536700"/>
            <a:ext cx="763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docs.vllm.ai</a:t>
            </a:r>
            <a:r>
              <a:rPr kumimoji="1" lang="en" altLang="zh-CN" dirty="0"/>
              <a:t>/projects/ascend/</a:t>
            </a:r>
            <a:r>
              <a:rPr kumimoji="1" lang="en" altLang="zh-CN" dirty="0" err="1"/>
              <a:t>en</a:t>
            </a:r>
            <a:r>
              <a:rPr kumimoji="1" lang="en" altLang="zh-CN" dirty="0"/>
              <a:t>/v0.23.0/tutorials/models/Kimi-K3.html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8941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Macintosh PowerPoint</Application>
  <DocSecurity>0</DocSecurity>
  <PresentationFormat>宽屏</PresentationFormat>
  <Paragraphs>87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2026-08-03T02:38:05Z</dcterms:created>
  <dcterms:modified xsi:type="dcterms:W3CDTF">2026-08-03T02:43:52Z</dcterms:modified>
</cp:coreProperties>
</file>